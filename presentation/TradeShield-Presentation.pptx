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TradeShield — Live Liability Control. The PTC Client App gives businesses and their advisers one live, controlled view of their operating liabilities. This deck walks through the problem, the product, how it works, and how we take it to market.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Today liability information is scattered across accounting systems, spreadsheets and inboxes; deadlines are chased rather than planned. TradeShield replaces that with one controlled view: every liability recorded, funding visible in advance, clear ownership, and early escalation before a deadline becomes a problem.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platform is one system with two front doors. Clients get a focused, reassuring view of their own business. The PTC operations team and advisers get a full portfolio workspace to run the casework. Everything they do flows straight into the client's 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client home answers the four questions every director has: how much is recorded, what is due next, what is overdue, and whether funding is enough. A plain-English status headline turns the numbers into a clear message.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liability register is the operational source of truth. Each obligation moves through five stages — Recorded, Approved, Funded, Paid, Reconciled — and carries its own evidence and audit trail. Importantly, moving a liability forward tracks it; it doesn't itself pay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Alerts should be useful, not noisy. The Action Centre converts a due date or exception into a named action of four types — Approval, Document, Decision, Review — each routed to the correct authorised person with a deadline and priority.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feature clients love most. Instead of wondering whether anything is happening, they see their TradeShield team's work as a live status feed — what's in progress, what's completed, what's waiting on them, who is handling it, and what's next. Support becomes visible and reassuring.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layers of help. The AI assistant answers instantly, grounded in the client's real data — no hunting through the app. And when they want a person, 24/7 support is one tap away: live chat, callback, or a direct message to their team.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Liabilities don't need manual entry — they sync from the accounting system the client already uses. TradeShield reads bills, tax and payroll via OAuth and maps them into the register. It only ever reads data; it never moves money.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app supports a repeatable operating rhythm — capture, validate, fund, pay, review — configured around the client's payroll, VAT, supplier and reporting cycles. Daily, weekly, monthly and quarterly cadences keep nothing from slipping.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app supports the agreed PTC structure. The client keeps their customers, sales, income and strategy in their main trading company. The PTC manages the agreed operating liabilities — staff costs, taxes, suppliers and cover — with full visibility. Clear separation, no loss of control.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product isn't a prototype — it's built and working today as a PWA. Phase two wraps the same code with Capacitor for the App Store. Phase three adds the backend for live accounting sync, secure multi-tenant logins and Stripe billing. Revenue model: recurring SaaS subscription, tiered by client count.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 honest, important slide. TradeShield improves visibility, evidence and workflow — but it is a control platform, not a substitute for judgement or legal duties. Recording a liability doesn't pay it, officer duties remain, scope is contractual, and exceptions still need real decisions. This transparency builds trust.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close: the outcome for the client is simple and powerful — know what is due, what is funded, and what happens next. One consolidated view, earlier funding visibility, clear approvals and evidence, and current information for everyone who needs it. Call to action: arrange a demonstration at tradeshielduk.org/#contact.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50B1C"/>
        </a:solidFill>
      </p:bgPr>
    </p:bg>
    <p:spTree>
      <p:nvGrpSpPr>
        <p:cNvPr id="1" name=""/>
        <p:cNvGrpSpPr/>
        <p:nvPr/>
      </p:nvGrpSpPr>
      <p:grpSpPr>
        <a:xfrm>
          <a:off x="0" y="0"/>
          <a:ext cx="0" cy="0"/>
          <a:chOff x="0" y="0"/>
          <a:chExt cx="0" cy="0"/>
        </a:xfrm>
      </p:grpSpPr>
      <p:sp>
        <p:nvSpPr>
          <p:cNvPr id="2" name="Shape 0"/>
          <p:cNvSpPr/>
          <p:nvPr/>
        </p:nvSpPr>
        <p:spPr>
          <a:xfrm>
            <a:off x="8412480" y="-1463040"/>
            <a:ext cx="5486400" cy="4572000"/>
          </a:xfrm>
          <a:prstGeom prst="oval">
            <a:avLst/>
          </a:prstGeom>
          <a:solidFill>
            <a:srgbClr val="0E3A52"/>
          </a:solidFill>
          <a:ln/>
        </p:spPr>
      </p:sp>
      <p:sp>
        <p:nvSpPr>
          <p:cNvPr id="3" name="Shape 1"/>
          <p:cNvSpPr/>
          <p:nvPr/>
        </p:nvSpPr>
        <p:spPr>
          <a:xfrm>
            <a:off x="-1463040" y="4937760"/>
            <a:ext cx="5029200" cy="4114800"/>
          </a:xfrm>
          <a:prstGeom prst="oval">
            <a:avLst/>
          </a:prstGeom>
          <a:solidFill>
            <a:srgbClr val="12224A"/>
          </a:solidFill>
          <a:ln/>
        </p:spPr>
      </p:sp>
      <p:sp>
        <p:nvSpPr>
          <p:cNvPr id="4" name="Shape 2"/>
          <p:cNvSpPr/>
          <p:nvPr/>
        </p:nvSpPr>
        <p:spPr>
          <a:xfrm>
            <a:off x="685800" y="640080"/>
            <a:ext cx="566928" cy="566928"/>
          </a:xfrm>
          <a:prstGeom prst="roundRect">
            <a:avLst>
              <a:gd name="adj" fmla="val 28000"/>
            </a:avLst>
          </a:prstGeom>
          <a:solidFill>
            <a:srgbClr val="0E2036"/>
          </a:solidFill>
          <a:ln w="17780">
            <a:solidFill>
              <a:srgbClr val="29C2D8"/>
            </a:solidFill>
            <a:prstDash val="solid"/>
          </a:ln>
        </p:spPr>
      </p:sp>
      <p:sp>
        <p:nvSpPr>
          <p:cNvPr id="5" name="Text 3"/>
          <p:cNvSpPr/>
          <p:nvPr/>
        </p:nvSpPr>
        <p:spPr>
          <a:xfrm>
            <a:off x="685800" y="621792"/>
            <a:ext cx="566928" cy="566928"/>
          </a:xfrm>
          <a:prstGeom prst="rect">
            <a:avLst/>
          </a:prstGeom>
          <a:noFill/>
          <a:ln/>
        </p:spPr>
        <p:txBody>
          <a:bodyPr wrap="square" rtlCol="0" anchor="ctr"/>
          <a:lstStyle/>
          <a:p>
            <a:pPr algn="ctr" indent="0" marL="0">
              <a:buNone/>
            </a:pPr>
            <a:r>
              <a:rPr lang="en-US" sz="1364" b="1" dirty="0">
                <a:solidFill>
                  <a:srgbClr val="29C2D8"/>
                </a:solidFill>
                <a:latin typeface="Arial" pitchFamily="34" charset="0"/>
                <a:ea typeface="Arial" pitchFamily="34" charset="-122"/>
                <a:cs typeface="Arial" pitchFamily="34" charset="-120"/>
              </a:rPr>
              <a:t>✓</a:t>
            </a:r>
            <a:endParaRPr lang="en-US" sz="1364" dirty="0"/>
          </a:p>
        </p:txBody>
      </p:sp>
      <p:sp>
        <p:nvSpPr>
          <p:cNvPr id="6" name="Text 4"/>
          <p:cNvSpPr/>
          <p:nvPr/>
        </p:nvSpPr>
        <p:spPr>
          <a:xfrm>
            <a:off x="1371600" y="658368"/>
            <a:ext cx="4572000" cy="548640"/>
          </a:xfrm>
          <a:prstGeom prst="rect">
            <a:avLst/>
          </a:prstGeom>
          <a:noFill/>
          <a:ln/>
        </p:spPr>
        <p:txBody>
          <a:bodyPr wrap="square"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Trade</a:t>
            </a:r>
            <a:pPr algn="l" indent="0" marL="0">
              <a:buNone/>
            </a:pPr>
            <a:r>
              <a:rPr lang="en-US" sz="2400" dirty="0">
                <a:solidFill>
                  <a:srgbClr val="9FB2D6"/>
                </a:solidFill>
                <a:latin typeface="Arial" pitchFamily="34" charset="0"/>
                <a:ea typeface="Arial" pitchFamily="34" charset="-122"/>
                <a:cs typeface="Arial" pitchFamily="34" charset="-120"/>
              </a:rPr>
              <a:t>Shield</a:t>
            </a:r>
            <a:endParaRPr lang="en-US" sz="2400" dirty="0"/>
          </a:p>
        </p:txBody>
      </p:sp>
      <p:sp>
        <p:nvSpPr>
          <p:cNvPr id="7" name="Text 5"/>
          <p:cNvSpPr/>
          <p:nvPr/>
        </p:nvSpPr>
        <p:spPr>
          <a:xfrm>
            <a:off x="713232" y="2148840"/>
            <a:ext cx="7315200" cy="274320"/>
          </a:xfrm>
          <a:prstGeom prst="rect">
            <a:avLst/>
          </a:prstGeom>
          <a:noFill/>
          <a:ln/>
        </p:spPr>
        <p:txBody>
          <a:bodyPr wrap="square" rtlCol="0" anchor="ctr"/>
          <a:lstStyle/>
          <a:p>
            <a:pPr algn="l" indent="0" marL="0">
              <a:buNone/>
            </a:pPr>
            <a:r>
              <a:rPr lang="en-US" sz="1200" b="1" spc="300" kern="0" dirty="0">
                <a:solidFill>
                  <a:srgbClr val="29C2D8"/>
                </a:solidFill>
                <a:latin typeface="Arial" pitchFamily="34" charset="0"/>
                <a:ea typeface="Arial" pitchFamily="34" charset="-122"/>
                <a:cs typeface="Arial" pitchFamily="34" charset="-120"/>
              </a:rPr>
              <a:t>LIVE LIABILITY CONTROL  ·  PTC CLIENT APP</a:t>
            </a:r>
            <a:endParaRPr lang="en-US" sz="1200" dirty="0"/>
          </a:p>
        </p:txBody>
      </p:sp>
      <p:sp>
        <p:nvSpPr>
          <p:cNvPr id="8" name="Text 6"/>
          <p:cNvSpPr/>
          <p:nvPr/>
        </p:nvSpPr>
        <p:spPr>
          <a:xfrm>
            <a:off x="658368" y="2514600"/>
            <a:ext cx="7680960" cy="1828800"/>
          </a:xfrm>
          <a:prstGeom prst="rect">
            <a:avLst/>
          </a:prstGeom>
          <a:noFill/>
          <a:ln/>
        </p:spPr>
        <p:txBody>
          <a:bodyPr wrap="square" rtlCol="0" anchor="ctr"/>
          <a:lstStyle/>
          <a:p>
            <a:pPr algn="l" indent="0" marL="0">
              <a:lnSpc>
                <a:spcPct val="100000"/>
              </a:lnSpc>
              <a:buNone/>
            </a:pPr>
            <a:r>
              <a:rPr lang="en-US" sz="4000" b="1" dirty="0">
                <a:solidFill>
                  <a:srgbClr val="FFFFFF"/>
                </a:solidFill>
                <a:latin typeface="Arial" pitchFamily="34" charset="0"/>
                <a:ea typeface="Arial" pitchFamily="34" charset="-122"/>
                <a:cs typeface="Arial" pitchFamily="34" charset="-120"/>
              </a:rPr>
              <a:t>Every liability.
</a:t>
            </a:r>
            <a:pPr algn="l" indent="0" marL="0">
              <a:lnSpc>
                <a:spcPct val="100000"/>
              </a:lnSpc>
              <a:buNone/>
            </a:pPr>
            <a:r>
              <a:rPr lang="en-US" sz="4000" b="1" dirty="0">
                <a:solidFill>
                  <a:srgbClr val="D8B866"/>
                </a:solidFill>
                <a:latin typeface="Arial" pitchFamily="34" charset="0"/>
                <a:ea typeface="Arial" pitchFamily="34" charset="-122"/>
                <a:cs typeface="Arial" pitchFamily="34" charset="-120"/>
              </a:rPr>
              <a:t>Visible and controlled.</a:t>
            </a:r>
            <a:endParaRPr lang="en-US" sz="4000" dirty="0"/>
          </a:p>
        </p:txBody>
      </p:sp>
      <p:sp>
        <p:nvSpPr>
          <p:cNvPr id="9" name="Text 7"/>
          <p:cNvSpPr/>
          <p:nvPr/>
        </p:nvSpPr>
        <p:spPr>
          <a:xfrm>
            <a:off x="713232" y="4434840"/>
            <a:ext cx="6583680" cy="1097280"/>
          </a:xfrm>
          <a:prstGeom prst="rect">
            <a:avLst/>
          </a:prstGeom>
          <a:noFill/>
          <a:ln/>
        </p:spPr>
        <p:txBody>
          <a:bodyPr wrap="square" rtlCol="0" anchor="ctr"/>
          <a:lstStyle/>
          <a:p>
            <a:pPr algn="l" indent="0" marL="0">
              <a:lnSpc>
                <a:spcPct val="110000"/>
              </a:lnSpc>
              <a:buNone/>
            </a:pPr>
            <a:r>
              <a:rPr lang="en-US" sz="1550" dirty="0">
                <a:solidFill>
                  <a:srgbClr val="9FB2D6"/>
                </a:solidFill>
                <a:latin typeface="Arial" pitchFamily="34" charset="0"/>
                <a:ea typeface="Arial" pitchFamily="34" charset="-122"/>
                <a:cs typeface="Arial" pitchFamily="34" charset="-120"/>
              </a:rPr>
              <a:t>A live view of your operating liabilities, funding requirements and the actions that keep your business protected — for you and your advisers, on any device.</a:t>
            </a:r>
            <a:endParaRPr lang="en-US" sz="1550" dirty="0"/>
          </a:p>
        </p:txBody>
      </p:sp>
      <p:sp>
        <p:nvSpPr>
          <p:cNvPr id="10" name="Text 8"/>
          <p:cNvSpPr/>
          <p:nvPr/>
        </p:nvSpPr>
        <p:spPr>
          <a:xfrm>
            <a:off x="713232" y="5943600"/>
            <a:ext cx="5486400" cy="365760"/>
          </a:xfrm>
          <a:prstGeom prst="rect">
            <a:avLst/>
          </a:prstGeom>
          <a:noFill/>
          <a:ln/>
        </p:spPr>
        <p:txBody>
          <a:bodyPr wrap="square" rtlCol="0" anchor="ctr"/>
          <a:lstStyle/>
          <a:p>
            <a:pPr indent="0" marL="0">
              <a:buNone/>
            </a:pPr>
            <a:r>
              <a:rPr lang="en-US" sz="1250" b="1" dirty="0">
                <a:solidFill>
                  <a:srgbClr val="29C2D8"/>
                </a:solidFill>
                <a:latin typeface="Arial" pitchFamily="34" charset="0"/>
                <a:ea typeface="Arial" pitchFamily="34" charset="-122"/>
                <a:cs typeface="Arial" pitchFamily="34" charset="-120"/>
              </a:rPr>
              <a:t>Product overview &amp; how it works</a:t>
            </a:r>
            <a:endParaRPr lang="en-US" sz="1250" dirty="0"/>
          </a:p>
        </p:txBody>
      </p:sp>
      <p:sp>
        <p:nvSpPr>
          <p:cNvPr id="11" name="Shape 9"/>
          <p:cNvSpPr/>
          <p:nvPr/>
        </p:nvSpPr>
        <p:spPr>
          <a:xfrm>
            <a:off x="8668512" y="804672"/>
            <a:ext cx="2619390" cy="5340096"/>
          </a:xfrm>
          <a:prstGeom prst="roundRect">
            <a:avLst>
              <a:gd name="adj" fmla="val 4887"/>
            </a:avLst>
          </a:prstGeom>
          <a:solidFill>
            <a:srgbClr val="0A1330"/>
          </a:solidFill>
          <a:ln w="15875">
            <a:solidFill>
              <a:srgbClr val="2A3E66"/>
            </a:solidFill>
            <a:prstDash val="solid"/>
          </a:ln>
          <a:effectLst>
            <a:outerShdw sx="100000" sy="100000" kx="0" ky="0" algn="bl" rotWithShape="0" blurRad="177800" dist="63500" dir="5400000">
              <a:srgbClr val="000000">
                <a:alpha val="45000"/>
              </a:srgbClr>
            </a:outerShdw>
          </a:effectLst>
        </p:spPr>
      </p:sp>
      <p:pic>
        <p:nvPicPr>
          <p:cNvPr id="12" name="Image 0" descr="/tmp/claude-0/-home-user-AI-Agent/58945abb-1ebe-5660-8725-4e1dccac2381/scratchpad/deck-home.png">    </p:cNvPr>
          <p:cNvPicPr>
            <a:picLocks noChangeAspect="1"/>
          </p:cNvPicPr>
          <p:nvPr/>
        </p:nvPicPr>
        <p:blipFill>
          <a:blip r:embed="rId1"/>
          <a:stretch>
            <a:fillRect/>
          </a:stretch>
        </p:blipFill>
        <p:spPr>
          <a:xfrm>
            <a:off x="8732520" y="868680"/>
            <a:ext cx="2491374" cy="521208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81228"/>
        </a:solidFill>
      </p:bgPr>
    </p:bg>
    <p:spTree>
      <p:nvGrpSpPr>
        <p:cNvPr id="1" name=""/>
        <p:cNvGrpSpPr/>
        <p:nvPr/>
      </p:nvGrpSpPr>
      <p:grpSpPr>
        <a:xfrm>
          <a:off x="0" y="0"/>
          <a:ext cx="0" cy="0"/>
          <a:chOff x="0" y="0"/>
          <a:chExt cx="0" cy="0"/>
        </a:xfrm>
      </p:grpSpPr>
      <p:sp>
        <p:nvSpPr>
          <p:cNvPr id="2" name="Text 0"/>
          <p:cNvSpPr/>
          <p:nvPr/>
        </p:nvSpPr>
        <p:spPr>
          <a:xfrm>
            <a:off x="548640" y="502920"/>
            <a:ext cx="7315200" cy="274320"/>
          </a:xfrm>
          <a:prstGeom prst="rect">
            <a:avLst/>
          </a:prstGeom>
          <a:noFill/>
          <a:ln/>
        </p:spPr>
        <p:txBody>
          <a:bodyPr wrap="square" rtlCol="0" anchor="ctr"/>
          <a:lstStyle/>
          <a:p>
            <a:pPr algn="l" indent="0" marL="0">
              <a:buNone/>
            </a:pPr>
            <a:r>
              <a:rPr lang="en-US" sz="1200" b="1" spc="300" kern="0" dirty="0">
                <a:solidFill>
                  <a:srgbClr val="29C2D8"/>
                </a:solidFill>
                <a:latin typeface="Arial" pitchFamily="34" charset="0"/>
                <a:ea typeface="Arial" pitchFamily="34" charset="-122"/>
                <a:cs typeface="Arial" pitchFamily="34" charset="-120"/>
              </a:rPr>
              <a:t>WHY IT EXISTS</a:t>
            </a:r>
            <a:endParaRPr lang="en-US" sz="1200" dirty="0"/>
          </a:p>
        </p:txBody>
      </p:sp>
      <p:sp>
        <p:nvSpPr>
          <p:cNvPr id="3" name="Text 1"/>
          <p:cNvSpPr/>
          <p:nvPr/>
        </p:nvSpPr>
        <p:spPr>
          <a:xfrm>
            <a:off x="548640" y="868680"/>
            <a:ext cx="10972800" cy="1005840"/>
          </a:xfrm>
          <a:prstGeom prst="rect">
            <a:avLst/>
          </a:prstGeom>
          <a:noFill/>
          <a:ln/>
        </p:spPr>
        <p:txBody>
          <a:bodyPr wrap="square" rtlCol="0" anchor="ctr"/>
          <a:lstStyle/>
          <a:p>
            <a:pPr algn="l" indent="0" marL="0">
              <a:lnSpc>
                <a:spcPct val="98000"/>
              </a:lnSpc>
              <a:buNone/>
            </a:pPr>
            <a:r>
              <a:rPr lang="en-US" sz="3000" b="1" dirty="0">
                <a:solidFill>
                  <a:srgbClr val="FFFFFF"/>
                </a:solidFill>
                <a:latin typeface="Arial" pitchFamily="34" charset="0"/>
                <a:ea typeface="Arial" pitchFamily="34" charset="-122"/>
                <a:cs typeface="Arial" pitchFamily="34" charset="-120"/>
              </a:rPr>
              <a:t>From fragmented and reactive — to recorded and in control</a:t>
            </a:r>
            <a:endParaRPr lang="en-US" sz="3000" dirty="0"/>
          </a:p>
        </p:txBody>
      </p:sp>
      <p:sp>
        <p:nvSpPr>
          <p:cNvPr id="4" name="Shape 2"/>
          <p:cNvSpPr/>
          <p:nvPr/>
        </p:nvSpPr>
        <p:spPr>
          <a:xfrm>
            <a:off x="548640" y="1874520"/>
            <a:ext cx="5257800" cy="3566160"/>
          </a:xfrm>
          <a:prstGeom prst="roundRect">
            <a:avLst>
              <a:gd name="adj" fmla="val 3077"/>
            </a:avLst>
          </a:prstGeom>
          <a:solidFill>
            <a:srgbClr val="0E1C3C"/>
          </a:solidFill>
          <a:ln w="12700">
            <a:solidFill>
              <a:srgbClr val="27395F"/>
            </a:solidFill>
            <a:prstDash val="solid"/>
          </a:ln>
        </p:spPr>
      </p:sp>
      <p:sp>
        <p:nvSpPr>
          <p:cNvPr id="5" name="Text 3"/>
          <p:cNvSpPr/>
          <p:nvPr/>
        </p:nvSpPr>
        <p:spPr>
          <a:xfrm>
            <a:off x="868680" y="2148840"/>
            <a:ext cx="4572000" cy="320040"/>
          </a:xfrm>
          <a:prstGeom prst="rect">
            <a:avLst/>
          </a:prstGeom>
          <a:noFill/>
          <a:ln/>
        </p:spPr>
        <p:txBody>
          <a:bodyPr wrap="square" rtlCol="0" anchor="ctr"/>
          <a:lstStyle/>
          <a:p>
            <a:pPr indent="0" marL="0">
              <a:buNone/>
            </a:pPr>
            <a:r>
              <a:rPr lang="en-US" sz="1300" b="1" spc="200" kern="0" dirty="0">
                <a:solidFill>
                  <a:srgbClr val="9FB2D6"/>
                </a:solidFill>
                <a:latin typeface="Arial" pitchFamily="34" charset="0"/>
                <a:ea typeface="Arial" pitchFamily="34" charset="-122"/>
                <a:cs typeface="Arial" pitchFamily="34" charset="-120"/>
              </a:rPr>
              <a:t>BEFORE TRADESHIELD</a:t>
            </a:r>
            <a:endParaRPr lang="en-US" sz="1300" dirty="0"/>
          </a:p>
        </p:txBody>
      </p:sp>
      <p:sp>
        <p:nvSpPr>
          <p:cNvPr id="6" name="Shape 4"/>
          <p:cNvSpPr/>
          <p:nvPr/>
        </p:nvSpPr>
        <p:spPr>
          <a:xfrm>
            <a:off x="868680" y="2779776"/>
            <a:ext cx="182880" cy="182880"/>
          </a:xfrm>
          <a:prstGeom prst="oval">
            <a:avLst/>
          </a:prstGeom>
          <a:solidFill>
            <a:srgbClr val="1A2A48"/>
          </a:solidFill>
          <a:ln w="13970">
            <a:solidFill>
              <a:srgbClr val="7183A8"/>
            </a:solidFill>
            <a:prstDash val="solid"/>
          </a:ln>
        </p:spPr>
      </p:sp>
      <p:sp>
        <p:nvSpPr>
          <p:cNvPr id="7" name="Text 5"/>
          <p:cNvSpPr/>
          <p:nvPr/>
        </p:nvSpPr>
        <p:spPr>
          <a:xfrm>
            <a:off x="1234440" y="2697480"/>
            <a:ext cx="4297680" cy="457200"/>
          </a:xfrm>
          <a:prstGeom prst="rect">
            <a:avLst/>
          </a:prstGeom>
          <a:noFill/>
          <a:ln/>
        </p:spPr>
        <p:txBody>
          <a:bodyPr wrap="square" rtlCol="0" anchor="ctr"/>
          <a:lstStyle/>
          <a:p>
            <a:pPr algn="l" indent="0" marL="0">
              <a:buNone/>
            </a:pPr>
            <a:r>
              <a:rPr lang="en-US" sz="1350" dirty="0">
                <a:solidFill>
                  <a:srgbClr val="9FB2D6"/>
                </a:solidFill>
                <a:latin typeface="Arial" pitchFamily="34" charset="0"/>
                <a:ea typeface="Arial" pitchFamily="34" charset="-122"/>
                <a:cs typeface="Arial" pitchFamily="34" charset="-120"/>
              </a:rPr>
              <a:t>Financial position spread across systems</a:t>
            </a:r>
            <a:endParaRPr lang="en-US" sz="1350" dirty="0"/>
          </a:p>
        </p:txBody>
      </p:sp>
      <p:sp>
        <p:nvSpPr>
          <p:cNvPr id="8" name="Shape 6"/>
          <p:cNvSpPr/>
          <p:nvPr/>
        </p:nvSpPr>
        <p:spPr>
          <a:xfrm>
            <a:off x="868680" y="3282696"/>
            <a:ext cx="182880" cy="182880"/>
          </a:xfrm>
          <a:prstGeom prst="oval">
            <a:avLst/>
          </a:prstGeom>
          <a:solidFill>
            <a:srgbClr val="1A2A48"/>
          </a:solidFill>
          <a:ln w="13970">
            <a:solidFill>
              <a:srgbClr val="7183A8"/>
            </a:solidFill>
            <a:prstDash val="solid"/>
          </a:ln>
        </p:spPr>
      </p:sp>
      <p:sp>
        <p:nvSpPr>
          <p:cNvPr id="9" name="Text 7"/>
          <p:cNvSpPr/>
          <p:nvPr/>
        </p:nvSpPr>
        <p:spPr>
          <a:xfrm>
            <a:off x="1234440" y="3200400"/>
            <a:ext cx="4297680" cy="457200"/>
          </a:xfrm>
          <a:prstGeom prst="rect">
            <a:avLst/>
          </a:prstGeom>
          <a:noFill/>
          <a:ln/>
        </p:spPr>
        <p:txBody>
          <a:bodyPr wrap="square" rtlCol="0" anchor="ctr"/>
          <a:lstStyle/>
          <a:p>
            <a:pPr algn="l" indent="0" marL="0">
              <a:buNone/>
            </a:pPr>
            <a:r>
              <a:rPr lang="en-US" sz="1350" dirty="0">
                <a:solidFill>
                  <a:srgbClr val="9FB2D6"/>
                </a:solidFill>
                <a:latin typeface="Arial" pitchFamily="34" charset="0"/>
                <a:ea typeface="Arial" pitchFamily="34" charset="-122"/>
                <a:cs typeface="Arial" pitchFamily="34" charset="-120"/>
              </a:rPr>
              <a:t>Deadlines chased rather than planned</a:t>
            </a:r>
            <a:endParaRPr lang="en-US" sz="1350" dirty="0"/>
          </a:p>
        </p:txBody>
      </p:sp>
      <p:sp>
        <p:nvSpPr>
          <p:cNvPr id="10" name="Shape 8"/>
          <p:cNvSpPr/>
          <p:nvPr/>
        </p:nvSpPr>
        <p:spPr>
          <a:xfrm>
            <a:off x="868680" y="3785616"/>
            <a:ext cx="182880" cy="182880"/>
          </a:xfrm>
          <a:prstGeom prst="oval">
            <a:avLst/>
          </a:prstGeom>
          <a:solidFill>
            <a:srgbClr val="1A2A48"/>
          </a:solidFill>
          <a:ln w="13970">
            <a:solidFill>
              <a:srgbClr val="7183A8"/>
            </a:solidFill>
            <a:prstDash val="solid"/>
          </a:ln>
        </p:spPr>
      </p:sp>
      <p:sp>
        <p:nvSpPr>
          <p:cNvPr id="11" name="Text 9"/>
          <p:cNvSpPr/>
          <p:nvPr/>
        </p:nvSpPr>
        <p:spPr>
          <a:xfrm>
            <a:off x="1234440" y="3703320"/>
            <a:ext cx="4297680" cy="457200"/>
          </a:xfrm>
          <a:prstGeom prst="rect">
            <a:avLst/>
          </a:prstGeom>
          <a:noFill/>
          <a:ln/>
        </p:spPr>
        <p:txBody>
          <a:bodyPr wrap="square" rtlCol="0" anchor="ctr"/>
          <a:lstStyle/>
          <a:p>
            <a:pPr algn="l" indent="0" marL="0">
              <a:buNone/>
            </a:pPr>
            <a:r>
              <a:rPr lang="en-US" sz="1350" dirty="0">
                <a:solidFill>
                  <a:srgbClr val="9FB2D6"/>
                </a:solidFill>
                <a:latin typeface="Arial" pitchFamily="34" charset="0"/>
                <a:ea typeface="Arial" pitchFamily="34" charset="-122"/>
                <a:cs typeface="Arial" pitchFamily="34" charset="-120"/>
              </a:rPr>
              <a:t>Historic numbers, no live status</a:t>
            </a:r>
            <a:endParaRPr lang="en-US" sz="1350" dirty="0"/>
          </a:p>
        </p:txBody>
      </p:sp>
      <p:sp>
        <p:nvSpPr>
          <p:cNvPr id="12" name="Shape 10"/>
          <p:cNvSpPr/>
          <p:nvPr/>
        </p:nvSpPr>
        <p:spPr>
          <a:xfrm>
            <a:off x="868680" y="4288536"/>
            <a:ext cx="182880" cy="182880"/>
          </a:xfrm>
          <a:prstGeom prst="oval">
            <a:avLst/>
          </a:prstGeom>
          <a:solidFill>
            <a:srgbClr val="1A2A48"/>
          </a:solidFill>
          <a:ln w="13970">
            <a:solidFill>
              <a:srgbClr val="7183A8"/>
            </a:solidFill>
            <a:prstDash val="solid"/>
          </a:ln>
        </p:spPr>
      </p:sp>
      <p:sp>
        <p:nvSpPr>
          <p:cNvPr id="13" name="Text 11"/>
          <p:cNvSpPr/>
          <p:nvPr/>
        </p:nvSpPr>
        <p:spPr>
          <a:xfrm>
            <a:off x="1234440" y="4206240"/>
            <a:ext cx="4297680" cy="457200"/>
          </a:xfrm>
          <a:prstGeom prst="rect">
            <a:avLst/>
          </a:prstGeom>
          <a:noFill/>
          <a:ln/>
        </p:spPr>
        <p:txBody>
          <a:bodyPr wrap="square" rtlCol="0" anchor="ctr"/>
          <a:lstStyle/>
          <a:p>
            <a:pPr algn="l" indent="0" marL="0">
              <a:buNone/>
            </a:pPr>
            <a:r>
              <a:rPr lang="en-US" sz="1350" dirty="0">
                <a:solidFill>
                  <a:srgbClr val="9FB2D6"/>
                </a:solidFill>
                <a:latin typeface="Arial" pitchFamily="34" charset="0"/>
                <a:ea typeface="Arial" pitchFamily="34" charset="-122"/>
                <a:cs typeface="Arial" pitchFamily="34" charset="-120"/>
              </a:rPr>
              <a:t>Incomplete adviser information</a:t>
            </a:r>
            <a:endParaRPr lang="en-US" sz="1350" dirty="0"/>
          </a:p>
        </p:txBody>
      </p:sp>
      <p:sp>
        <p:nvSpPr>
          <p:cNvPr id="14" name="Shape 12"/>
          <p:cNvSpPr/>
          <p:nvPr/>
        </p:nvSpPr>
        <p:spPr>
          <a:xfrm>
            <a:off x="868680" y="4791456"/>
            <a:ext cx="182880" cy="182880"/>
          </a:xfrm>
          <a:prstGeom prst="oval">
            <a:avLst/>
          </a:prstGeom>
          <a:solidFill>
            <a:srgbClr val="1A2A48"/>
          </a:solidFill>
          <a:ln w="13970">
            <a:solidFill>
              <a:srgbClr val="7183A8"/>
            </a:solidFill>
            <a:prstDash val="solid"/>
          </a:ln>
        </p:spPr>
      </p:sp>
      <p:sp>
        <p:nvSpPr>
          <p:cNvPr id="15" name="Text 13"/>
          <p:cNvSpPr/>
          <p:nvPr/>
        </p:nvSpPr>
        <p:spPr>
          <a:xfrm>
            <a:off x="1234440" y="4709160"/>
            <a:ext cx="4297680" cy="457200"/>
          </a:xfrm>
          <a:prstGeom prst="rect">
            <a:avLst/>
          </a:prstGeom>
          <a:noFill/>
          <a:ln/>
        </p:spPr>
        <p:txBody>
          <a:bodyPr wrap="square" rtlCol="0" anchor="ctr"/>
          <a:lstStyle/>
          <a:p>
            <a:pPr algn="l" indent="0" marL="0">
              <a:buNone/>
            </a:pPr>
            <a:r>
              <a:rPr lang="en-US" sz="1350" dirty="0">
                <a:solidFill>
                  <a:srgbClr val="9FB2D6"/>
                </a:solidFill>
                <a:latin typeface="Arial" pitchFamily="34" charset="0"/>
                <a:ea typeface="Arial" pitchFamily="34" charset="-122"/>
                <a:cs typeface="Arial" pitchFamily="34" charset="-120"/>
              </a:rPr>
              <a:t>Problems surface too late</a:t>
            </a:r>
            <a:endParaRPr lang="en-US" sz="1350" dirty="0"/>
          </a:p>
        </p:txBody>
      </p:sp>
      <p:sp>
        <p:nvSpPr>
          <p:cNvPr id="16" name="Shape 14"/>
          <p:cNvSpPr/>
          <p:nvPr/>
        </p:nvSpPr>
        <p:spPr>
          <a:xfrm>
            <a:off x="6382512" y="1874520"/>
            <a:ext cx="5257800" cy="3566160"/>
          </a:xfrm>
          <a:prstGeom prst="roundRect">
            <a:avLst>
              <a:gd name="adj" fmla="val 3077"/>
            </a:avLst>
          </a:prstGeom>
          <a:solidFill>
            <a:srgbClr val="0F2748"/>
          </a:solidFill>
          <a:ln w="12700">
            <a:solidFill>
              <a:srgbClr val="29C2D8"/>
            </a:solidFill>
            <a:prstDash val="solid"/>
          </a:ln>
        </p:spPr>
      </p:sp>
      <p:sp>
        <p:nvSpPr>
          <p:cNvPr id="17" name="Text 15"/>
          <p:cNvSpPr/>
          <p:nvPr/>
        </p:nvSpPr>
        <p:spPr>
          <a:xfrm>
            <a:off x="6702552" y="2148840"/>
            <a:ext cx="4572000" cy="320040"/>
          </a:xfrm>
          <a:prstGeom prst="rect">
            <a:avLst/>
          </a:prstGeom>
          <a:noFill/>
          <a:ln/>
        </p:spPr>
        <p:txBody>
          <a:bodyPr wrap="square" rtlCol="0" anchor="ctr"/>
          <a:lstStyle/>
          <a:p>
            <a:pPr indent="0" marL="0">
              <a:buNone/>
            </a:pPr>
            <a:r>
              <a:rPr lang="en-US" sz="1300" b="1" spc="200" kern="0" dirty="0">
                <a:solidFill>
                  <a:srgbClr val="D8B866"/>
                </a:solidFill>
                <a:latin typeface="Arial" pitchFamily="34" charset="0"/>
                <a:ea typeface="Arial" pitchFamily="34" charset="-122"/>
                <a:cs typeface="Arial" pitchFamily="34" charset="-120"/>
              </a:rPr>
              <a:t>WITH TRADESHIELD</a:t>
            </a:r>
            <a:endParaRPr lang="en-US" sz="1300" dirty="0"/>
          </a:p>
        </p:txBody>
      </p:sp>
      <p:sp>
        <p:nvSpPr>
          <p:cNvPr id="18" name="Shape 16"/>
          <p:cNvSpPr/>
          <p:nvPr/>
        </p:nvSpPr>
        <p:spPr>
          <a:xfrm>
            <a:off x="6702552" y="2761488"/>
            <a:ext cx="237744" cy="237744"/>
          </a:xfrm>
          <a:prstGeom prst="oval">
            <a:avLst/>
          </a:prstGeom>
          <a:solidFill>
            <a:srgbClr val="12354A"/>
          </a:solidFill>
          <a:ln w="13970">
            <a:solidFill>
              <a:srgbClr val="29C2D8"/>
            </a:solidFill>
            <a:prstDash val="solid"/>
          </a:ln>
        </p:spPr>
      </p:sp>
      <p:sp>
        <p:nvSpPr>
          <p:cNvPr id="19" name="Text 17"/>
          <p:cNvSpPr/>
          <p:nvPr/>
        </p:nvSpPr>
        <p:spPr>
          <a:xfrm>
            <a:off x="6702552" y="2715768"/>
            <a:ext cx="237744" cy="274320"/>
          </a:xfrm>
          <a:prstGeom prst="rect">
            <a:avLst/>
          </a:prstGeom>
          <a:noFill/>
          <a:ln/>
        </p:spPr>
        <p:txBody>
          <a:bodyPr wrap="square" rtlCol="0" anchor="ctr"/>
          <a:lstStyle/>
          <a:p>
            <a:pPr algn="ctr" indent="0" marL="0">
              <a:buNone/>
            </a:pPr>
            <a:r>
              <a:rPr lang="en-US" sz="1100" b="1" dirty="0">
                <a:solidFill>
                  <a:srgbClr val="29C2D8"/>
                </a:solidFill>
                <a:latin typeface="Arial" pitchFamily="34" charset="0"/>
                <a:ea typeface="Arial" pitchFamily="34" charset="-122"/>
                <a:cs typeface="Arial" pitchFamily="34" charset="-120"/>
              </a:rPr>
              <a:t>✓</a:t>
            </a:r>
            <a:endParaRPr lang="en-US" sz="1100" dirty="0"/>
          </a:p>
        </p:txBody>
      </p:sp>
      <p:sp>
        <p:nvSpPr>
          <p:cNvPr id="20" name="Text 18"/>
          <p:cNvSpPr/>
          <p:nvPr/>
        </p:nvSpPr>
        <p:spPr>
          <a:xfrm>
            <a:off x="7086600" y="2697480"/>
            <a:ext cx="4279392" cy="457200"/>
          </a:xfrm>
          <a:prstGeom prst="rect">
            <a:avLst/>
          </a:prstGeom>
          <a:noFill/>
          <a:ln/>
        </p:spPr>
        <p:txBody>
          <a:bodyPr wrap="square" rtlCol="0" anchor="ctr"/>
          <a:lstStyle/>
          <a:p>
            <a:pPr algn="l" indent="0" marL="0">
              <a:buNone/>
            </a:pPr>
            <a:r>
              <a:rPr lang="en-US" sz="1350" b="1" dirty="0">
                <a:solidFill>
                  <a:srgbClr val="EAF1FF"/>
                </a:solidFill>
                <a:latin typeface="Arial" pitchFamily="34" charset="0"/>
                <a:ea typeface="Arial" pitchFamily="34" charset="-122"/>
                <a:cs typeface="Arial" pitchFamily="34" charset="-120"/>
              </a:rPr>
              <a:t>Every liability in one register</a:t>
            </a:r>
            <a:endParaRPr lang="en-US" sz="1350" dirty="0"/>
          </a:p>
        </p:txBody>
      </p:sp>
      <p:sp>
        <p:nvSpPr>
          <p:cNvPr id="21" name="Shape 19"/>
          <p:cNvSpPr/>
          <p:nvPr/>
        </p:nvSpPr>
        <p:spPr>
          <a:xfrm>
            <a:off x="6702552" y="3264408"/>
            <a:ext cx="237744" cy="237744"/>
          </a:xfrm>
          <a:prstGeom prst="oval">
            <a:avLst/>
          </a:prstGeom>
          <a:solidFill>
            <a:srgbClr val="12354A"/>
          </a:solidFill>
          <a:ln w="13970">
            <a:solidFill>
              <a:srgbClr val="29C2D8"/>
            </a:solidFill>
            <a:prstDash val="solid"/>
          </a:ln>
        </p:spPr>
      </p:sp>
      <p:sp>
        <p:nvSpPr>
          <p:cNvPr id="22" name="Text 20"/>
          <p:cNvSpPr/>
          <p:nvPr/>
        </p:nvSpPr>
        <p:spPr>
          <a:xfrm>
            <a:off x="6702552" y="3218688"/>
            <a:ext cx="237744" cy="274320"/>
          </a:xfrm>
          <a:prstGeom prst="rect">
            <a:avLst/>
          </a:prstGeom>
          <a:noFill/>
          <a:ln/>
        </p:spPr>
        <p:txBody>
          <a:bodyPr wrap="square" rtlCol="0" anchor="ctr"/>
          <a:lstStyle/>
          <a:p>
            <a:pPr algn="ctr" indent="0" marL="0">
              <a:buNone/>
            </a:pPr>
            <a:r>
              <a:rPr lang="en-US" sz="1100" b="1" dirty="0">
                <a:solidFill>
                  <a:srgbClr val="29C2D8"/>
                </a:solidFill>
                <a:latin typeface="Arial" pitchFamily="34" charset="0"/>
                <a:ea typeface="Arial" pitchFamily="34" charset="-122"/>
                <a:cs typeface="Arial" pitchFamily="34" charset="-120"/>
              </a:rPr>
              <a:t>✓</a:t>
            </a:r>
            <a:endParaRPr lang="en-US" sz="1100" dirty="0"/>
          </a:p>
        </p:txBody>
      </p:sp>
      <p:sp>
        <p:nvSpPr>
          <p:cNvPr id="23" name="Text 21"/>
          <p:cNvSpPr/>
          <p:nvPr/>
        </p:nvSpPr>
        <p:spPr>
          <a:xfrm>
            <a:off x="7086600" y="3200400"/>
            <a:ext cx="4279392" cy="457200"/>
          </a:xfrm>
          <a:prstGeom prst="rect">
            <a:avLst/>
          </a:prstGeom>
          <a:noFill/>
          <a:ln/>
        </p:spPr>
        <p:txBody>
          <a:bodyPr wrap="square" rtlCol="0" anchor="ctr"/>
          <a:lstStyle/>
          <a:p>
            <a:pPr algn="l" indent="0" marL="0">
              <a:buNone/>
            </a:pPr>
            <a:r>
              <a:rPr lang="en-US" sz="1350" b="1" dirty="0">
                <a:solidFill>
                  <a:srgbClr val="EAF1FF"/>
                </a:solidFill>
                <a:latin typeface="Arial" pitchFamily="34" charset="0"/>
                <a:ea typeface="Arial" pitchFamily="34" charset="-122"/>
                <a:cs typeface="Arial" pitchFamily="34" charset="-120"/>
              </a:rPr>
              <a:t>Funding requirements visible in advance</a:t>
            </a:r>
            <a:endParaRPr lang="en-US" sz="1350" dirty="0"/>
          </a:p>
        </p:txBody>
      </p:sp>
      <p:sp>
        <p:nvSpPr>
          <p:cNvPr id="24" name="Shape 22"/>
          <p:cNvSpPr/>
          <p:nvPr/>
        </p:nvSpPr>
        <p:spPr>
          <a:xfrm>
            <a:off x="6702552" y="3767328"/>
            <a:ext cx="237744" cy="237744"/>
          </a:xfrm>
          <a:prstGeom prst="oval">
            <a:avLst/>
          </a:prstGeom>
          <a:solidFill>
            <a:srgbClr val="12354A"/>
          </a:solidFill>
          <a:ln w="13970">
            <a:solidFill>
              <a:srgbClr val="29C2D8"/>
            </a:solidFill>
            <a:prstDash val="solid"/>
          </a:ln>
        </p:spPr>
      </p:sp>
      <p:sp>
        <p:nvSpPr>
          <p:cNvPr id="25" name="Text 23"/>
          <p:cNvSpPr/>
          <p:nvPr/>
        </p:nvSpPr>
        <p:spPr>
          <a:xfrm>
            <a:off x="6702552" y="3721608"/>
            <a:ext cx="237744" cy="274320"/>
          </a:xfrm>
          <a:prstGeom prst="rect">
            <a:avLst/>
          </a:prstGeom>
          <a:noFill/>
          <a:ln/>
        </p:spPr>
        <p:txBody>
          <a:bodyPr wrap="square" rtlCol="0" anchor="ctr"/>
          <a:lstStyle/>
          <a:p>
            <a:pPr algn="ctr" indent="0" marL="0">
              <a:buNone/>
            </a:pPr>
            <a:r>
              <a:rPr lang="en-US" sz="1100" b="1" dirty="0">
                <a:solidFill>
                  <a:srgbClr val="29C2D8"/>
                </a:solidFill>
                <a:latin typeface="Arial" pitchFamily="34" charset="0"/>
                <a:ea typeface="Arial" pitchFamily="34" charset="-122"/>
                <a:cs typeface="Arial" pitchFamily="34" charset="-120"/>
              </a:rPr>
              <a:t>✓</a:t>
            </a:r>
            <a:endParaRPr lang="en-US" sz="1100" dirty="0"/>
          </a:p>
        </p:txBody>
      </p:sp>
      <p:sp>
        <p:nvSpPr>
          <p:cNvPr id="26" name="Text 24"/>
          <p:cNvSpPr/>
          <p:nvPr/>
        </p:nvSpPr>
        <p:spPr>
          <a:xfrm>
            <a:off x="7086600" y="3703320"/>
            <a:ext cx="4279392" cy="457200"/>
          </a:xfrm>
          <a:prstGeom prst="rect">
            <a:avLst/>
          </a:prstGeom>
          <a:noFill/>
          <a:ln/>
        </p:spPr>
        <p:txBody>
          <a:bodyPr wrap="square" rtlCol="0" anchor="ctr"/>
          <a:lstStyle/>
          <a:p>
            <a:pPr algn="l" indent="0" marL="0">
              <a:buNone/>
            </a:pPr>
            <a:r>
              <a:rPr lang="en-US" sz="1350" b="1" dirty="0">
                <a:solidFill>
                  <a:srgbClr val="EAF1FF"/>
                </a:solidFill>
                <a:latin typeface="Arial" pitchFamily="34" charset="0"/>
                <a:ea typeface="Arial" pitchFamily="34" charset="-122"/>
                <a:cs typeface="Arial" pitchFamily="34" charset="-120"/>
              </a:rPr>
              <a:t>Named responsibility &amp; approval</a:t>
            </a:r>
            <a:endParaRPr lang="en-US" sz="1350" dirty="0"/>
          </a:p>
        </p:txBody>
      </p:sp>
      <p:sp>
        <p:nvSpPr>
          <p:cNvPr id="27" name="Shape 25"/>
          <p:cNvSpPr/>
          <p:nvPr/>
        </p:nvSpPr>
        <p:spPr>
          <a:xfrm>
            <a:off x="6702552" y="4270248"/>
            <a:ext cx="237744" cy="237744"/>
          </a:xfrm>
          <a:prstGeom prst="oval">
            <a:avLst/>
          </a:prstGeom>
          <a:solidFill>
            <a:srgbClr val="12354A"/>
          </a:solidFill>
          <a:ln w="13970">
            <a:solidFill>
              <a:srgbClr val="29C2D8"/>
            </a:solidFill>
            <a:prstDash val="solid"/>
          </a:ln>
        </p:spPr>
      </p:sp>
      <p:sp>
        <p:nvSpPr>
          <p:cNvPr id="28" name="Text 26"/>
          <p:cNvSpPr/>
          <p:nvPr/>
        </p:nvSpPr>
        <p:spPr>
          <a:xfrm>
            <a:off x="6702552" y="4224528"/>
            <a:ext cx="237744" cy="274320"/>
          </a:xfrm>
          <a:prstGeom prst="rect">
            <a:avLst/>
          </a:prstGeom>
          <a:noFill/>
          <a:ln/>
        </p:spPr>
        <p:txBody>
          <a:bodyPr wrap="square" rtlCol="0" anchor="ctr"/>
          <a:lstStyle/>
          <a:p>
            <a:pPr algn="ctr" indent="0" marL="0">
              <a:buNone/>
            </a:pPr>
            <a:r>
              <a:rPr lang="en-US" sz="1100" b="1" dirty="0">
                <a:solidFill>
                  <a:srgbClr val="29C2D8"/>
                </a:solidFill>
                <a:latin typeface="Arial" pitchFamily="34" charset="0"/>
                <a:ea typeface="Arial" pitchFamily="34" charset="-122"/>
                <a:cs typeface="Arial" pitchFamily="34" charset="-120"/>
              </a:rPr>
              <a:t>✓</a:t>
            </a:r>
            <a:endParaRPr lang="en-US" sz="1100" dirty="0"/>
          </a:p>
        </p:txBody>
      </p:sp>
      <p:sp>
        <p:nvSpPr>
          <p:cNvPr id="29" name="Text 27"/>
          <p:cNvSpPr/>
          <p:nvPr/>
        </p:nvSpPr>
        <p:spPr>
          <a:xfrm>
            <a:off x="7086600" y="4206240"/>
            <a:ext cx="4279392" cy="457200"/>
          </a:xfrm>
          <a:prstGeom prst="rect">
            <a:avLst/>
          </a:prstGeom>
          <a:noFill/>
          <a:ln/>
        </p:spPr>
        <p:txBody>
          <a:bodyPr wrap="square" rtlCol="0" anchor="ctr"/>
          <a:lstStyle/>
          <a:p>
            <a:pPr algn="l" indent="0" marL="0">
              <a:buNone/>
            </a:pPr>
            <a:r>
              <a:rPr lang="en-US" sz="1350" b="1" dirty="0">
                <a:solidFill>
                  <a:srgbClr val="EAF1FF"/>
                </a:solidFill>
                <a:latin typeface="Arial" pitchFamily="34" charset="0"/>
                <a:ea typeface="Arial" pitchFamily="34" charset="-122"/>
                <a:cs typeface="Arial" pitchFamily="34" charset="-120"/>
              </a:rPr>
              <a:t>Reconciled records &amp; evidence</a:t>
            </a:r>
            <a:endParaRPr lang="en-US" sz="1350" dirty="0"/>
          </a:p>
        </p:txBody>
      </p:sp>
      <p:sp>
        <p:nvSpPr>
          <p:cNvPr id="30" name="Shape 28"/>
          <p:cNvSpPr/>
          <p:nvPr/>
        </p:nvSpPr>
        <p:spPr>
          <a:xfrm>
            <a:off x="6702552" y="4773168"/>
            <a:ext cx="237744" cy="237744"/>
          </a:xfrm>
          <a:prstGeom prst="oval">
            <a:avLst/>
          </a:prstGeom>
          <a:solidFill>
            <a:srgbClr val="12354A"/>
          </a:solidFill>
          <a:ln w="13970">
            <a:solidFill>
              <a:srgbClr val="29C2D8"/>
            </a:solidFill>
            <a:prstDash val="solid"/>
          </a:ln>
        </p:spPr>
      </p:sp>
      <p:sp>
        <p:nvSpPr>
          <p:cNvPr id="31" name="Text 29"/>
          <p:cNvSpPr/>
          <p:nvPr/>
        </p:nvSpPr>
        <p:spPr>
          <a:xfrm>
            <a:off x="6702552" y="4727448"/>
            <a:ext cx="237744" cy="274320"/>
          </a:xfrm>
          <a:prstGeom prst="rect">
            <a:avLst/>
          </a:prstGeom>
          <a:noFill/>
          <a:ln/>
        </p:spPr>
        <p:txBody>
          <a:bodyPr wrap="square" rtlCol="0" anchor="ctr"/>
          <a:lstStyle/>
          <a:p>
            <a:pPr algn="ctr" indent="0" marL="0">
              <a:buNone/>
            </a:pPr>
            <a:r>
              <a:rPr lang="en-US" sz="1100" b="1" dirty="0">
                <a:solidFill>
                  <a:srgbClr val="29C2D8"/>
                </a:solidFill>
                <a:latin typeface="Arial" pitchFamily="34" charset="0"/>
                <a:ea typeface="Arial" pitchFamily="34" charset="-122"/>
                <a:cs typeface="Arial" pitchFamily="34" charset="-120"/>
              </a:rPr>
              <a:t>✓</a:t>
            </a:r>
            <a:endParaRPr lang="en-US" sz="1100" dirty="0"/>
          </a:p>
        </p:txBody>
      </p:sp>
      <p:sp>
        <p:nvSpPr>
          <p:cNvPr id="32" name="Text 30"/>
          <p:cNvSpPr/>
          <p:nvPr/>
        </p:nvSpPr>
        <p:spPr>
          <a:xfrm>
            <a:off x="7086600" y="4709160"/>
            <a:ext cx="4279392" cy="457200"/>
          </a:xfrm>
          <a:prstGeom prst="rect">
            <a:avLst/>
          </a:prstGeom>
          <a:noFill/>
          <a:ln/>
        </p:spPr>
        <p:txBody>
          <a:bodyPr wrap="square" rtlCol="0" anchor="ctr"/>
          <a:lstStyle/>
          <a:p>
            <a:pPr algn="l" indent="0" marL="0">
              <a:buNone/>
            </a:pPr>
            <a:r>
              <a:rPr lang="en-US" sz="1350" b="1" dirty="0">
                <a:solidFill>
                  <a:srgbClr val="EAF1FF"/>
                </a:solidFill>
                <a:latin typeface="Arial" pitchFamily="34" charset="0"/>
                <a:ea typeface="Arial" pitchFamily="34" charset="-122"/>
                <a:cs typeface="Arial" pitchFamily="34" charset="-120"/>
              </a:rPr>
              <a:t>Early escalation, current information</a:t>
            </a:r>
            <a:endParaRPr lang="en-US" sz="1350" dirty="0"/>
          </a:p>
        </p:txBody>
      </p:sp>
      <p:sp>
        <p:nvSpPr>
          <p:cNvPr id="33" name="Shape 31"/>
          <p:cNvSpPr/>
          <p:nvPr/>
        </p:nvSpPr>
        <p:spPr>
          <a:xfrm>
            <a:off x="548640" y="5623560"/>
            <a:ext cx="11091672" cy="868680"/>
          </a:xfrm>
          <a:prstGeom prst="roundRect">
            <a:avLst>
              <a:gd name="adj" fmla="val 12632"/>
            </a:avLst>
          </a:prstGeom>
          <a:solidFill>
            <a:srgbClr val="0C1B38"/>
          </a:solidFill>
          <a:ln w="12700">
            <a:solidFill>
              <a:srgbClr val="27395F"/>
            </a:solidFill>
            <a:prstDash val="solid"/>
          </a:ln>
        </p:spPr>
      </p:sp>
      <p:sp>
        <p:nvSpPr>
          <p:cNvPr id="34" name="Text 32"/>
          <p:cNvSpPr/>
          <p:nvPr/>
        </p:nvSpPr>
        <p:spPr>
          <a:xfrm>
            <a:off x="868680" y="5623560"/>
            <a:ext cx="10515600" cy="868680"/>
          </a:xfrm>
          <a:prstGeom prst="rect">
            <a:avLst/>
          </a:prstGeom>
          <a:noFill/>
          <a:ln/>
        </p:spPr>
        <p:txBody>
          <a:bodyPr wrap="square" rtlCol="0" anchor="ctr"/>
          <a:lstStyle/>
          <a:p>
            <a:pPr algn="l" indent="0" marL="0">
              <a:buNone/>
            </a:pPr>
            <a:r>
              <a:rPr lang="en-US" sz="1400" b="1" dirty="0">
                <a:solidFill>
                  <a:srgbClr val="29C2D8"/>
                </a:solidFill>
                <a:latin typeface="Arial" pitchFamily="34" charset="0"/>
                <a:ea typeface="Arial" pitchFamily="34" charset="-122"/>
                <a:cs typeface="Arial" pitchFamily="34" charset="-120"/>
              </a:rPr>
              <a:t>The result   </a:t>
            </a:r>
            <a:pPr algn="l" indent="0" marL="0">
              <a:buNone/>
            </a:pPr>
            <a:r>
              <a:rPr lang="en-US" sz="1400" dirty="0">
                <a:solidFill>
                  <a:srgbClr val="EAF1FF"/>
                </a:solidFill>
                <a:latin typeface="Arial" pitchFamily="34" charset="0"/>
                <a:ea typeface="Arial" pitchFamily="34" charset="-122"/>
                <a:cs typeface="Arial" pitchFamily="34" charset="-120"/>
              </a:rPr>
              <a:t>One operational picture: what is due, when it is due, who is responsible, what has been funded and what must happen next.</a:t>
            </a:r>
            <a:endParaRPr lang="en-US" sz="1400" dirty="0"/>
          </a:p>
        </p:txBody>
      </p:sp>
      <p:sp>
        <p:nvSpPr>
          <p:cNvPr id="35" name="Text 33"/>
          <p:cNvSpPr/>
          <p:nvPr/>
        </p:nvSpPr>
        <p:spPr>
          <a:xfrm>
            <a:off x="8897112" y="6473952"/>
            <a:ext cx="2926080" cy="274320"/>
          </a:xfrm>
          <a:prstGeom prst="rect">
            <a:avLst/>
          </a:prstGeom>
          <a:noFill/>
          <a:ln/>
        </p:spPr>
        <p:txBody>
          <a:bodyPr wrap="square" rtlCol="0" anchor="ctr"/>
          <a:lstStyle/>
          <a:p>
            <a:pPr algn="r" indent="0" marL="0">
              <a:buNone/>
            </a:pPr>
            <a:r>
              <a:rPr lang="en-US" sz="900" dirty="0">
                <a:solidFill>
                  <a:srgbClr val="7183A8"/>
                </a:solidFill>
                <a:latin typeface="Arial" pitchFamily="34" charset="0"/>
                <a:ea typeface="Arial" pitchFamily="34" charset="-122"/>
                <a:cs typeface="Arial" pitchFamily="34" charset="-120"/>
              </a:rPr>
              <a:t>02  ·  tradeshielduk.org</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81228"/>
        </a:solidFill>
      </p:bgPr>
    </p:bg>
    <p:spTree>
      <p:nvGrpSpPr>
        <p:cNvPr id="1" name=""/>
        <p:cNvGrpSpPr/>
        <p:nvPr/>
      </p:nvGrpSpPr>
      <p:grpSpPr>
        <a:xfrm>
          <a:off x="0" y="0"/>
          <a:ext cx="0" cy="0"/>
          <a:chOff x="0" y="0"/>
          <a:chExt cx="0" cy="0"/>
        </a:xfrm>
      </p:grpSpPr>
      <p:sp>
        <p:nvSpPr>
          <p:cNvPr id="2" name="Text 0"/>
          <p:cNvSpPr/>
          <p:nvPr/>
        </p:nvSpPr>
        <p:spPr>
          <a:xfrm>
            <a:off x="548640" y="502920"/>
            <a:ext cx="7315200" cy="274320"/>
          </a:xfrm>
          <a:prstGeom prst="rect">
            <a:avLst/>
          </a:prstGeom>
          <a:noFill/>
          <a:ln/>
        </p:spPr>
        <p:txBody>
          <a:bodyPr wrap="square" rtlCol="0" anchor="ctr"/>
          <a:lstStyle/>
          <a:p>
            <a:pPr algn="l" indent="0" marL="0">
              <a:buNone/>
            </a:pPr>
            <a:r>
              <a:rPr lang="en-US" sz="1200" b="1" spc="300" kern="0" dirty="0">
                <a:solidFill>
                  <a:srgbClr val="29C2D8"/>
                </a:solidFill>
                <a:latin typeface="Arial" pitchFamily="34" charset="0"/>
                <a:ea typeface="Arial" pitchFamily="34" charset="-122"/>
                <a:cs typeface="Arial" pitchFamily="34" charset="-120"/>
              </a:rPr>
              <a:t>ONE PLATFORM</a:t>
            </a:r>
            <a:endParaRPr lang="en-US" sz="1200" dirty="0"/>
          </a:p>
        </p:txBody>
      </p:sp>
      <p:sp>
        <p:nvSpPr>
          <p:cNvPr id="3" name="Text 1"/>
          <p:cNvSpPr/>
          <p:nvPr/>
        </p:nvSpPr>
        <p:spPr>
          <a:xfrm>
            <a:off x="548640" y="868680"/>
            <a:ext cx="10972800" cy="1005840"/>
          </a:xfrm>
          <a:prstGeom prst="rect">
            <a:avLst/>
          </a:prstGeom>
          <a:noFill/>
          <a:ln/>
        </p:spPr>
        <p:txBody>
          <a:bodyPr wrap="square" rtlCol="0" anchor="ctr"/>
          <a:lstStyle/>
          <a:p>
            <a:pPr algn="l" indent="0" marL="0">
              <a:lnSpc>
                <a:spcPct val="98000"/>
              </a:lnSpc>
              <a:buNone/>
            </a:pPr>
            <a:r>
              <a:rPr lang="en-US" sz="3000" b="1" dirty="0">
                <a:solidFill>
                  <a:srgbClr val="FFFFFF"/>
                </a:solidFill>
                <a:latin typeface="Arial" pitchFamily="34" charset="0"/>
                <a:ea typeface="Arial" pitchFamily="34" charset="-122"/>
                <a:cs typeface="Arial" pitchFamily="34" charset="-120"/>
              </a:rPr>
              <a:t>Two connected apps, one source of truth</a:t>
            </a:r>
            <a:endParaRPr lang="en-US" sz="3000" dirty="0"/>
          </a:p>
        </p:txBody>
      </p:sp>
      <p:sp>
        <p:nvSpPr>
          <p:cNvPr id="4" name="Shape 2"/>
          <p:cNvSpPr/>
          <p:nvPr/>
        </p:nvSpPr>
        <p:spPr>
          <a:xfrm>
            <a:off x="548640" y="1874520"/>
            <a:ext cx="5440680" cy="4526280"/>
          </a:xfrm>
          <a:prstGeom prst="roundRect">
            <a:avLst>
              <a:gd name="adj" fmla="val 2424"/>
            </a:avLst>
          </a:prstGeom>
          <a:solidFill>
            <a:srgbClr val="14264C"/>
          </a:solidFill>
          <a:ln w="12700">
            <a:solidFill>
              <a:srgbClr val="27395F"/>
            </a:solidFill>
            <a:prstDash val="solid"/>
          </a:ln>
        </p:spPr>
      </p:sp>
      <p:sp>
        <p:nvSpPr>
          <p:cNvPr id="5" name="Text 3"/>
          <p:cNvSpPr/>
          <p:nvPr/>
        </p:nvSpPr>
        <p:spPr>
          <a:xfrm>
            <a:off x="868680" y="2121408"/>
            <a:ext cx="3657600" cy="274320"/>
          </a:xfrm>
          <a:prstGeom prst="rect">
            <a:avLst/>
          </a:prstGeom>
          <a:noFill/>
          <a:ln/>
        </p:spPr>
        <p:txBody>
          <a:bodyPr wrap="square" rtlCol="0" anchor="ctr"/>
          <a:lstStyle/>
          <a:p>
            <a:pPr indent="0" marL="0">
              <a:buNone/>
            </a:pPr>
            <a:r>
              <a:rPr lang="en-US" sz="1200" b="1" spc="200" kern="0" dirty="0">
                <a:solidFill>
                  <a:srgbClr val="29C2D8"/>
                </a:solidFill>
                <a:latin typeface="Arial" pitchFamily="34" charset="0"/>
                <a:ea typeface="Arial" pitchFamily="34" charset="-122"/>
                <a:cs typeface="Arial" pitchFamily="34" charset="-120"/>
              </a:rPr>
              <a:t>FOR THE CLIENT</a:t>
            </a:r>
            <a:endParaRPr lang="en-US" sz="1200" dirty="0"/>
          </a:p>
        </p:txBody>
      </p:sp>
      <p:sp>
        <p:nvSpPr>
          <p:cNvPr id="6" name="Text 4"/>
          <p:cNvSpPr/>
          <p:nvPr/>
        </p:nvSpPr>
        <p:spPr>
          <a:xfrm>
            <a:off x="868680" y="2395728"/>
            <a:ext cx="3840480" cy="411480"/>
          </a:xfrm>
          <a:prstGeom prst="rect">
            <a:avLst/>
          </a:prstGeom>
          <a:noFill/>
          <a:ln/>
        </p:spPr>
        <p:txBody>
          <a:bodyPr wrap="square" rtlCol="0" anchor="ctr"/>
          <a:lstStyle/>
          <a:p>
            <a:pPr indent="0" marL="0">
              <a:buNone/>
            </a:pPr>
            <a:r>
              <a:rPr lang="en-US" sz="1900" b="1" dirty="0">
                <a:solidFill>
                  <a:srgbClr val="FFFFFF"/>
                </a:solidFill>
                <a:latin typeface="Arial" pitchFamily="34" charset="0"/>
                <a:ea typeface="Arial" pitchFamily="34" charset="-122"/>
                <a:cs typeface="Arial" pitchFamily="34" charset="-120"/>
              </a:rPr>
              <a:t>The business owner</a:t>
            </a:r>
            <a:endParaRPr lang="en-US" sz="1900" dirty="0"/>
          </a:p>
        </p:txBody>
      </p:sp>
      <p:sp>
        <p:nvSpPr>
          <p:cNvPr id="7" name="Shape 5"/>
          <p:cNvSpPr/>
          <p:nvPr/>
        </p:nvSpPr>
        <p:spPr>
          <a:xfrm>
            <a:off x="868680" y="2990088"/>
            <a:ext cx="237744" cy="237744"/>
          </a:xfrm>
          <a:prstGeom prst="oval">
            <a:avLst/>
          </a:prstGeom>
          <a:solidFill>
            <a:srgbClr val="12354A"/>
          </a:solidFill>
          <a:ln w="13970">
            <a:solidFill>
              <a:srgbClr val="29C2D8"/>
            </a:solidFill>
            <a:prstDash val="solid"/>
          </a:ln>
        </p:spPr>
      </p:sp>
      <p:sp>
        <p:nvSpPr>
          <p:cNvPr id="8" name="Text 6"/>
          <p:cNvSpPr/>
          <p:nvPr/>
        </p:nvSpPr>
        <p:spPr>
          <a:xfrm>
            <a:off x="868680" y="2944368"/>
            <a:ext cx="237744" cy="274320"/>
          </a:xfrm>
          <a:prstGeom prst="rect">
            <a:avLst/>
          </a:prstGeom>
          <a:noFill/>
          <a:ln/>
        </p:spPr>
        <p:txBody>
          <a:bodyPr wrap="square" rtlCol="0" anchor="ctr"/>
          <a:lstStyle/>
          <a:p>
            <a:pPr algn="ctr" indent="0" marL="0">
              <a:buNone/>
            </a:pPr>
            <a:r>
              <a:rPr lang="en-US" sz="1100" b="1" dirty="0">
                <a:solidFill>
                  <a:srgbClr val="29C2D8"/>
                </a:solidFill>
                <a:latin typeface="Arial" pitchFamily="34" charset="0"/>
                <a:ea typeface="Arial" pitchFamily="34" charset="-122"/>
                <a:cs typeface="Arial" pitchFamily="34" charset="-120"/>
              </a:rPr>
              <a:t>✓</a:t>
            </a:r>
            <a:endParaRPr lang="en-US" sz="1100" dirty="0"/>
          </a:p>
        </p:txBody>
      </p:sp>
      <p:sp>
        <p:nvSpPr>
          <p:cNvPr id="9" name="Text 7"/>
          <p:cNvSpPr/>
          <p:nvPr/>
        </p:nvSpPr>
        <p:spPr>
          <a:xfrm>
            <a:off x="1252728" y="2926080"/>
            <a:ext cx="2679192" cy="457200"/>
          </a:xfrm>
          <a:prstGeom prst="rect">
            <a:avLst/>
          </a:prstGeom>
          <a:noFill/>
          <a:ln/>
        </p:spPr>
        <p:txBody>
          <a:bodyPr wrap="square" rtlCol="0" anchor="ctr"/>
          <a:lstStyle/>
          <a:p>
            <a:pPr algn="l" indent="0" marL="0">
              <a:buNone/>
            </a:pPr>
            <a:r>
              <a:rPr lang="en-US" sz="1350" b="1" dirty="0">
                <a:solidFill>
                  <a:srgbClr val="EAF1FF"/>
                </a:solidFill>
                <a:latin typeface="Arial" pitchFamily="34" charset="0"/>
                <a:ea typeface="Arial" pitchFamily="34" charset="-122"/>
                <a:cs typeface="Arial" pitchFamily="34" charset="-120"/>
              </a:rPr>
              <a:t>See your live position at a glance</a:t>
            </a:r>
            <a:endParaRPr lang="en-US" sz="1350" dirty="0"/>
          </a:p>
        </p:txBody>
      </p:sp>
      <p:sp>
        <p:nvSpPr>
          <p:cNvPr id="10" name="Shape 8"/>
          <p:cNvSpPr/>
          <p:nvPr/>
        </p:nvSpPr>
        <p:spPr>
          <a:xfrm>
            <a:off x="868680" y="3465576"/>
            <a:ext cx="237744" cy="237744"/>
          </a:xfrm>
          <a:prstGeom prst="oval">
            <a:avLst/>
          </a:prstGeom>
          <a:solidFill>
            <a:srgbClr val="12354A"/>
          </a:solidFill>
          <a:ln w="13970">
            <a:solidFill>
              <a:srgbClr val="29C2D8"/>
            </a:solidFill>
            <a:prstDash val="solid"/>
          </a:ln>
        </p:spPr>
      </p:sp>
      <p:sp>
        <p:nvSpPr>
          <p:cNvPr id="11" name="Text 9"/>
          <p:cNvSpPr/>
          <p:nvPr/>
        </p:nvSpPr>
        <p:spPr>
          <a:xfrm>
            <a:off x="868680" y="3419856"/>
            <a:ext cx="237744" cy="274320"/>
          </a:xfrm>
          <a:prstGeom prst="rect">
            <a:avLst/>
          </a:prstGeom>
          <a:noFill/>
          <a:ln/>
        </p:spPr>
        <p:txBody>
          <a:bodyPr wrap="square" rtlCol="0" anchor="ctr"/>
          <a:lstStyle/>
          <a:p>
            <a:pPr algn="ctr" indent="0" marL="0">
              <a:buNone/>
            </a:pPr>
            <a:r>
              <a:rPr lang="en-US" sz="1100" b="1" dirty="0">
                <a:solidFill>
                  <a:srgbClr val="29C2D8"/>
                </a:solidFill>
                <a:latin typeface="Arial" pitchFamily="34" charset="0"/>
                <a:ea typeface="Arial" pitchFamily="34" charset="-122"/>
                <a:cs typeface="Arial" pitchFamily="34" charset="-120"/>
              </a:rPr>
              <a:t>✓</a:t>
            </a:r>
            <a:endParaRPr lang="en-US" sz="1100" dirty="0"/>
          </a:p>
        </p:txBody>
      </p:sp>
      <p:sp>
        <p:nvSpPr>
          <p:cNvPr id="12" name="Text 10"/>
          <p:cNvSpPr/>
          <p:nvPr/>
        </p:nvSpPr>
        <p:spPr>
          <a:xfrm>
            <a:off x="1252728" y="3401568"/>
            <a:ext cx="2679192" cy="457200"/>
          </a:xfrm>
          <a:prstGeom prst="rect">
            <a:avLst/>
          </a:prstGeom>
          <a:noFill/>
          <a:ln/>
        </p:spPr>
        <p:txBody>
          <a:bodyPr wrap="square" rtlCol="0" anchor="ctr"/>
          <a:lstStyle/>
          <a:p>
            <a:pPr algn="l" indent="0" marL="0">
              <a:buNone/>
            </a:pPr>
            <a:r>
              <a:rPr lang="en-US" sz="1350" b="1" dirty="0">
                <a:solidFill>
                  <a:srgbClr val="EAF1FF"/>
                </a:solidFill>
                <a:latin typeface="Arial" pitchFamily="34" charset="0"/>
                <a:ea typeface="Arial" pitchFamily="34" charset="-122"/>
                <a:cs typeface="Arial" pitchFamily="34" charset="-120"/>
              </a:rPr>
              <a:t>Track what needs your approval</a:t>
            </a:r>
            <a:endParaRPr lang="en-US" sz="1350" dirty="0"/>
          </a:p>
        </p:txBody>
      </p:sp>
      <p:sp>
        <p:nvSpPr>
          <p:cNvPr id="13" name="Shape 11"/>
          <p:cNvSpPr/>
          <p:nvPr/>
        </p:nvSpPr>
        <p:spPr>
          <a:xfrm>
            <a:off x="868680" y="3941064"/>
            <a:ext cx="237744" cy="237744"/>
          </a:xfrm>
          <a:prstGeom prst="oval">
            <a:avLst/>
          </a:prstGeom>
          <a:solidFill>
            <a:srgbClr val="12354A"/>
          </a:solidFill>
          <a:ln w="13970">
            <a:solidFill>
              <a:srgbClr val="29C2D8"/>
            </a:solidFill>
            <a:prstDash val="solid"/>
          </a:ln>
        </p:spPr>
      </p:sp>
      <p:sp>
        <p:nvSpPr>
          <p:cNvPr id="14" name="Text 12"/>
          <p:cNvSpPr/>
          <p:nvPr/>
        </p:nvSpPr>
        <p:spPr>
          <a:xfrm>
            <a:off x="868680" y="3895344"/>
            <a:ext cx="237744" cy="274320"/>
          </a:xfrm>
          <a:prstGeom prst="rect">
            <a:avLst/>
          </a:prstGeom>
          <a:noFill/>
          <a:ln/>
        </p:spPr>
        <p:txBody>
          <a:bodyPr wrap="square" rtlCol="0" anchor="ctr"/>
          <a:lstStyle/>
          <a:p>
            <a:pPr algn="ctr" indent="0" marL="0">
              <a:buNone/>
            </a:pPr>
            <a:r>
              <a:rPr lang="en-US" sz="1100" b="1" dirty="0">
                <a:solidFill>
                  <a:srgbClr val="29C2D8"/>
                </a:solidFill>
                <a:latin typeface="Arial" pitchFamily="34" charset="0"/>
                <a:ea typeface="Arial" pitchFamily="34" charset="-122"/>
                <a:cs typeface="Arial" pitchFamily="34" charset="-120"/>
              </a:rPr>
              <a:t>✓</a:t>
            </a:r>
            <a:endParaRPr lang="en-US" sz="1100" dirty="0"/>
          </a:p>
        </p:txBody>
      </p:sp>
      <p:sp>
        <p:nvSpPr>
          <p:cNvPr id="15" name="Text 13"/>
          <p:cNvSpPr/>
          <p:nvPr/>
        </p:nvSpPr>
        <p:spPr>
          <a:xfrm>
            <a:off x="1252728" y="3877056"/>
            <a:ext cx="2679192" cy="457200"/>
          </a:xfrm>
          <a:prstGeom prst="rect">
            <a:avLst/>
          </a:prstGeom>
          <a:noFill/>
          <a:ln/>
        </p:spPr>
        <p:txBody>
          <a:bodyPr wrap="square" rtlCol="0" anchor="ctr"/>
          <a:lstStyle/>
          <a:p>
            <a:pPr algn="l" indent="0" marL="0">
              <a:buNone/>
            </a:pPr>
            <a:r>
              <a:rPr lang="en-US" sz="1350" b="1" dirty="0">
                <a:solidFill>
                  <a:srgbClr val="EAF1FF"/>
                </a:solidFill>
                <a:latin typeface="Arial" pitchFamily="34" charset="0"/>
                <a:ea typeface="Arial" pitchFamily="34" charset="-122"/>
                <a:cs typeface="Arial" pitchFamily="34" charset="-120"/>
              </a:rPr>
              <a:t>Watch what your TradeShield team is doing</a:t>
            </a:r>
            <a:endParaRPr lang="en-US" sz="1350" dirty="0"/>
          </a:p>
        </p:txBody>
      </p:sp>
      <p:sp>
        <p:nvSpPr>
          <p:cNvPr id="16" name="Shape 14"/>
          <p:cNvSpPr/>
          <p:nvPr/>
        </p:nvSpPr>
        <p:spPr>
          <a:xfrm>
            <a:off x="868680" y="4416552"/>
            <a:ext cx="237744" cy="237744"/>
          </a:xfrm>
          <a:prstGeom prst="oval">
            <a:avLst/>
          </a:prstGeom>
          <a:solidFill>
            <a:srgbClr val="12354A"/>
          </a:solidFill>
          <a:ln w="13970">
            <a:solidFill>
              <a:srgbClr val="29C2D8"/>
            </a:solidFill>
            <a:prstDash val="solid"/>
          </a:ln>
        </p:spPr>
      </p:sp>
      <p:sp>
        <p:nvSpPr>
          <p:cNvPr id="17" name="Text 15"/>
          <p:cNvSpPr/>
          <p:nvPr/>
        </p:nvSpPr>
        <p:spPr>
          <a:xfrm>
            <a:off x="868680" y="4370832"/>
            <a:ext cx="237744" cy="274320"/>
          </a:xfrm>
          <a:prstGeom prst="rect">
            <a:avLst/>
          </a:prstGeom>
          <a:noFill/>
          <a:ln/>
        </p:spPr>
        <p:txBody>
          <a:bodyPr wrap="square" rtlCol="0" anchor="ctr"/>
          <a:lstStyle/>
          <a:p>
            <a:pPr algn="ctr" indent="0" marL="0">
              <a:buNone/>
            </a:pPr>
            <a:r>
              <a:rPr lang="en-US" sz="1100" b="1" dirty="0">
                <a:solidFill>
                  <a:srgbClr val="29C2D8"/>
                </a:solidFill>
                <a:latin typeface="Arial" pitchFamily="34" charset="0"/>
                <a:ea typeface="Arial" pitchFamily="34" charset="-122"/>
                <a:cs typeface="Arial" pitchFamily="34" charset="-120"/>
              </a:rPr>
              <a:t>✓</a:t>
            </a:r>
            <a:endParaRPr lang="en-US" sz="1100" dirty="0"/>
          </a:p>
        </p:txBody>
      </p:sp>
      <p:sp>
        <p:nvSpPr>
          <p:cNvPr id="18" name="Text 16"/>
          <p:cNvSpPr/>
          <p:nvPr/>
        </p:nvSpPr>
        <p:spPr>
          <a:xfrm>
            <a:off x="1252728" y="4352544"/>
            <a:ext cx="2679192" cy="457200"/>
          </a:xfrm>
          <a:prstGeom prst="rect">
            <a:avLst/>
          </a:prstGeom>
          <a:noFill/>
          <a:ln/>
        </p:spPr>
        <p:txBody>
          <a:bodyPr wrap="square" rtlCol="0" anchor="ctr"/>
          <a:lstStyle/>
          <a:p>
            <a:pPr algn="l" indent="0" marL="0">
              <a:buNone/>
            </a:pPr>
            <a:r>
              <a:rPr lang="en-US" sz="1350" b="1" dirty="0">
                <a:solidFill>
                  <a:srgbClr val="EAF1FF"/>
                </a:solidFill>
                <a:latin typeface="Arial" pitchFamily="34" charset="0"/>
                <a:ea typeface="Arial" pitchFamily="34" charset="-122"/>
                <a:cs typeface="Arial" pitchFamily="34" charset="-120"/>
              </a:rPr>
              <a:t>Ask the AI assistant · get 24/7 support</a:t>
            </a:r>
            <a:endParaRPr lang="en-US" sz="1350" dirty="0"/>
          </a:p>
        </p:txBody>
      </p:sp>
      <p:sp>
        <p:nvSpPr>
          <p:cNvPr id="19" name="Shape 17"/>
          <p:cNvSpPr/>
          <p:nvPr/>
        </p:nvSpPr>
        <p:spPr>
          <a:xfrm>
            <a:off x="4096512" y="2450592"/>
            <a:ext cx="1832640" cy="3694176"/>
          </a:xfrm>
          <a:prstGeom prst="roundRect">
            <a:avLst>
              <a:gd name="adj" fmla="val 6985"/>
            </a:avLst>
          </a:prstGeom>
          <a:solidFill>
            <a:srgbClr val="0A1330"/>
          </a:solidFill>
          <a:ln w="15875">
            <a:solidFill>
              <a:srgbClr val="2A3E66"/>
            </a:solidFill>
            <a:prstDash val="solid"/>
          </a:ln>
          <a:effectLst>
            <a:outerShdw sx="100000" sy="100000" kx="0" ky="0" algn="bl" rotWithShape="0" blurRad="177800" dist="63500" dir="5400000">
              <a:srgbClr val="000000">
                <a:alpha val="45000"/>
              </a:srgbClr>
            </a:outerShdw>
          </a:effectLst>
        </p:spPr>
      </p:sp>
      <p:pic>
        <p:nvPicPr>
          <p:cNvPr id="20" name="Image 0" descr="/tmp/claude-0/-home-user-AI-Agent/58945abb-1ebe-5660-8725-4e1dccac2381/scratchpad/deck-home.png">    </p:cNvPr>
          <p:cNvPicPr>
            <a:picLocks noChangeAspect="1"/>
          </p:cNvPicPr>
          <p:nvPr/>
        </p:nvPicPr>
        <p:blipFill>
          <a:blip r:embed="rId1"/>
          <a:stretch>
            <a:fillRect/>
          </a:stretch>
        </p:blipFill>
        <p:spPr>
          <a:xfrm>
            <a:off x="4160520" y="2514600"/>
            <a:ext cx="1704624" cy="3566160"/>
          </a:xfrm>
          <a:prstGeom prst="rect">
            <a:avLst/>
          </a:prstGeom>
        </p:spPr>
      </p:pic>
      <p:sp>
        <p:nvSpPr>
          <p:cNvPr id="21" name="Shape 18"/>
          <p:cNvSpPr/>
          <p:nvPr/>
        </p:nvSpPr>
        <p:spPr>
          <a:xfrm>
            <a:off x="6199632" y="1874520"/>
            <a:ext cx="5440680" cy="4526280"/>
          </a:xfrm>
          <a:prstGeom prst="roundRect">
            <a:avLst>
              <a:gd name="adj" fmla="val 2424"/>
            </a:avLst>
          </a:prstGeom>
          <a:solidFill>
            <a:srgbClr val="14264C"/>
          </a:solidFill>
          <a:ln w="12700">
            <a:solidFill>
              <a:srgbClr val="27395F"/>
            </a:solidFill>
            <a:prstDash val="solid"/>
          </a:ln>
        </p:spPr>
      </p:sp>
      <p:sp>
        <p:nvSpPr>
          <p:cNvPr id="22" name="Text 19"/>
          <p:cNvSpPr/>
          <p:nvPr/>
        </p:nvSpPr>
        <p:spPr>
          <a:xfrm>
            <a:off x="6519672" y="2121408"/>
            <a:ext cx="4572000" cy="274320"/>
          </a:xfrm>
          <a:prstGeom prst="rect">
            <a:avLst/>
          </a:prstGeom>
          <a:noFill/>
          <a:ln/>
        </p:spPr>
        <p:txBody>
          <a:bodyPr wrap="square" rtlCol="0" anchor="ctr"/>
          <a:lstStyle/>
          <a:p>
            <a:pPr indent="0" marL="0">
              <a:buNone/>
            </a:pPr>
            <a:r>
              <a:rPr lang="en-US" sz="1200" b="1" spc="200" kern="0" dirty="0">
                <a:solidFill>
                  <a:srgbClr val="D8B866"/>
                </a:solidFill>
                <a:latin typeface="Arial" pitchFamily="34" charset="0"/>
                <a:ea typeface="Arial" pitchFamily="34" charset="-122"/>
                <a:cs typeface="Arial" pitchFamily="34" charset="-120"/>
              </a:rPr>
              <a:t>FOR THE PTC / ADVISER</a:t>
            </a:r>
            <a:endParaRPr lang="en-US" sz="1200" dirty="0"/>
          </a:p>
        </p:txBody>
      </p:sp>
      <p:sp>
        <p:nvSpPr>
          <p:cNvPr id="23" name="Text 20"/>
          <p:cNvSpPr/>
          <p:nvPr/>
        </p:nvSpPr>
        <p:spPr>
          <a:xfrm>
            <a:off x="6519672" y="2395728"/>
            <a:ext cx="3840480" cy="411480"/>
          </a:xfrm>
          <a:prstGeom prst="rect">
            <a:avLst/>
          </a:prstGeom>
          <a:noFill/>
          <a:ln/>
        </p:spPr>
        <p:txBody>
          <a:bodyPr wrap="square" rtlCol="0" anchor="ctr"/>
          <a:lstStyle/>
          <a:p>
            <a:pPr indent="0" marL="0">
              <a:buNone/>
            </a:pPr>
            <a:r>
              <a:rPr lang="en-US" sz="1900" b="1" dirty="0">
                <a:solidFill>
                  <a:srgbClr val="FFFFFF"/>
                </a:solidFill>
                <a:latin typeface="Arial" pitchFamily="34" charset="0"/>
                <a:ea typeface="Arial" pitchFamily="34" charset="-122"/>
                <a:cs typeface="Arial" pitchFamily="34" charset="-120"/>
              </a:rPr>
              <a:t>The operating team</a:t>
            </a:r>
            <a:endParaRPr lang="en-US" sz="1900" dirty="0"/>
          </a:p>
        </p:txBody>
      </p:sp>
      <p:sp>
        <p:nvSpPr>
          <p:cNvPr id="24" name="Shape 21"/>
          <p:cNvSpPr/>
          <p:nvPr/>
        </p:nvSpPr>
        <p:spPr>
          <a:xfrm>
            <a:off x="6519672" y="2990088"/>
            <a:ext cx="237744" cy="237744"/>
          </a:xfrm>
          <a:prstGeom prst="oval">
            <a:avLst/>
          </a:prstGeom>
          <a:solidFill>
            <a:srgbClr val="12354A"/>
          </a:solidFill>
          <a:ln w="13970">
            <a:solidFill>
              <a:srgbClr val="29C2D8"/>
            </a:solidFill>
            <a:prstDash val="solid"/>
          </a:ln>
        </p:spPr>
      </p:sp>
      <p:sp>
        <p:nvSpPr>
          <p:cNvPr id="25" name="Text 22"/>
          <p:cNvSpPr/>
          <p:nvPr/>
        </p:nvSpPr>
        <p:spPr>
          <a:xfrm>
            <a:off x="6519672" y="2944368"/>
            <a:ext cx="237744" cy="274320"/>
          </a:xfrm>
          <a:prstGeom prst="rect">
            <a:avLst/>
          </a:prstGeom>
          <a:noFill/>
          <a:ln/>
        </p:spPr>
        <p:txBody>
          <a:bodyPr wrap="square" rtlCol="0" anchor="ctr"/>
          <a:lstStyle/>
          <a:p>
            <a:pPr algn="ctr" indent="0" marL="0">
              <a:buNone/>
            </a:pPr>
            <a:r>
              <a:rPr lang="en-US" sz="1100" b="1" dirty="0">
                <a:solidFill>
                  <a:srgbClr val="29C2D8"/>
                </a:solidFill>
                <a:latin typeface="Arial" pitchFamily="34" charset="0"/>
                <a:ea typeface="Arial" pitchFamily="34" charset="-122"/>
                <a:cs typeface="Arial" pitchFamily="34" charset="-120"/>
              </a:rPr>
              <a:t>✓</a:t>
            </a:r>
            <a:endParaRPr lang="en-US" sz="1100" dirty="0"/>
          </a:p>
        </p:txBody>
      </p:sp>
      <p:sp>
        <p:nvSpPr>
          <p:cNvPr id="26" name="Text 23"/>
          <p:cNvSpPr/>
          <p:nvPr/>
        </p:nvSpPr>
        <p:spPr>
          <a:xfrm>
            <a:off x="6903720" y="2926080"/>
            <a:ext cx="2679192" cy="457200"/>
          </a:xfrm>
          <a:prstGeom prst="rect">
            <a:avLst/>
          </a:prstGeom>
          <a:noFill/>
          <a:ln/>
        </p:spPr>
        <p:txBody>
          <a:bodyPr wrap="square" rtlCol="0" anchor="ctr"/>
          <a:lstStyle/>
          <a:p>
            <a:pPr algn="l" indent="0" marL="0">
              <a:buNone/>
            </a:pPr>
            <a:r>
              <a:rPr lang="en-US" sz="1350" b="1" dirty="0">
                <a:solidFill>
                  <a:srgbClr val="EAF1FF"/>
                </a:solidFill>
                <a:latin typeface="Arial" pitchFamily="34" charset="0"/>
                <a:ea typeface="Arial" pitchFamily="34" charset="-122"/>
                <a:cs typeface="Arial" pitchFamily="34" charset="-120"/>
              </a:rPr>
              <a:t>Manage every client from one portfolio</a:t>
            </a:r>
            <a:endParaRPr lang="en-US" sz="1350" dirty="0"/>
          </a:p>
        </p:txBody>
      </p:sp>
      <p:sp>
        <p:nvSpPr>
          <p:cNvPr id="27" name="Shape 24"/>
          <p:cNvSpPr/>
          <p:nvPr/>
        </p:nvSpPr>
        <p:spPr>
          <a:xfrm>
            <a:off x="6519672" y="3465576"/>
            <a:ext cx="237744" cy="237744"/>
          </a:xfrm>
          <a:prstGeom prst="oval">
            <a:avLst/>
          </a:prstGeom>
          <a:solidFill>
            <a:srgbClr val="12354A"/>
          </a:solidFill>
          <a:ln w="13970">
            <a:solidFill>
              <a:srgbClr val="29C2D8"/>
            </a:solidFill>
            <a:prstDash val="solid"/>
          </a:ln>
        </p:spPr>
      </p:sp>
      <p:sp>
        <p:nvSpPr>
          <p:cNvPr id="28" name="Text 25"/>
          <p:cNvSpPr/>
          <p:nvPr/>
        </p:nvSpPr>
        <p:spPr>
          <a:xfrm>
            <a:off x="6519672" y="3419856"/>
            <a:ext cx="237744" cy="274320"/>
          </a:xfrm>
          <a:prstGeom prst="rect">
            <a:avLst/>
          </a:prstGeom>
          <a:noFill/>
          <a:ln/>
        </p:spPr>
        <p:txBody>
          <a:bodyPr wrap="square" rtlCol="0" anchor="ctr"/>
          <a:lstStyle/>
          <a:p>
            <a:pPr algn="ctr" indent="0" marL="0">
              <a:buNone/>
            </a:pPr>
            <a:r>
              <a:rPr lang="en-US" sz="1100" b="1" dirty="0">
                <a:solidFill>
                  <a:srgbClr val="29C2D8"/>
                </a:solidFill>
                <a:latin typeface="Arial" pitchFamily="34" charset="0"/>
                <a:ea typeface="Arial" pitchFamily="34" charset="-122"/>
                <a:cs typeface="Arial" pitchFamily="34" charset="-120"/>
              </a:rPr>
              <a:t>✓</a:t>
            </a:r>
            <a:endParaRPr lang="en-US" sz="1100" dirty="0"/>
          </a:p>
        </p:txBody>
      </p:sp>
      <p:sp>
        <p:nvSpPr>
          <p:cNvPr id="29" name="Text 26"/>
          <p:cNvSpPr/>
          <p:nvPr/>
        </p:nvSpPr>
        <p:spPr>
          <a:xfrm>
            <a:off x="6903720" y="3401568"/>
            <a:ext cx="2679192" cy="457200"/>
          </a:xfrm>
          <a:prstGeom prst="rect">
            <a:avLst/>
          </a:prstGeom>
          <a:noFill/>
          <a:ln/>
        </p:spPr>
        <p:txBody>
          <a:bodyPr wrap="square" rtlCol="0" anchor="ctr"/>
          <a:lstStyle/>
          <a:p>
            <a:pPr algn="l" indent="0" marL="0">
              <a:buNone/>
            </a:pPr>
            <a:r>
              <a:rPr lang="en-US" sz="1350" b="1" dirty="0">
                <a:solidFill>
                  <a:srgbClr val="EAF1FF"/>
                </a:solidFill>
                <a:latin typeface="Arial" pitchFamily="34" charset="0"/>
                <a:ea typeface="Arial" pitchFamily="34" charset="-122"/>
                <a:cs typeface="Arial" pitchFamily="34" charset="-120"/>
              </a:rPr>
              <a:t>Record, approve, fund &amp; reconcile liabilities</a:t>
            </a:r>
            <a:endParaRPr lang="en-US" sz="1350" dirty="0"/>
          </a:p>
        </p:txBody>
      </p:sp>
      <p:sp>
        <p:nvSpPr>
          <p:cNvPr id="30" name="Shape 27"/>
          <p:cNvSpPr/>
          <p:nvPr/>
        </p:nvSpPr>
        <p:spPr>
          <a:xfrm>
            <a:off x="6519672" y="3941064"/>
            <a:ext cx="237744" cy="237744"/>
          </a:xfrm>
          <a:prstGeom prst="oval">
            <a:avLst/>
          </a:prstGeom>
          <a:solidFill>
            <a:srgbClr val="12354A"/>
          </a:solidFill>
          <a:ln w="13970">
            <a:solidFill>
              <a:srgbClr val="29C2D8"/>
            </a:solidFill>
            <a:prstDash val="solid"/>
          </a:ln>
        </p:spPr>
      </p:sp>
      <p:sp>
        <p:nvSpPr>
          <p:cNvPr id="31" name="Text 28"/>
          <p:cNvSpPr/>
          <p:nvPr/>
        </p:nvSpPr>
        <p:spPr>
          <a:xfrm>
            <a:off x="6519672" y="3895344"/>
            <a:ext cx="237744" cy="274320"/>
          </a:xfrm>
          <a:prstGeom prst="rect">
            <a:avLst/>
          </a:prstGeom>
          <a:noFill/>
          <a:ln/>
        </p:spPr>
        <p:txBody>
          <a:bodyPr wrap="square" rtlCol="0" anchor="ctr"/>
          <a:lstStyle/>
          <a:p>
            <a:pPr algn="ctr" indent="0" marL="0">
              <a:buNone/>
            </a:pPr>
            <a:r>
              <a:rPr lang="en-US" sz="1100" b="1" dirty="0">
                <a:solidFill>
                  <a:srgbClr val="29C2D8"/>
                </a:solidFill>
                <a:latin typeface="Arial" pitchFamily="34" charset="0"/>
                <a:ea typeface="Arial" pitchFamily="34" charset="-122"/>
                <a:cs typeface="Arial" pitchFamily="34" charset="-120"/>
              </a:rPr>
              <a:t>✓</a:t>
            </a:r>
            <a:endParaRPr lang="en-US" sz="1100" dirty="0"/>
          </a:p>
        </p:txBody>
      </p:sp>
      <p:sp>
        <p:nvSpPr>
          <p:cNvPr id="32" name="Text 29"/>
          <p:cNvSpPr/>
          <p:nvPr/>
        </p:nvSpPr>
        <p:spPr>
          <a:xfrm>
            <a:off x="6903720" y="3877056"/>
            <a:ext cx="2679192" cy="457200"/>
          </a:xfrm>
          <a:prstGeom prst="rect">
            <a:avLst/>
          </a:prstGeom>
          <a:noFill/>
          <a:ln/>
        </p:spPr>
        <p:txBody>
          <a:bodyPr wrap="square" rtlCol="0" anchor="ctr"/>
          <a:lstStyle/>
          <a:p>
            <a:pPr algn="l" indent="0" marL="0">
              <a:buNone/>
            </a:pPr>
            <a:r>
              <a:rPr lang="en-US" sz="1350" b="1" dirty="0">
                <a:solidFill>
                  <a:srgbClr val="EAF1FF"/>
                </a:solidFill>
                <a:latin typeface="Arial" pitchFamily="34" charset="0"/>
                <a:ea typeface="Arial" pitchFamily="34" charset="-122"/>
                <a:cs typeface="Arial" pitchFamily="34" charset="-120"/>
              </a:rPr>
              <a:t>Run the Action Centre &amp; post updates</a:t>
            </a:r>
            <a:endParaRPr lang="en-US" sz="1350" dirty="0"/>
          </a:p>
        </p:txBody>
      </p:sp>
      <p:sp>
        <p:nvSpPr>
          <p:cNvPr id="33" name="Shape 30"/>
          <p:cNvSpPr/>
          <p:nvPr/>
        </p:nvSpPr>
        <p:spPr>
          <a:xfrm>
            <a:off x="6519672" y="4416552"/>
            <a:ext cx="237744" cy="237744"/>
          </a:xfrm>
          <a:prstGeom prst="oval">
            <a:avLst/>
          </a:prstGeom>
          <a:solidFill>
            <a:srgbClr val="12354A"/>
          </a:solidFill>
          <a:ln w="13970">
            <a:solidFill>
              <a:srgbClr val="29C2D8"/>
            </a:solidFill>
            <a:prstDash val="solid"/>
          </a:ln>
        </p:spPr>
      </p:sp>
      <p:sp>
        <p:nvSpPr>
          <p:cNvPr id="34" name="Text 31"/>
          <p:cNvSpPr/>
          <p:nvPr/>
        </p:nvSpPr>
        <p:spPr>
          <a:xfrm>
            <a:off x="6519672" y="4370832"/>
            <a:ext cx="237744" cy="274320"/>
          </a:xfrm>
          <a:prstGeom prst="rect">
            <a:avLst/>
          </a:prstGeom>
          <a:noFill/>
          <a:ln/>
        </p:spPr>
        <p:txBody>
          <a:bodyPr wrap="square" rtlCol="0" anchor="ctr"/>
          <a:lstStyle/>
          <a:p>
            <a:pPr algn="ctr" indent="0" marL="0">
              <a:buNone/>
            </a:pPr>
            <a:r>
              <a:rPr lang="en-US" sz="1100" b="1" dirty="0">
                <a:solidFill>
                  <a:srgbClr val="29C2D8"/>
                </a:solidFill>
                <a:latin typeface="Arial" pitchFamily="34" charset="0"/>
                <a:ea typeface="Arial" pitchFamily="34" charset="-122"/>
                <a:cs typeface="Arial" pitchFamily="34" charset="-120"/>
              </a:rPr>
              <a:t>✓</a:t>
            </a:r>
            <a:endParaRPr lang="en-US" sz="1100" dirty="0"/>
          </a:p>
        </p:txBody>
      </p:sp>
      <p:sp>
        <p:nvSpPr>
          <p:cNvPr id="35" name="Text 32"/>
          <p:cNvSpPr/>
          <p:nvPr/>
        </p:nvSpPr>
        <p:spPr>
          <a:xfrm>
            <a:off x="6903720" y="4352544"/>
            <a:ext cx="2679192" cy="457200"/>
          </a:xfrm>
          <a:prstGeom prst="rect">
            <a:avLst/>
          </a:prstGeom>
          <a:noFill/>
          <a:ln/>
        </p:spPr>
        <p:txBody>
          <a:bodyPr wrap="square" rtlCol="0" anchor="ctr"/>
          <a:lstStyle/>
          <a:p>
            <a:pPr algn="l" indent="0" marL="0">
              <a:buNone/>
            </a:pPr>
            <a:r>
              <a:rPr lang="en-US" sz="1350" b="1" dirty="0">
                <a:solidFill>
                  <a:srgbClr val="EAF1FF"/>
                </a:solidFill>
                <a:latin typeface="Arial" pitchFamily="34" charset="0"/>
                <a:ea typeface="Arial" pitchFamily="34" charset="-122"/>
                <a:cs typeface="Arial" pitchFamily="34" charset="-120"/>
              </a:rPr>
              <a:t>Export board reports &amp; evidence packs</a:t>
            </a:r>
            <a:endParaRPr lang="en-US" sz="1350" dirty="0"/>
          </a:p>
        </p:txBody>
      </p:sp>
      <p:sp>
        <p:nvSpPr>
          <p:cNvPr id="36" name="Shape 33"/>
          <p:cNvSpPr/>
          <p:nvPr/>
        </p:nvSpPr>
        <p:spPr>
          <a:xfrm>
            <a:off x="9765792" y="2450592"/>
            <a:ext cx="1832640" cy="3694176"/>
          </a:xfrm>
          <a:prstGeom prst="roundRect">
            <a:avLst>
              <a:gd name="adj" fmla="val 6985"/>
            </a:avLst>
          </a:prstGeom>
          <a:solidFill>
            <a:srgbClr val="0A1330"/>
          </a:solidFill>
          <a:ln w="15875">
            <a:solidFill>
              <a:srgbClr val="2A3E66"/>
            </a:solidFill>
            <a:prstDash val="solid"/>
          </a:ln>
          <a:effectLst>
            <a:outerShdw sx="100000" sy="100000" kx="0" ky="0" algn="bl" rotWithShape="0" blurRad="177800" dist="63500" dir="5400000">
              <a:srgbClr val="000000">
                <a:alpha val="45000"/>
              </a:srgbClr>
            </a:outerShdw>
          </a:effectLst>
        </p:spPr>
      </p:sp>
      <p:pic>
        <p:nvPicPr>
          <p:cNvPr id="37" name="Image 1" descr="/tmp/claude-0/-home-user-AI-Agent/58945abb-1ebe-5660-8725-4e1dccac2381/scratchpad/deck-portfolio.png">    </p:cNvPr>
          <p:cNvPicPr>
            <a:picLocks noChangeAspect="1"/>
          </p:cNvPicPr>
          <p:nvPr/>
        </p:nvPicPr>
        <p:blipFill>
          <a:blip r:embed="rId2"/>
          <a:stretch>
            <a:fillRect/>
          </a:stretch>
        </p:blipFill>
        <p:spPr>
          <a:xfrm>
            <a:off x="9829800" y="2514600"/>
            <a:ext cx="1704624" cy="3566160"/>
          </a:xfrm>
          <a:prstGeom prst="rect">
            <a:avLst/>
          </a:prstGeom>
        </p:spPr>
      </p:pic>
      <p:sp>
        <p:nvSpPr>
          <p:cNvPr id="38" name="Text 34"/>
          <p:cNvSpPr/>
          <p:nvPr/>
        </p:nvSpPr>
        <p:spPr>
          <a:xfrm>
            <a:off x="8897112" y="6473952"/>
            <a:ext cx="2926080" cy="274320"/>
          </a:xfrm>
          <a:prstGeom prst="rect">
            <a:avLst/>
          </a:prstGeom>
          <a:noFill/>
          <a:ln/>
        </p:spPr>
        <p:txBody>
          <a:bodyPr wrap="square" rtlCol="0" anchor="ctr"/>
          <a:lstStyle/>
          <a:p>
            <a:pPr algn="r" indent="0" marL="0">
              <a:buNone/>
            </a:pPr>
            <a:r>
              <a:rPr lang="en-US" sz="900" dirty="0">
                <a:solidFill>
                  <a:srgbClr val="7183A8"/>
                </a:solidFill>
                <a:latin typeface="Arial" pitchFamily="34" charset="0"/>
                <a:ea typeface="Arial" pitchFamily="34" charset="-122"/>
                <a:cs typeface="Arial" pitchFamily="34" charset="-120"/>
              </a:rPr>
              <a:t>03  ·  tradeshielduk.org</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81228"/>
        </a:solidFill>
      </p:bgPr>
    </p:bg>
    <p:spTree>
      <p:nvGrpSpPr>
        <p:cNvPr id="1" name=""/>
        <p:cNvGrpSpPr/>
        <p:nvPr/>
      </p:nvGrpSpPr>
      <p:grpSpPr>
        <a:xfrm>
          <a:off x="0" y="0"/>
          <a:ext cx="0" cy="0"/>
          <a:chOff x="0" y="0"/>
          <a:chExt cx="0" cy="0"/>
        </a:xfrm>
      </p:grpSpPr>
      <p:sp>
        <p:nvSpPr>
          <p:cNvPr id="2" name="Text 0"/>
          <p:cNvSpPr/>
          <p:nvPr/>
        </p:nvSpPr>
        <p:spPr>
          <a:xfrm>
            <a:off x="548640" y="502920"/>
            <a:ext cx="7315200" cy="274320"/>
          </a:xfrm>
          <a:prstGeom prst="rect">
            <a:avLst/>
          </a:prstGeom>
          <a:noFill/>
          <a:ln/>
        </p:spPr>
        <p:txBody>
          <a:bodyPr wrap="square" rtlCol="0" anchor="ctr"/>
          <a:lstStyle/>
          <a:p>
            <a:pPr algn="l" indent="0" marL="0">
              <a:buNone/>
            </a:pPr>
            <a:r>
              <a:rPr lang="en-US" sz="1200" b="1" spc="300" kern="0" dirty="0">
                <a:solidFill>
                  <a:srgbClr val="29C2D8"/>
                </a:solidFill>
                <a:latin typeface="Arial" pitchFamily="34" charset="0"/>
                <a:ea typeface="Arial" pitchFamily="34" charset="-122"/>
                <a:cs typeface="Arial" pitchFamily="34" charset="-120"/>
              </a:rPr>
              <a:t>THE CLIENT DASHBOARD</a:t>
            </a:r>
            <a:endParaRPr lang="en-US" sz="1200" dirty="0"/>
          </a:p>
        </p:txBody>
      </p:sp>
      <p:sp>
        <p:nvSpPr>
          <p:cNvPr id="3" name="Text 1"/>
          <p:cNvSpPr/>
          <p:nvPr/>
        </p:nvSpPr>
        <p:spPr>
          <a:xfrm>
            <a:off x="548640" y="868680"/>
            <a:ext cx="10058400" cy="1005840"/>
          </a:xfrm>
          <a:prstGeom prst="rect">
            <a:avLst/>
          </a:prstGeom>
          <a:noFill/>
          <a:ln/>
        </p:spPr>
        <p:txBody>
          <a:bodyPr wrap="square" rtlCol="0" anchor="ctr"/>
          <a:lstStyle/>
          <a:p>
            <a:pPr algn="l" indent="0" marL="0">
              <a:lnSpc>
                <a:spcPct val="98000"/>
              </a:lnSpc>
              <a:buNone/>
            </a:pPr>
            <a:r>
              <a:rPr lang="en-US" sz="3000" b="1" dirty="0">
                <a:solidFill>
                  <a:srgbClr val="FFFFFF"/>
                </a:solidFill>
                <a:latin typeface="Arial" pitchFamily="34" charset="0"/>
                <a:ea typeface="Arial" pitchFamily="34" charset="-122"/>
                <a:cs typeface="Arial" pitchFamily="34" charset="-120"/>
              </a:rPr>
              <a:t>Your whole position — in one glance</a:t>
            </a:r>
            <a:endParaRPr lang="en-US" sz="3000" dirty="0"/>
          </a:p>
        </p:txBody>
      </p:sp>
      <p:sp>
        <p:nvSpPr>
          <p:cNvPr id="4" name="Shape 2"/>
          <p:cNvSpPr/>
          <p:nvPr/>
        </p:nvSpPr>
        <p:spPr>
          <a:xfrm>
            <a:off x="804672" y="1673352"/>
            <a:ext cx="2400849" cy="4882896"/>
          </a:xfrm>
          <a:prstGeom prst="roundRect">
            <a:avLst>
              <a:gd name="adj" fmla="val 5332"/>
            </a:avLst>
          </a:prstGeom>
          <a:solidFill>
            <a:srgbClr val="0A1330"/>
          </a:solidFill>
          <a:ln w="15875">
            <a:solidFill>
              <a:srgbClr val="2A3E66"/>
            </a:solidFill>
            <a:prstDash val="solid"/>
          </a:ln>
          <a:effectLst>
            <a:outerShdw sx="100000" sy="100000" kx="0" ky="0" algn="bl" rotWithShape="0" blurRad="177800" dist="63500" dir="5400000">
              <a:srgbClr val="000000">
                <a:alpha val="45000"/>
              </a:srgbClr>
            </a:outerShdw>
          </a:effectLst>
        </p:spPr>
      </p:sp>
      <p:pic>
        <p:nvPicPr>
          <p:cNvPr id="5" name="Image 0" descr="/tmp/claude-0/-home-user-AI-Agent/58945abb-1ebe-5660-8725-4e1dccac2381/scratchpad/deck-home.png">    </p:cNvPr>
          <p:cNvPicPr>
            <a:picLocks noChangeAspect="1"/>
          </p:cNvPicPr>
          <p:nvPr/>
        </p:nvPicPr>
        <p:blipFill>
          <a:blip r:embed="rId1"/>
          <a:stretch>
            <a:fillRect/>
          </a:stretch>
        </p:blipFill>
        <p:spPr>
          <a:xfrm>
            <a:off x="868680" y="1737360"/>
            <a:ext cx="2272833" cy="4754880"/>
          </a:xfrm>
          <a:prstGeom prst="rect">
            <a:avLst/>
          </a:prstGeom>
        </p:spPr>
      </p:pic>
      <p:sp>
        <p:nvSpPr>
          <p:cNvPr id="6" name="Shape 3"/>
          <p:cNvSpPr/>
          <p:nvPr/>
        </p:nvSpPr>
        <p:spPr>
          <a:xfrm>
            <a:off x="4023360" y="1783080"/>
            <a:ext cx="7635240" cy="1371600"/>
          </a:xfrm>
          <a:prstGeom prst="roundRect">
            <a:avLst>
              <a:gd name="adj" fmla="val 8000"/>
            </a:avLst>
          </a:prstGeom>
          <a:solidFill>
            <a:srgbClr val="14264C"/>
          </a:solidFill>
          <a:ln w="12700">
            <a:solidFill>
              <a:srgbClr val="27395F"/>
            </a:solidFill>
            <a:prstDash val="solid"/>
          </a:ln>
        </p:spPr>
      </p:sp>
      <p:sp>
        <p:nvSpPr>
          <p:cNvPr id="7" name="Shape 4"/>
          <p:cNvSpPr/>
          <p:nvPr/>
        </p:nvSpPr>
        <p:spPr>
          <a:xfrm>
            <a:off x="4279392" y="2039112"/>
            <a:ext cx="566928" cy="566928"/>
          </a:xfrm>
          <a:prstGeom prst="roundRect">
            <a:avLst>
              <a:gd name="adj" fmla="val 22581"/>
            </a:avLst>
          </a:prstGeom>
          <a:solidFill>
            <a:srgbClr val="29C2D8"/>
          </a:solidFill>
          <a:ln/>
        </p:spPr>
      </p:sp>
      <p:sp>
        <p:nvSpPr>
          <p:cNvPr id="8" name="Text 5"/>
          <p:cNvSpPr/>
          <p:nvPr/>
        </p:nvSpPr>
        <p:spPr>
          <a:xfrm>
            <a:off x="4279392" y="2002536"/>
            <a:ext cx="566928" cy="603504"/>
          </a:xfrm>
          <a:prstGeom prst="rect">
            <a:avLst/>
          </a:prstGeom>
          <a:noFill/>
          <a:ln/>
        </p:spPr>
        <p:txBody>
          <a:bodyPr wrap="square" rtlCol="0" anchor="ctr"/>
          <a:lstStyle/>
          <a:p>
            <a:pPr algn="ctr" indent="0" marL="0">
              <a:buNone/>
            </a:pPr>
            <a:r>
              <a:rPr lang="en-US" sz="2000" b="1" dirty="0">
                <a:solidFill>
                  <a:srgbClr val="04121E"/>
                </a:solidFill>
                <a:latin typeface="Arial" pitchFamily="34" charset="0"/>
                <a:ea typeface="Arial" pitchFamily="34" charset="-122"/>
                <a:cs typeface="Arial" pitchFamily="34" charset="-120"/>
              </a:rPr>
              <a:t>◆</a:t>
            </a:r>
            <a:endParaRPr lang="en-US" sz="2000" dirty="0"/>
          </a:p>
        </p:txBody>
      </p:sp>
      <p:sp>
        <p:nvSpPr>
          <p:cNvPr id="9" name="Text 6"/>
          <p:cNvSpPr/>
          <p:nvPr/>
        </p:nvSpPr>
        <p:spPr>
          <a:xfrm>
            <a:off x="4279392" y="2743200"/>
            <a:ext cx="7123176" cy="365760"/>
          </a:xfrm>
          <a:prstGeom prst="rect">
            <a:avLst/>
          </a:prstGeom>
          <a:noFill/>
          <a:ln/>
        </p:spPr>
        <p:txBody>
          <a:bodyPr wrap="square" rtlCol="0" anchor="ctr"/>
          <a:lstStyle/>
          <a:p>
            <a:pPr algn="l" indent="0" marL="0">
              <a:buNone/>
            </a:pPr>
            <a:r>
              <a:rPr lang="en-US" sz="1500" b="1" dirty="0">
                <a:solidFill>
                  <a:srgbClr val="FFFFFF"/>
                </a:solidFill>
                <a:latin typeface="Arial" pitchFamily="34" charset="0"/>
                <a:ea typeface="Arial" pitchFamily="34" charset="-122"/>
                <a:cs typeface="Arial" pitchFamily="34" charset="-120"/>
              </a:rPr>
              <a:t>A plain-English status</a:t>
            </a:r>
            <a:endParaRPr lang="en-US" sz="1500" dirty="0"/>
          </a:p>
        </p:txBody>
      </p:sp>
      <p:sp>
        <p:nvSpPr>
          <p:cNvPr id="10" name="Text 7"/>
          <p:cNvSpPr/>
          <p:nvPr/>
        </p:nvSpPr>
        <p:spPr>
          <a:xfrm>
            <a:off x="4279392" y="3154680"/>
            <a:ext cx="7123176" cy="-182880"/>
          </a:xfrm>
          <a:prstGeom prst="rect">
            <a:avLst/>
          </a:prstGeom>
          <a:noFill/>
          <a:ln/>
        </p:spPr>
        <p:txBody>
          <a:bodyPr wrap="square" rtlCol="0" anchor="t"/>
          <a:lstStyle/>
          <a:p>
            <a:pPr algn="l" indent="0" marL="0">
              <a:lnSpc>
                <a:spcPct val="102000"/>
              </a:lnSpc>
              <a:buNone/>
            </a:pPr>
            <a:r>
              <a:rPr lang="en-US" sz="1200" dirty="0">
                <a:solidFill>
                  <a:srgbClr val="9FB2D6"/>
                </a:solidFill>
                <a:latin typeface="Arial" pitchFamily="34" charset="0"/>
                <a:ea typeface="Arial" pitchFamily="34" charset="-122"/>
                <a:cs typeface="Arial" pitchFamily="34" charset="-120"/>
              </a:rPr>
              <a:t>“Action needed”, “Needs attention” or “On track” — with a one-line summary of exactly why, so you always know where you stand.</a:t>
            </a:r>
            <a:endParaRPr lang="en-US" sz="1200" dirty="0"/>
          </a:p>
        </p:txBody>
      </p:sp>
      <p:sp>
        <p:nvSpPr>
          <p:cNvPr id="11" name="Shape 8"/>
          <p:cNvSpPr/>
          <p:nvPr/>
        </p:nvSpPr>
        <p:spPr>
          <a:xfrm>
            <a:off x="4023360" y="3291840"/>
            <a:ext cx="7635240" cy="1371600"/>
          </a:xfrm>
          <a:prstGeom prst="roundRect">
            <a:avLst>
              <a:gd name="adj" fmla="val 8000"/>
            </a:avLst>
          </a:prstGeom>
          <a:solidFill>
            <a:srgbClr val="14264C"/>
          </a:solidFill>
          <a:ln w="12700">
            <a:solidFill>
              <a:srgbClr val="27395F"/>
            </a:solidFill>
            <a:prstDash val="solid"/>
          </a:ln>
        </p:spPr>
      </p:sp>
      <p:sp>
        <p:nvSpPr>
          <p:cNvPr id="12" name="Shape 9"/>
          <p:cNvSpPr/>
          <p:nvPr/>
        </p:nvSpPr>
        <p:spPr>
          <a:xfrm>
            <a:off x="4279392" y="3547872"/>
            <a:ext cx="566928" cy="566928"/>
          </a:xfrm>
          <a:prstGeom prst="roundRect">
            <a:avLst>
              <a:gd name="adj" fmla="val 22581"/>
            </a:avLst>
          </a:prstGeom>
          <a:solidFill>
            <a:srgbClr val="D8B866"/>
          </a:solidFill>
          <a:ln/>
        </p:spPr>
      </p:sp>
      <p:sp>
        <p:nvSpPr>
          <p:cNvPr id="13" name="Text 10"/>
          <p:cNvSpPr/>
          <p:nvPr/>
        </p:nvSpPr>
        <p:spPr>
          <a:xfrm>
            <a:off x="4279392" y="3511296"/>
            <a:ext cx="566928" cy="603504"/>
          </a:xfrm>
          <a:prstGeom prst="rect">
            <a:avLst/>
          </a:prstGeom>
          <a:noFill/>
          <a:ln/>
        </p:spPr>
        <p:txBody>
          <a:bodyPr wrap="square" rtlCol="0" anchor="ctr"/>
          <a:lstStyle/>
          <a:p>
            <a:pPr algn="ctr" indent="0" marL="0">
              <a:buNone/>
            </a:pPr>
            <a:r>
              <a:rPr lang="en-US" sz="2000" b="1" dirty="0">
                <a:solidFill>
                  <a:srgbClr val="04121E"/>
                </a:solidFill>
                <a:latin typeface="Arial" pitchFamily="34" charset="0"/>
                <a:ea typeface="Arial" pitchFamily="34" charset="-122"/>
                <a:cs typeface="Arial" pitchFamily="34" charset="-120"/>
              </a:rPr>
              <a:t>£</a:t>
            </a:r>
            <a:endParaRPr lang="en-US" sz="2000" dirty="0"/>
          </a:p>
        </p:txBody>
      </p:sp>
      <p:sp>
        <p:nvSpPr>
          <p:cNvPr id="14" name="Text 11"/>
          <p:cNvSpPr/>
          <p:nvPr/>
        </p:nvSpPr>
        <p:spPr>
          <a:xfrm>
            <a:off x="4279392" y="4251960"/>
            <a:ext cx="7123176" cy="365760"/>
          </a:xfrm>
          <a:prstGeom prst="rect">
            <a:avLst/>
          </a:prstGeom>
          <a:noFill/>
          <a:ln/>
        </p:spPr>
        <p:txBody>
          <a:bodyPr wrap="square" rtlCol="0" anchor="ctr"/>
          <a:lstStyle/>
          <a:p>
            <a:pPr algn="l" indent="0" marL="0">
              <a:buNone/>
            </a:pPr>
            <a:r>
              <a:rPr lang="en-US" sz="1500" b="1" dirty="0">
                <a:solidFill>
                  <a:srgbClr val="FFFFFF"/>
                </a:solidFill>
                <a:latin typeface="Arial" pitchFamily="34" charset="0"/>
                <a:ea typeface="Arial" pitchFamily="34" charset="-122"/>
                <a:cs typeface="Arial" pitchFamily="34" charset="-120"/>
              </a:rPr>
              <a:t>The numbers that matter</a:t>
            </a:r>
            <a:endParaRPr lang="en-US" sz="1500" dirty="0"/>
          </a:p>
        </p:txBody>
      </p:sp>
      <p:sp>
        <p:nvSpPr>
          <p:cNvPr id="15" name="Text 12"/>
          <p:cNvSpPr/>
          <p:nvPr/>
        </p:nvSpPr>
        <p:spPr>
          <a:xfrm>
            <a:off x="4279392" y="4663440"/>
            <a:ext cx="7123176" cy="-182880"/>
          </a:xfrm>
          <a:prstGeom prst="rect">
            <a:avLst/>
          </a:prstGeom>
          <a:noFill/>
          <a:ln/>
        </p:spPr>
        <p:txBody>
          <a:bodyPr wrap="square" rtlCol="0" anchor="t"/>
          <a:lstStyle/>
          <a:p>
            <a:pPr algn="l" indent="0" marL="0">
              <a:lnSpc>
                <a:spcPct val="102000"/>
              </a:lnSpc>
              <a:buNone/>
            </a:pPr>
            <a:r>
              <a:rPr lang="en-US" sz="1200" dirty="0">
                <a:solidFill>
                  <a:srgbClr val="9FB2D6"/>
                </a:solidFill>
                <a:latin typeface="Arial" pitchFamily="34" charset="0"/>
                <a:ea typeface="Arial" pitchFamily="34" charset="-122"/>
                <a:cs typeface="Arial" pitchFamily="34" charset="-120"/>
              </a:rPr>
              <a:t>Total recorded, due in the next 7 days, overdue and your projected funding gap — the four questions every director asks.</a:t>
            </a:r>
            <a:endParaRPr lang="en-US" sz="1200" dirty="0"/>
          </a:p>
        </p:txBody>
      </p:sp>
      <p:sp>
        <p:nvSpPr>
          <p:cNvPr id="16" name="Shape 13"/>
          <p:cNvSpPr/>
          <p:nvPr/>
        </p:nvSpPr>
        <p:spPr>
          <a:xfrm>
            <a:off x="4023360" y="4800600"/>
            <a:ext cx="7635240" cy="1371600"/>
          </a:xfrm>
          <a:prstGeom prst="roundRect">
            <a:avLst>
              <a:gd name="adj" fmla="val 8000"/>
            </a:avLst>
          </a:prstGeom>
          <a:solidFill>
            <a:srgbClr val="14264C"/>
          </a:solidFill>
          <a:ln w="12700">
            <a:solidFill>
              <a:srgbClr val="27395F"/>
            </a:solidFill>
            <a:prstDash val="solid"/>
          </a:ln>
        </p:spPr>
      </p:sp>
      <p:sp>
        <p:nvSpPr>
          <p:cNvPr id="17" name="Shape 14"/>
          <p:cNvSpPr/>
          <p:nvPr/>
        </p:nvSpPr>
        <p:spPr>
          <a:xfrm>
            <a:off x="4279392" y="5056632"/>
            <a:ext cx="566928" cy="566928"/>
          </a:xfrm>
          <a:prstGeom prst="roundRect">
            <a:avLst>
              <a:gd name="adj" fmla="val 22581"/>
            </a:avLst>
          </a:prstGeom>
          <a:solidFill>
            <a:srgbClr val="3B82F6"/>
          </a:solidFill>
          <a:ln/>
        </p:spPr>
      </p:sp>
      <p:sp>
        <p:nvSpPr>
          <p:cNvPr id="18" name="Text 15"/>
          <p:cNvSpPr/>
          <p:nvPr/>
        </p:nvSpPr>
        <p:spPr>
          <a:xfrm>
            <a:off x="4279392" y="5020056"/>
            <a:ext cx="566928" cy="603504"/>
          </a:xfrm>
          <a:prstGeom prst="rect">
            <a:avLst/>
          </a:prstGeom>
          <a:noFill/>
          <a:ln/>
        </p:spPr>
        <p:txBody>
          <a:bodyPr wrap="square" rtlCol="0" anchor="ctr"/>
          <a:lstStyle/>
          <a:p>
            <a:pPr algn="ctr" indent="0" marL="0">
              <a:buNone/>
            </a:pPr>
            <a:r>
              <a:rPr lang="en-US" sz="2000" b="1" dirty="0">
                <a:solidFill>
                  <a:srgbClr val="04121E"/>
                </a:solidFill>
                <a:latin typeface="Arial" pitchFamily="34" charset="0"/>
                <a:ea typeface="Arial" pitchFamily="34" charset="-122"/>
                <a:cs typeface="Arial" pitchFamily="34" charset="-120"/>
              </a:rPr>
              <a:t>●</a:t>
            </a:r>
            <a:endParaRPr lang="en-US" sz="2000" dirty="0"/>
          </a:p>
        </p:txBody>
      </p:sp>
      <p:sp>
        <p:nvSpPr>
          <p:cNvPr id="19" name="Text 16"/>
          <p:cNvSpPr/>
          <p:nvPr/>
        </p:nvSpPr>
        <p:spPr>
          <a:xfrm>
            <a:off x="4279392" y="5760720"/>
            <a:ext cx="7123176" cy="365760"/>
          </a:xfrm>
          <a:prstGeom prst="rect">
            <a:avLst/>
          </a:prstGeom>
          <a:noFill/>
          <a:ln/>
        </p:spPr>
        <p:txBody>
          <a:bodyPr wrap="square" rtlCol="0" anchor="ctr"/>
          <a:lstStyle/>
          <a:p>
            <a:pPr algn="l" indent="0" marL="0">
              <a:buNone/>
            </a:pPr>
            <a:r>
              <a:rPr lang="en-US" sz="1500" b="1" dirty="0">
                <a:solidFill>
                  <a:srgbClr val="FFFFFF"/>
                </a:solidFill>
                <a:latin typeface="Arial" pitchFamily="34" charset="0"/>
                <a:ea typeface="Arial" pitchFamily="34" charset="-122"/>
                <a:cs typeface="Arial" pitchFamily="34" charset="-120"/>
              </a:rPr>
              <a:t>Funding at a glance</a:t>
            </a:r>
            <a:endParaRPr lang="en-US" sz="1500" dirty="0"/>
          </a:p>
        </p:txBody>
      </p:sp>
      <p:sp>
        <p:nvSpPr>
          <p:cNvPr id="20" name="Text 17"/>
          <p:cNvSpPr/>
          <p:nvPr/>
        </p:nvSpPr>
        <p:spPr>
          <a:xfrm>
            <a:off x="4279392" y="6172200"/>
            <a:ext cx="7123176" cy="-182880"/>
          </a:xfrm>
          <a:prstGeom prst="rect">
            <a:avLst/>
          </a:prstGeom>
          <a:noFill/>
          <a:ln/>
        </p:spPr>
        <p:txBody>
          <a:bodyPr wrap="square" rtlCol="0" anchor="t"/>
          <a:lstStyle/>
          <a:p>
            <a:pPr algn="l" indent="0" marL="0">
              <a:lnSpc>
                <a:spcPct val="102000"/>
              </a:lnSpc>
              <a:buNone/>
            </a:pPr>
            <a:r>
              <a:rPr lang="en-US" sz="1200" dirty="0">
                <a:solidFill>
                  <a:srgbClr val="9FB2D6"/>
                </a:solidFill>
                <a:latin typeface="Arial" pitchFamily="34" charset="0"/>
                <a:ea typeface="Arial" pitchFamily="34" charset="-122"/>
                <a:cs typeface="Arial" pitchFamily="34" charset="-120"/>
              </a:rPr>
              <a:t>See how much of your liabilities is funded, reserved or still to cover — before a due date arrives.</a:t>
            </a:r>
            <a:endParaRPr lang="en-US" sz="1200" dirty="0"/>
          </a:p>
        </p:txBody>
      </p:sp>
      <p:sp>
        <p:nvSpPr>
          <p:cNvPr id="21" name="Text 18"/>
          <p:cNvSpPr/>
          <p:nvPr/>
        </p:nvSpPr>
        <p:spPr>
          <a:xfrm>
            <a:off x="8897112" y="6473952"/>
            <a:ext cx="2926080" cy="274320"/>
          </a:xfrm>
          <a:prstGeom prst="rect">
            <a:avLst/>
          </a:prstGeom>
          <a:noFill/>
          <a:ln/>
        </p:spPr>
        <p:txBody>
          <a:bodyPr wrap="square" rtlCol="0" anchor="ctr"/>
          <a:lstStyle/>
          <a:p>
            <a:pPr algn="r" indent="0" marL="0">
              <a:buNone/>
            </a:pPr>
            <a:r>
              <a:rPr lang="en-US" sz="900" dirty="0">
                <a:solidFill>
                  <a:srgbClr val="7183A8"/>
                </a:solidFill>
                <a:latin typeface="Arial" pitchFamily="34" charset="0"/>
                <a:ea typeface="Arial" pitchFamily="34" charset="-122"/>
                <a:cs typeface="Arial" pitchFamily="34" charset="-120"/>
              </a:rPr>
              <a:t>04  ·  tradeshielduk.org</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81228"/>
        </a:solidFill>
      </p:bgPr>
    </p:bg>
    <p:spTree>
      <p:nvGrpSpPr>
        <p:cNvPr id="1" name=""/>
        <p:cNvGrpSpPr/>
        <p:nvPr/>
      </p:nvGrpSpPr>
      <p:grpSpPr>
        <a:xfrm>
          <a:off x="0" y="0"/>
          <a:ext cx="0" cy="0"/>
          <a:chOff x="0" y="0"/>
          <a:chExt cx="0" cy="0"/>
        </a:xfrm>
      </p:grpSpPr>
      <p:sp>
        <p:nvSpPr>
          <p:cNvPr id="2" name="Text 0"/>
          <p:cNvSpPr/>
          <p:nvPr/>
        </p:nvSpPr>
        <p:spPr>
          <a:xfrm>
            <a:off x="548640" y="502920"/>
            <a:ext cx="7315200" cy="274320"/>
          </a:xfrm>
          <a:prstGeom prst="rect">
            <a:avLst/>
          </a:prstGeom>
          <a:noFill/>
          <a:ln/>
        </p:spPr>
        <p:txBody>
          <a:bodyPr wrap="square" rtlCol="0" anchor="ctr"/>
          <a:lstStyle/>
          <a:p>
            <a:pPr algn="l" indent="0" marL="0">
              <a:buNone/>
            </a:pPr>
            <a:r>
              <a:rPr lang="en-US" sz="1200" b="1" spc="300" kern="0" dirty="0">
                <a:solidFill>
                  <a:srgbClr val="29C2D8"/>
                </a:solidFill>
                <a:latin typeface="Arial" pitchFamily="34" charset="0"/>
                <a:ea typeface="Arial" pitchFamily="34" charset="-122"/>
                <a:cs typeface="Arial" pitchFamily="34" charset="-120"/>
              </a:rPr>
              <a:t>THE CORE RECORD</a:t>
            </a:r>
            <a:endParaRPr lang="en-US" sz="1200" dirty="0"/>
          </a:p>
        </p:txBody>
      </p:sp>
      <p:sp>
        <p:nvSpPr>
          <p:cNvPr id="3" name="Text 1"/>
          <p:cNvSpPr/>
          <p:nvPr/>
        </p:nvSpPr>
        <p:spPr>
          <a:xfrm>
            <a:off x="548640" y="868680"/>
            <a:ext cx="10058400" cy="1005840"/>
          </a:xfrm>
          <a:prstGeom prst="rect">
            <a:avLst/>
          </a:prstGeom>
          <a:noFill/>
          <a:ln/>
        </p:spPr>
        <p:txBody>
          <a:bodyPr wrap="square" rtlCol="0" anchor="ctr"/>
          <a:lstStyle/>
          <a:p>
            <a:pPr algn="l" indent="0" marL="0">
              <a:lnSpc>
                <a:spcPct val="98000"/>
              </a:lnSpc>
              <a:buNone/>
            </a:pPr>
            <a:r>
              <a:rPr lang="en-US" sz="3000" b="1" dirty="0">
                <a:solidFill>
                  <a:srgbClr val="FFFFFF"/>
                </a:solidFill>
                <a:latin typeface="Arial" pitchFamily="34" charset="0"/>
                <a:ea typeface="Arial" pitchFamily="34" charset="-122"/>
                <a:cs typeface="Arial" pitchFamily="34" charset="-120"/>
              </a:rPr>
              <a:t>Every liability, controlled end to end</a:t>
            </a:r>
            <a:endParaRPr lang="en-US" sz="3000" dirty="0"/>
          </a:p>
        </p:txBody>
      </p:sp>
      <p:sp>
        <p:nvSpPr>
          <p:cNvPr id="4" name="Shape 2"/>
          <p:cNvSpPr/>
          <p:nvPr/>
        </p:nvSpPr>
        <p:spPr>
          <a:xfrm>
            <a:off x="804672" y="1673352"/>
            <a:ext cx="2400849" cy="4882896"/>
          </a:xfrm>
          <a:prstGeom prst="roundRect">
            <a:avLst>
              <a:gd name="adj" fmla="val 5332"/>
            </a:avLst>
          </a:prstGeom>
          <a:solidFill>
            <a:srgbClr val="0A1330"/>
          </a:solidFill>
          <a:ln w="15875">
            <a:solidFill>
              <a:srgbClr val="2A3E66"/>
            </a:solidFill>
            <a:prstDash val="solid"/>
          </a:ln>
          <a:effectLst>
            <a:outerShdw sx="100000" sy="100000" kx="0" ky="0" algn="bl" rotWithShape="0" blurRad="177800" dist="63500" dir="5400000">
              <a:srgbClr val="000000">
                <a:alpha val="45000"/>
              </a:srgbClr>
            </a:outerShdw>
          </a:effectLst>
        </p:spPr>
      </p:sp>
      <p:pic>
        <p:nvPicPr>
          <p:cNvPr id="5" name="Image 0" descr="/tmp/claude-0/-home-user-AI-Agent/58945abb-1ebe-5660-8725-4e1dccac2381/scratchpad/deck-liability.png">    </p:cNvPr>
          <p:cNvPicPr>
            <a:picLocks noChangeAspect="1"/>
          </p:cNvPicPr>
          <p:nvPr/>
        </p:nvPicPr>
        <p:blipFill>
          <a:blip r:embed="rId1"/>
          <a:stretch>
            <a:fillRect/>
          </a:stretch>
        </p:blipFill>
        <p:spPr>
          <a:xfrm>
            <a:off x="868680" y="1737360"/>
            <a:ext cx="2272833" cy="4754880"/>
          </a:xfrm>
          <a:prstGeom prst="rect">
            <a:avLst/>
          </a:prstGeom>
        </p:spPr>
      </p:pic>
      <p:sp>
        <p:nvSpPr>
          <p:cNvPr id="6" name="Text 3"/>
          <p:cNvSpPr/>
          <p:nvPr/>
        </p:nvSpPr>
        <p:spPr>
          <a:xfrm>
            <a:off x="4023360" y="1783080"/>
            <a:ext cx="7635240" cy="822960"/>
          </a:xfrm>
          <a:prstGeom prst="rect">
            <a:avLst/>
          </a:prstGeom>
          <a:noFill/>
          <a:ln/>
        </p:spPr>
        <p:txBody>
          <a:bodyPr wrap="square" rtlCol="0" anchor="ctr"/>
          <a:lstStyle/>
          <a:p>
            <a:pPr algn="l" indent="0" marL="0">
              <a:lnSpc>
                <a:spcPct val="105000"/>
              </a:lnSpc>
              <a:buNone/>
            </a:pPr>
            <a:r>
              <a:rPr lang="en-US" sz="1450" dirty="0">
                <a:solidFill>
                  <a:srgbClr val="9FB2D6"/>
                </a:solidFill>
                <a:latin typeface="Arial" pitchFamily="34" charset="0"/>
                <a:ea typeface="Arial" pitchFamily="34" charset="-122"/>
                <a:cs typeface="Arial" pitchFamily="34" charset="-120"/>
              </a:rPr>
              <a:t>Each record carries its legal obligor, due date, amount, funding, evidence and a full audit history — every figure links back to the detail behind it.</a:t>
            </a:r>
            <a:endParaRPr lang="en-US" sz="1450" dirty="0"/>
          </a:p>
        </p:txBody>
      </p:sp>
      <p:sp>
        <p:nvSpPr>
          <p:cNvPr id="7" name="Text 4"/>
          <p:cNvSpPr/>
          <p:nvPr/>
        </p:nvSpPr>
        <p:spPr>
          <a:xfrm>
            <a:off x="4023360" y="2788920"/>
            <a:ext cx="5486400" cy="274320"/>
          </a:xfrm>
          <a:prstGeom prst="rect">
            <a:avLst/>
          </a:prstGeom>
          <a:noFill/>
          <a:ln/>
        </p:spPr>
        <p:txBody>
          <a:bodyPr wrap="square" rtlCol="0" anchor="ctr"/>
          <a:lstStyle/>
          <a:p>
            <a:pPr indent="0" marL="0">
              <a:buNone/>
            </a:pPr>
            <a:r>
              <a:rPr lang="en-US" sz="1200" b="1" spc="200" kern="0" dirty="0">
                <a:solidFill>
                  <a:srgbClr val="29C2D8"/>
                </a:solidFill>
                <a:latin typeface="Arial" pitchFamily="34" charset="0"/>
                <a:ea typeface="Arial" pitchFamily="34" charset="-122"/>
                <a:cs typeface="Arial" pitchFamily="34" charset="-120"/>
              </a:rPr>
              <a:t>THE LIABILITY LIFECYCLE</a:t>
            </a:r>
            <a:endParaRPr lang="en-US" sz="1200" dirty="0"/>
          </a:p>
        </p:txBody>
      </p:sp>
      <p:sp>
        <p:nvSpPr>
          <p:cNvPr id="8" name="Shape 5"/>
          <p:cNvSpPr/>
          <p:nvPr/>
        </p:nvSpPr>
        <p:spPr>
          <a:xfrm>
            <a:off x="4251960" y="3520440"/>
            <a:ext cx="7178040" cy="0"/>
          </a:xfrm>
          <a:prstGeom prst="line">
            <a:avLst/>
          </a:prstGeom>
          <a:noFill/>
          <a:ln w="25400">
            <a:solidFill>
              <a:srgbClr val="27395F"/>
            </a:solidFill>
            <a:prstDash val="solid"/>
          </a:ln>
        </p:spPr>
      </p:sp>
      <p:sp>
        <p:nvSpPr>
          <p:cNvPr id="9" name="Shape 6"/>
          <p:cNvSpPr/>
          <p:nvPr/>
        </p:nvSpPr>
        <p:spPr>
          <a:xfrm>
            <a:off x="4023360" y="3291840"/>
            <a:ext cx="457200" cy="457200"/>
          </a:xfrm>
          <a:prstGeom prst="oval">
            <a:avLst/>
          </a:prstGeom>
          <a:solidFill>
            <a:srgbClr val="3B82F6"/>
          </a:solidFill>
          <a:ln/>
        </p:spPr>
      </p:sp>
      <p:sp>
        <p:nvSpPr>
          <p:cNvPr id="10" name="Text 7"/>
          <p:cNvSpPr/>
          <p:nvPr/>
        </p:nvSpPr>
        <p:spPr>
          <a:xfrm>
            <a:off x="4023360" y="3273552"/>
            <a:ext cx="457200" cy="475488"/>
          </a:xfrm>
          <a:prstGeom prst="rect">
            <a:avLst/>
          </a:prstGeom>
          <a:noFill/>
          <a:ln/>
        </p:spPr>
        <p:txBody>
          <a:bodyPr wrap="square" rtlCol="0" anchor="ctr"/>
          <a:lstStyle/>
          <a:p>
            <a:pPr algn="ctr" indent="0" marL="0">
              <a:buNone/>
            </a:pPr>
            <a:r>
              <a:rPr lang="en-US" sz="1700" b="1" dirty="0">
                <a:solidFill>
                  <a:srgbClr val="04121E"/>
                </a:solidFill>
                <a:latin typeface="Arial" pitchFamily="34" charset="0"/>
                <a:ea typeface="Arial" pitchFamily="34" charset="-122"/>
                <a:cs typeface="Arial" pitchFamily="34" charset="-120"/>
              </a:rPr>
              <a:t>1</a:t>
            </a:r>
            <a:endParaRPr lang="en-US" sz="1700" dirty="0"/>
          </a:p>
        </p:txBody>
      </p:sp>
      <p:sp>
        <p:nvSpPr>
          <p:cNvPr id="11" name="Text 8"/>
          <p:cNvSpPr/>
          <p:nvPr/>
        </p:nvSpPr>
        <p:spPr>
          <a:xfrm>
            <a:off x="3703320" y="3840480"/>
            <a:ext cx="1097280" cy="274320"/>
          </a:xfrm>
          <a:prstGeom prst="rect">
            <a:avLst/>
          </a:prstGeom>
          <a:noFill/>
          <a:ln/>
        </p:spPr>
        <p:txBody>
          <a:bodyPr wrap="square" rtlCol="0" anchor="ctr"/>
          <a:lstStyle/>
          <a:p>
            <a:pPr algn="ctr" indent="0" marL="0">
              <a:buNone/>
            </a:pPr>
            <a:r>
              <a:rPr lang="en-US" sz="1250" b="1" dirty="0">
                <a:solidFill>
                  <a:srgbClr val="FFFFFF"/>
                </a:solidFill>
                <a:latin typeface="Arial" pitchFamily="34" charset="0"/>
                <a:ea typeface="Arial" pitchFamily="34" charset="-122"/>
                <a:cs typeface="Arial" pitchFamily="34" charset="-120"/>
              </a:rPr>
              <a:t>Recorded</a:t>
            </a:r>
            <a:endParaRPr lang="en-US" sz="1250" dirty="0"/>
          </a:p>
        </p:txBody>
      </p:sp>
      <p:sp>
        <p:nvSpPr>
          <p:cNvPr id="12" name="Text 9"/>
          <p:cNvSpPr/>
          <p:nvPr/>
        </p:nvSpPr>
        <p:spPr>
          <a:xfrm>
            <a:off x="3566160" y="4114800"/>
            <a:ext cx="1371600" cy="640080"/>
          </a:xfrm>
          <a:prstGeom prst="rect">
            <a:avLst/>
          </a:prstGeom>
          <a:noFill/>
          <a:ln/>
        </p:spPr>
        <p:txBody>
          <a:bodyPr wrap="square" rtlCol="0" anchor="ctr"/>
          <a:lstStyle/>
          <a:p>
            <a:pPr algn="ctr" indent="0" marL="0">
              <a:lnSpc>
                <a:spcPct val="95000"/>
              </a:lnSpc>
              <a:buNone/>
            </a:pPr>
            <a:r>
              <a:rPr lang="en-US" sz="950" dirty="0">
                <a:solidFill>
                  <a:srgbClr val="7183A8"/>
                </a:solidFill>
                <a:latin typeface="Arial" pitchFamily="34" charset="0"/>
                <a:ea typeface="Arial" pitchFamily="34" charset="-122"/>
                <a:cs typeface="Arial" pitchFamily="34" charset="-120"/>
              </a:rPr>
              <a:t>Liability &amp; evidence entered</a:t>
            </a:r>
            <a:endParaRPr lang="en-US" sz="950" dirty="0"/>
          </a:p>
        </p:txBody>
      </p:sp>
      <p:sp>
        <p:nvSpPr>
          <p:cNvPr id="13" name="Shape 10"/>
          <p:cNvSpPr/>
          <p:nvPr/>
        </p:nvSpPr>
        <p:spPr>
          <a:xfrm>
            <a:off x="5817870" y="3291840"/>
            <a:ext cx="457200" cy="457200"/>
          </a:xfrm>
          <a:prstGeom prst="oval">
            <a:avLst/>
          </a:prstGeom>
          <a:solidFill>
            <a:srgbClr val="8A7BFF"/>
          </a:solidFill>
          <a:ln/>
        </p:spPr>
      </p:sp>
      <p:sp>
        <p:nvSpPr>
          <p:cNvPr id="14" name="Text 11"/>
          <p:cNvSpPr/>
          <p:nvPr/>
        </p:nvSpPr>
        <p:spPr>
          <a:xfrm>
            <a:off x="5817870" y="3273552"/>
            <a:ext cx="457200" cy="475488"/>
          </a:xfrm>
          <a:prstGeom prst="rect">
            <a:avLst/>
          </a:prstGeom>
          <a:noFill/>
          <a:ln/>
        </p:spPr>
        <p:txBody>
          <a:bodyPr wrap="square" rtlCol="0" anchor="ctr"/>
          <a:lstStyle/>
          <a:p>
            <a:pPr algn="ctr" indent="0" marL="0">
              <a:buNone/>
            </a:pPr>
            <a:r>
              <a:rPr lang="en-US" sz="1700" b="1" dirty="0">
                <a:solidFill>
                  <a:srgbClr val="04121E"/>
                </a:solidFill>
                <a:latin typeface="Arial" pitchFamily="34" charset="0"/>
                <a:ea typeface="Arial" pitchFamily="34" charset="-122"/>
                <a:cs typeface="Arial" pitchFamily="34" charset="-120"/>
              </a:rPr>
              <a:t>2</a:t>
            </a:r>
            <a:endParaRPr lang="en-US" sz="1700" dirty="0"/>
          </a:p>
        </p:txBody>
      </p:sp>
      <p:sp>
        <p:nvSpPr>
          <p:cNvPr id="15" name="Text 12"/>
          <p:cNvSpPr/>
          <p:nvPr/>
        </p:nvSpPr>
        <p:spPr>
          <a:xfrm>
            <a:off x="5497830" y="3840480"/>
            <a:ext cx="1097280" cy="274320"/>
          </a:xfrm>
          <a:prstGeom prst="rect">
            <a:avLst/>
          </a:prstGeom>
          <a:noFill/>
          <a:ln/>
        </p:spPr>
        <p:txBody>
          <a:bodyPr wrap="square" rtlCol="0" anchor="ctr"/>
          <a:lstStyle/>
          <a:p>
            <a:pPr algn="ctr" indent="0" marL="0">
              <a:buNone/>
            </a:pPr>
            <a:r>
              <a:rPr lang="en-US" sz="1250" b="1" dirty="0">
                <a:solidFill>
                  <a:srgbClr val="FFFFFF"/>
                </a:solidFill>
                <a:latin typeface="Arial" pitchFamily="34" charset="0"/>
                <a:ea typeface="Arial" pitchFamily="34" charset="-122"/>
                <a:cs typeface="Arial" pitchFamily="34" charset="-120"/>
              </a:rPr>
              <a:t>Approved</a:t>
            </a:r>
            <a:endParaRPr lang="en-US" sz="1250" dirty="0"/>
          </a:p>
        </p:txBody>
      </p:sp>
      <p:sp>
        <p:nvSpPr>
          <p:cNvPr id="16" name="Text 13"/>
          <p:cNvSpPr/>
          <p:nvPr/>
        </p:nvSpPr>
        <p:spPr>
          <a:xfrm>
            <a:off x="5360670" y="4114800"/>
            <a:ext cx="1371600" cy="640080"/>
          </a:xfrm>
          <a:prstGeom prst="rect">
            <a:avLst/>
          </a:prstGeom>
          <a:noFill/>
          <a:ln/>
        </p:spPr>
        <p:txBody>
          <a:bodyPr wrap="square" rtlCol="0" anchor="ctr"/>
          <a:lstStyle/>
          <a:p>
            <a:pPr algn="ctr" indent="0" marL="0">
              <a:lnSpc>
                <a:spcPct val="95000"/>
              </a:lnSpc>
              <a:buNone/>
            </a:pPr>
            <a:r>
              <a:rPr lang="en-US" sz="950" dirty="0">
                <a:solidFill>
                  <a:srgbClr val="7183A8"/>
                </a:solidFill>
                <a:latin typeface="Arial" pitchFamily="34" charset="0"/>
                <a:ea typeface="Arial" pitchFamily="34" charset="-122"/>
                <a:cs typeface="Arial" pitchFamily="34" charset="-120"/>
              </a:rPr>
              <a:t>Amount &amp; due date confirmed</a:t>
            </a:r>
            <a:endParaRPr lang="en-US" sz="950" dirty="0"/>
          </a:p>
        </p:txBody>
      </p:sp>
      <p:sp>
        <p:nvSpPr>
          <p:cNvPr id="17" name="Shape 14"/>
          <p:cNvSpPr/>
          <p:nvPr/>
        </p:nvSpPr>
        <p:spPr>
          <a:xfrm>
            <a:off x="7612380" y="3291840"/>
            <a:ext cx="457200" cy="457200"/>
          </a:xfrm>
          <a:prstGeom prst="oval">
            <a:avLst/>
          </a:prstGeom>
          <a:solidFill>
            <a:srgbClr val="29C2D8"/>
          </a:solidFill>
          <a:ln/>
        </p:spPr>
      </p:sp>
      <p:sp>
        <p:nvSpPr>
          <p:cNvPr id="18" name="Text 15"/>
          <p:cNvSpPr/>
          <p:nvPr/>
        </p:nvSpPr>
        <p:spPr>
          <a:xfrm>
            <a:off x="7612380" y="3273552"/>
            <a:ext cx="457200" cy="475488"/>
          </a:xfrm>
          <a:prstGeom prst="rect">
            <a:avLst/>
          </a:prstGeom>
          <a:noFill/>
          <a:ln/>
        </p:spPr>
        <p:txBody>
          <a:bodyPr wrap="square" rtlCol="0" anchor="ctr"/>
          <a:lstStyle/>
          <a:p>
            <a:pPr algn="ctr" indent="0" marL="0">
              <a:buNone/>
            </a:pPr>
            <a:r>
              <a:rPr lang="en-US" sz="1700" b="1" dirty="0">
                <a:solidFill>
                  <a:srgbClr val="04121E"/>
                </a:solidFill>
                <a:latin typeface="Arial" pitchFamily="34" charset="0"/>
                <a:ea typeface="Arial" pitchFamily="34" charset="-122"/>
                <a:cs typeface="Arial" pitchFamily="34" charset="-120"/>
              </a:rPr>
              <a:t>3</a:t>
            </a:r>
            <a:endParaRPr lang="en-US" sz="1700" dirty="0"/>
          </a:p>
        </p:txBody>
      </p:sp>
      <p:sp>
        <p:nvSpPr>
          <p:cNvPr id="19" name="Text 16"/>
          <p:cNvSpPr/>
          <p:nvPr/>
        </p:nvSpPr>
        <p:spPr>
          <a:xfrm>
            <a:off x="7292340" y="3840480"/>
            <a:ext cx="1097280" cy="274320"/>
          </a:xfrm>
          <a:prstGeom prst="rect">
            <a:avLst/>
          </a:prstGeom>
          <a:noFill/>
          <a:ln/>
        </p:spPr>
        <p:txBody>
          <a:bodyPr wrap="square" rtlCol="0" anchor="ctr"/>
          <a:lstStyle/>
          <a:p>
            <a:pPr algn="ctr" indent="0" marL="0">
              <a:buNone/>
            </a:pPr>
            <a:r>
              <a:rPr lang="en-US" sz="1250" b="1" dirty="0">
                <a:solidFill>
                  <a:srgbClr val="FFFFFF"/>
                </a:solidFill>
                <a:latin typeface="Arial" pitchFamily="34" charset="0"/>
                <a:ea typeface="Arial" pitchFamily="34" charset="-122"/>
                <a:cs typeface="Arial" pitchFamily="34" charset="-120"/>
              </a:rPr>
              <a:t>Funded</a:t>
            </a:r>
            <a:endParaRPr lang="en-US" sz="1250" dirty="0"/>
          </a:p>
        </p:txBody>
      </p:sp>
      <p:sp>
        <p:nvSpPr>
          <p:cNvPr id="20" name="Text 17"/>
          <p:cNvSpPr/>
          <p:nvPr/>
        </p:nvSpPr>
        <p:spPr>
          <a:xfrm>
            <a:off x="7155180" y="4114800"/>
            <a:ext cx="1371600" cy="640080"/>
          </a:xfrm>
          <a:prstGeom prst="rect">
            <a:avLst/>
          </a:prstGeom>
          <a:noFill/>
          <a:ln/>
        </p:spPr>
        <p:txBody>
          <a:bodyPr wrap="square" rtlCol="0" anchor="ctr"/>
          <a:lstStyle/>
          <a:p>
            <a:pPr algn="ctr" indent="0" marL="0">
              <a:lnSpc>
                <a:spcPct val="95000"/>
              </a:lnSpc>
              <a:buNone/>
            </a:pPr>
            <a:r>
              <a:rPr lang="en-US" sz="950" dirty="0">
                <a:solidFill>
                  <a:srgbClr val="7183A8"/>
                </a:solidFill>
                <a:latin typeface="Arial" pitchFamily="34" charset="0"/>
                <a:ea typeface="Arial" pitchFamily="34" charset="-122"/>
                <a:cs typeface="Arial" pitchFamily="34" charset="-120"/>
              </a:rPr>
              <a:t>Client allocation received</a:t>
            </a:r>
            <a:endParaRPr lang="en-US" sz="950" dirty="0"/>
          </a:p>
        </p:txBody>
      </p:sp>
      <p:sp>
        <p:nvSpPr>
          <p:cNvPr id="21" name="Shape 18"/>
          <p:cNvSpPr/>
          <p:nvPr/>
        </p:nvSpPr>
        <p:spPr>
          <a:xfrm>
            <a:off x="9406890" y="3291840"/>
            <a:ext cx="457200" cy="457200"/>
          </a:xfrm>
          <a:prstGeom prst="oval">
            <a:avLst/>
          </a:prstGeom>
          <a:solidFill>
            <a:srgbClr val="3B82F6"/>
          </a:solidFill>
          <a:ln/>
        </p:spPr>
      </p:sp>
      <p:sp>
        <p:nvSpPr>
          <p:cNvPr id="22" name="Text 19"/>
          <p:cNvSpPr/>
          <p:nvPr/>
        </p:nvSpPr>
        <p:spPr>
          <a:xfrm>
            <a:off x="9406890" y="3273552"/>
            <a:ext cx="457200" cy="475488"/>
          </a:xfrm>
          <a:prstGeom prst="rect">
            <a:avLst/>
          </a:prstGeom>
          <a:noFill/>
          <a:ln/>
        </p:spPr>
        <p:txBody>
          <a:bodyPr wrap="square" rtlCol="0" anchor="ctr"/>
          <a:lstStyle/>
          <a:p>
            <a:pPr algn="ctr" indent="0" marL="0">
              <a:buNone/>
            </a:pPr>
            <a:r>
              <a:rPr lang="en-US" sz="1700" b="1" dirty="0">
                <a:solidFill>
                  <a:srgbClr val="04121E"/>
                </a:solidFill>
                <a:latin typeface="Arial" pitchFamily="34" charset="0"/>
                <a:ea typeface="Arial" pitchFamily="34" charset="-122"/>
                <a:cs typeface="Arial" pitchFamily="34" charset="-120"/>
              </a:rPr>
              <a:t>4</a:t>
            </a:r>
            <a:endParaRPr lang="en-US" sz="1700" dirty="0"/>
          </a:p>
        </p:txBody>
      </p:sp>
      <p:sp>
        <p:nvSpPr>
          <p:cNvPr id="23" name="Text 20"/>
          <p:cNvSpPr/>
          <p:nvPr/>
        </p:nvSpPr>
        <p:spPr>
          <a:xfrm>
            <a:off x="9086850" y="3840480"/>
            <a:ext cx="1097280" cy="274320"/>
          </a:xfrm>
          <a:prstGeom prst="rect">
            <a:avLst/>
          </a:prstGeom>
          <a:noFill/>
          <a:ln/>
        </p:spPr>
        <p:txBody>
          <a:bodyPr wrap="square" rtlCol="0" anchor="ctr"/>
          <a:lstStyle/>
          <a:p>
            <a:pPr algn="ctr" indent="0" marL="0">
              <a:buNone/>
            </a:pPr>
            <a:r>
              <a:rPr lang="en-US" sz="1250" b="1" dirty="0">
                <a:solidFill>
                  <a:srgbClr val="FFFFFF"/>
                </a:solidFill>
                <a:latin typeface="Arial" pitchFamily="34" charset="0"/>
                <a:ea typeface="Arial" pitchFamily="34" charset="-122"/>
                <a:cs typeface="Arial" pitchFamily="34" charset="-120"/>
              </a:rPr>
              <a:t>Paid</a:t>
            </a:r>
            <a:endParaRPr lang="en-US" sz="1250" dirty="0"/>
          </a:p>
        </p:txBody>
      </p:sp>
      <p:sp>
        <p:nvSpPr>
          <p:cNvPr id="24" name="Text 21"/>
          <p:cNvSpPr/>
          <p:nvPr/>
        </p:nvSpPr>
        <p:spPr>
          <a:xfrm>
            <a:off x="8949690" y="4114800"/>
            <a:ext cx="1371600" cy="640080"/>
          </a:xfrm>
          <a:prstGeom prst="rect">
            <a:avLst/>
          </a:prstGeom>
          <a:noFill/>
          <a:ln/>
        </p:spPr>
        <p:txBody>
          <a:bodyPr wrap="square" rtlCol="0" anchor="ctr"/>
          <a:lstStyle/>
          <a:p>
            <a:pPr algn="ctr" indent="0" marL="0">
              <a:lnSpc>
                <a:spcPct val="95000"/>
              </a:lnSpc>
              <a:buNone/>
            </a:pPr>
            <a:r>
              <a:rPr lang="en-US" sz="950" dirty="0">
                <a:solidFill>
                  <a:srgbClr val="7183A8"/>
                </a:solidFill>
                <a:latin typeface="Arial" pitchFamily="34" charset="0"/>
                <a:ea typeface="Arial" pitchFamily="34" charset="-122"/>
                <a:cs typeface="Arial" pitchFamily="34" charset="-120"/>
              </a:rPr>
              <a:t>Payment reference attached</a:t>
            </a:r>
            <a:endParaRPr lang="en-US" sz="950" dirty="0"/>
          </a:p>
        </p:txBody>
      </p:sp>
      <p:sp>
        <p:nvSpPr>
          <p:cNvPr id="25" name="Shape 22"/>
          <p:cNvSpPr/>
          <p:nvPr/>
        </p:nvSpPr>
        <p:spPr>
          <a:xfrm>
            <a:off x="11201400" y="3291840"/>
            <a:ext cx="457200" cy="457200"/>
          </a:xfrm>
          <a:prstGeom prst="oval">
            <a:avLst/>
          </a:prstGeom>
          <a:solidFill>
            <a:srgbClr val="35D29A"/>
          </a:solidFill>
          <a:ln/>
        </p:spPr>
      </p:sp>
      <p:sp>
        <p:nvSpPr>
          <p:cNvPr id="26" name="Text 23"/>
          <p:cNvSpPr/>
          <p:nvPr/>
        </p:nvSpPr>
        <p:spPr>
          <a:xfrm>
            <a:off x="11201400" y="3273552"/>
            <a:ext cx="457200" cy="475488"/>
          </a:xfrm>
          <a:prstGeom prst="rect">
            <a:avLst/>
          </a:prstGeom>
          <a:noFill/>
          <a:ln/>
        </p:spPr>
        <p:txBody>
          <a:bodyPr wrap="square" rtlCol="0" anchor="ctr"/>
          <a:lstStyle/>
          <a:p>
            <a:pPr algn="ctr" indent="0" marL="0">
              <a:buNone/>
            </a:pPr>
            <a:r>
              <a:rPr lang="en-US" sz="1700" b="1" dirty="0">
                <a:solidFill>
                  <a:srgbClr val="04121E"/>
                </a:solidFill>
                <a:latin typeface="Arial" pitchFamily="34" charset="0"/>
                <a:ea typeface="Arial" pitchFamily="34" charset="-122"/>
                <a:cs typeface="Arial" pitchFamily="34" charset="-120"/>
              </a:rPr>
              <a:t>5</a:t>
            </a:r>
            <a:endParaRPr lang="en-US" sz="1700" dirty="0"/>
          </a:p>
        </p:txBody>
      </p:sp>
      <p:sp>
        <p:nvSpPr>
          <p:cNvPr id="27" name="Text 24"/>
          <p:cNvSpPr/>
          <p:nvPr/>
        </p:nvSpPr>
        <p:spPr>
          <a:xfrm>
            <a:off x="10881360" y="3840480"/>
            <a:ext cx="1097280" cy="274320"/>
          </a:xfrm>
          <a:prstGeom prst="rect">
            <a:avLst/>
          </a:prstGeom>
          <a:noFill/>
          <a:ln/>
        </p:spPr>
        <p:txBody>
          <a:bodyPr wrap="square" rtlCol="0" anchor="ctr"/>
          <a:lstStyle/>
          <a:p>
            <a:pPr algn="ctr" indent="0" marL="0">
              <a:buNone/>
            </a:pPr>
            <a:r>
              <a:rPr lang="en-US" sz="1250" b="1" dirty="0">
                <a:solidFill>
                  <a:srgbClr val="FFFFFF"/>
                </a:solidFill>
                <a:latin typeface="Arial" pitchFamily="34" charset="0"/>
                <a:ea typeface="Arial" pitchFamily="34" charset="-122"/>
                <a:cs typeface="Arial" pitchFamily="34" charset="-120"/>
              </a:rPr>
              <a:t>Reconciled</a:t>
            </a:r>
            <a:endParaRPr lang="en-US" sz="1250" dirty="0"/>
          </a:p>
        </p:txBody>
      </p:sp>
      <p:sp>
        <p:nvSpPr>
          <p:cNvPr id="28" name="Text 25"/>
          <p:cNvSpPr/>
          <p:nvPr/>
        </p:nvSpPr>
        <p:spPr>
          <a:xfrm>
            <a:off x="10744200" y="4114800"/>
            <a:ext cx="1371600" cy="640080"/>
          </a:xfrm>
          <a:prstGeom prst="rect">
            <a:avLst/>
          </a:prstGeom>
          <a:noFill/>
          <a:ln/>
        </p:spPr>
        <p:txBody>
          <a:bodyPr wrap="square" rtlCol="0" anchor="ctr"/>
          <a:lstStyle/>
          <a:p>
            <a:pPr algn="ctr" indent="0" marL="0">
              <a:lnSpc>
                <a:spcPct val="95000"/>
              </a:lnSpc>
              <a:buNone/>
            </a:pPr>
            <a:r>
              <a:rPr lang="en-US" sz="950" dirty="0">
                <a:solidFill>
                  <a:srgbClr val="7183A8"/>
                </a:solidFill>
                <a:latin typeface="Arial" pitchFamily="34" charset="0"/>
                <a:ea typeface="Arial" pitchFamily="34" charset="-122"/>
                <a:cs typeface="Arial" pitchFamily="34" charset="-120"/>
              </a:rPr>
              <a:t>Closed / carried forward</a:t>
            </a:r>
            <a:endParaRPr lang="en-US" sz="950" dirty="0"/>
          </a:p>
        </p:txBody>
      </p:sp>
      <p:sp>
        <p:nvSpPr>
          <p:cNvPr id="29" name="Shape 26"/>
          <p:cNvSpPr/>
          <p:nvPr/>
        </p:nvSpPr>
        <p:spPr>
          <a:xfrm>
            <a:off x="4023360" y="5029200"/>
            <a:ext cx="3703320" cy="1325880"/>
          </a:xfrm>
          <a:prstGeom prst="roundRect">
            <a:avLst>
              <a:gd name="adj" fmla="val 8276"/>
            </a:avLst>
          </a:prstGeom>
          <a:solidFill>
            <a:srgbClr val="14264C"/>
          </a:solidFill>
          <a:ln w="12700">
            <a:solidFill>
              <a:srgbClr val="27395F"/>
            </a:solidFill>
            <a:prstDash val="solid"/>
          </a:ln>
        </p:spPr>
      </p:sp>
      <p:sp>
        <p:nvSpPr>
          <p:cNvPr id="30" name="Shape 27"/>
          <p:cNvSpPr/>
          <p:nvPr/>
        </p:nvSpPr>
        <p:spPr>
          <a:xfrm>
            <a:off x="4279392" y="5285232"/>
            <a:ext cx="566928" cy="566928"/>
          </a:xfrm>
          <a:prstGeom prst="roundRect">
            <a:avLst>
              <a:gd name="adj" fmla="val 22581"/>
            </a:avLst>
          </a:prstGeom>
          <a:solidFill>
            <a:srgbClr val="D8B866"/>
          </a:solidFill>
          <a:ln/>
        </p:spPr>
      </p:sp>
      <p:sp>
        <p:nvSpPr>
          <p:cNvPr id="31" name="Text 28"/>
          <p:cNvSpPr/>
          <p:nvPr/>
        </p:nvSpPr>
        <p:spPr>
          <a:xfrm>
            <a:off x="4279392" y="5248656"/>
            <a:ext cx="566928" cy="603504"/>
          </a:xfrm>
          <a:prstGeom prst="rect">
            <a:avLst/>
          </a:prstGeom>
          <a:noFill/>
          <a:ln/>
        </p:spPr>
        <p:txBody>
          <a:bodyPr wrap="square" rtlCol="0" anchor="ctr"/>
          <a:lstStyle/>
          <a:p>
            <a:pPr algn="ctr" indent="0" marL="0">
              <a:buNone/>
            </a:pPr>
            <a:r>
              <a:rPr lang="en-US" sz="2000" b="1" dirty="0">
                <a:solidFill>
                  <a:srgbClr val="04121E"/>
                </a:solidFill>
                <a:latin typeface="Arial" pitchFamily="34" charset="0"/>
                <a:ea typeface="Arial" pitchFamily="34" charset="-122"/>
                <a:cs typeface="Arial" pitchFamily="34" charset="-120"/>
              </a:rPr>
              <a:t>★</a:t>
            </a:r>
            <a:endParaRPr lang="en-US" sz="2000" dirty="0"/>
          </a:p>
        </p:txBody>
      </p:sp>
      <p:sp>
        <p:nvSpPr>
          <p:cNvPr id="32" name="Text 29"/>
          <p:cNvSpPr/>
          <p:nvPr/>
        </p:nvSpPr>
        <p:spPr>
          <a:xfrm>
            <a:off x="4279392" y="5989320"/>
            <a:ext cx="3191256" cy="365760"/>
          </a:xfrm>
          <a:prstGeom prst="rect">
            <a:avLst/>
          </a:prstGeom>
          <a:noFill/>
          <a:ln/>
        </p:spPr>
        <p:txBody>
          <a:bodyPr wrap="square" rtlCol="0" anchor="ctr"/>
          <a:lstStyle/>
          <a:p>
            <a:pPr algn="l" indent="0" marL="0">
              <a:buNone/>
            </a:pPr>
            <a:r>
              <a:rPr lang="en-US" sz="1500" b="1" dirty="0">
                <a:solidFill>
                  <a:srgbClr val="FFFFFF"/>
                </a:solidFill>
                <a:latin typeface="Arial" pitchFamily="34" charset="0"/>
                <a:ea typeface="Arial" pitchFamily="34" charset="-122"/>
                <a:cs typeface="Arial" pitchFamily="34" charset="-120"/>
              </a:rPr>
              <a:t>Evidence, attached</a:t>
            </a:r>
            <a:endParaRPr lang="en-US" sz="1500" dirty="0"/>
          </a:p>
        </p:txBody>
      </p:sp>
      <p:sp>
        <p:nvSpPr>
          <p:cNvPr id="33" name="Text 30"/>
          <p:cNvSpPr/>
          <p:nvPr/>
        </p:nvSpPr>
        <p:spPr>
          <a:xfrm>
            <a:off x="4279392" y="6400800"/>
            <a:ext cx="3191256" cy="-228600"/>
          </a:xfrm>
          <a:prstGeom prst="rect">
            <a:avLst/>
          </a:prstGeom>
          <a:noFill/>
          <a:ln/>
        </p:spPr>
        <p:txBody>
          <a:bodyPr wrap="square" rtlCol="0" anchor="t"/>
          <a:lstStyle/>
          <a:p>
            <a:pPr algn="l" indent="0" marL="0">
              <a:lnSpc>
                <a:spcPct val="102000"/>
              </a:lnSpc>
              <a:buNone/>
            </a:pPr>
            <a:r>
              <a:rPr lang="en-US" sz="1200" dirty="0">
                <a:solidFill>
                  <a:srgbClr val="9FB2D6"/>
                </a:solidFill>
                <a:latin typeface="Arial" pitchFamily="34" charset="0"/>
                <a:ea typeface="Arial" pitchFamily="34" charset="-122"/>
                <a:cs typeface="Arial" pitchFamily="34" charset="-120"/>
              </a:rPr>
              <a:t>HMRC notice, funding approval, bank reference &amp; reconciliation note — time-stamped and linked.</a:t>
            </a:r>
            <a:endParaRPr lang="en-US" sz="1200" dirty="0"/>
          </a:p>
        </p:txBody>
      </p:sp>
      <p:sp>
        <p:nvSpPr>
          <p:cNvPr id="34" name="Shape 31"/>
          <p:cNvSpPr/>
          <p:nvPr/>
        </p:nvSpPr>
        <p:spPr>
          <a:xfrm>
            <a:off x="7936992" y="5029200"/>
            <a:ext cx="3703320" cy="1325880"/>
          </a:xfrm>
          <a:prstGeom prst="roundRect">
            <a:avLst>
              <a:gd name="adj" fmla="val 8276"/>
            </a:avLst>
          </a:prstGeom>
          <a:solidFill>
            <a:srgbClr val="14264C"/>
          </a:solidFill>
          <a:ln w="12700">
            <a:solidFill>
              <a:srgbClr val="27395F"/>
            </a:solidFill>
            <a:prstDash val="solid"/>
          </a:ln>
        </p:spPr>
      </p:sp>
      <p:sp>
        <p:nvSpPr>
          <p:cNvPr id="35" name="Shape 32"/>
          <p:cNvSpPr/>
          <p:nvPr/>
        </p:nvSpPr>
        <p:spPr>
          <a:xfrm>
            <a:off x="8193024" y="5285232"/>
            <a:ext cx="566928" cy="566928"/>
          </a:xfrm>
          <a:prstGeom prst="roundRect">
            <a:avLst>
              <a:gd name="adj" fmla="val 22581"/>
            </a:avLst>
          </a:prstGeom>
          <a:solidFill>
            <a:srgbClr val="29C2D8"/>
          </a:solidFill>
          <a:ln/>
        </p:spPr>
      </p:sp>
      <p:sp>
        <p:nvSpPr>
          <p:cNvPr id="36" name="Text 33"/>
          <p:cNvSpPr/>
          <p:nvPr/>
        </p:nvSpPr>
        <p:spPr>
          <a:xfrm>
            <a:off x="8193024" y="5248656"/>
            <a:ext cx="566928" cy="603504"/>
          </a:xfrm>
          <a:prstGeom prst="rect">
            <a:avLst/>
          </a:prstGeom>
          <a:noFill/>
          <a:ln/>
        </p:spPr>
        <p:txBody>
          <a:bodyPr wrap="square" rtlCol="0" anchor="ctr"/>
          <a:lstStyle/>
          <a:p>
            <a:pPr algn="ctr" indent="0" marL="0">
              <a:buNone/>
            </a:pPr>
            <a:r>
              <a:rPr lang="en-US" sz="2000" b="1" dirty="0">
                <a:solidFill>
                  <a:srgbClr val="04121E"/>
                </a:solidFill>
                <a:latin typeface="Arial" pitchFamily="34" charset="0"/>
                <a:ea typeface="Arial" pitchFamily="34" charset="-122"/>
                <a:cs typeface="Arial" pitchFamily="34" charset="-120"/>
              </a:rPr>
              <a:t>≡</a:t>
            </a:r>
            <a:endParaRPr lang="en-US" sz="2000" dirty="0"/>
          </a:p>
        </p:txBody>
      </p:sp>
      <p:sp>
        <p:nvSpPr>
          <p:cNvPr id="37" name="Text 34"/>
          <p:cNvSpPr/>
          <p:nvPr/>
        </p:nvSpPr>
        <p:spPr>
          <a:xfrm>
            <a:off x="8193024" y="5989320"/>
            <a:ext cx="3191256" cy="365760"/>
          </a:xfrm>
          <a:prstGeom prst="rect">
            <a:avLst/>
          </a:prstGeom>
          <a:noFill/>
          <a:ln/>
        </p:spPr>
        <p:txBody>
          <a:bodyPr wrap="square" rtlCol="0" anchor="ctr"/>
          <a:lstStyle/>
          <a:p>
            <a:pPr algn="l" indent="0" marL="0">
              <a:buNone/>
            </a:pPr>
            <a:r>
              <a:rPr lang="en-US" sz="1500" b="1" dirty="0">
                <a:solidFill>
                  <a:srgbClr val="FFFFFF"/>
                </a:solidFill>
                <a:latin typeface="Arial" pitchFamily="34" charset="0"/>
                <a:ea typeface="Arial" pitchFamily="34" charset="-122"/>
                <a:cs typeface="Arial" pitchFamily="34" charset="-120"/>
              </a:rPr>
              <a:t>Full audit history</a:t>
            </a:r>
            <a:endParaRPr lang="en-US" sz="1500" dirty="0"/>
          </a:p>
        </p:txBody>
      </p:sp>
      <p:sp>
        <p:nvSpPr>
          <p:cNvPr id="38" name="Text 35"/>
          <p:cNvSpPr/>
          <p:nvPr/>
        </p:nvSpPr>
        <p:spPr>
          <a:xfrm>
            <a:off x="8193024" y="6400800"/>
            <a:ext cx="3191256" cy="-228600"/>
          </a:xfrm>
          <a:prstGeom prst="rect">
            <a:avLst/>
          </a:prstGeom>
          <a:noFill/>
          <a:ln/>
        </p:spPr>
        <p:txBody>
          <a:bodyPr wrap="square" rtlCol="0" anchor="t"/>
          <a:lstStyle/>
          <a:p>
            <a:pPr algn="l" indent="0" marL="0">
              <a:lnSpc>
                <a:spcPct val="102000"/>
              </a:lnSpc>
              <a:buNone/>
            </a:pPr>
            <a:r>
              <a:rPr lang="en-US" sz="1200" dirty="0">
                <a:solidFill>
                  <a:srgbClr val="9FB2D6"/>
                </a:solidFill>
                <a:latin typeface="Arial" pitchFamily="34" charset="0"/>
                <a:ea typeface="Arial" pitchFamily="34" charset="-122"/>
                <a:cs typeface="Arial" pitchFamily="34" charset="-120"/>
              </a:rPr>
              <a:t>Who did what and when — record created, approved, funded and paid — nothing lost.</a:t>
            </a:r>
            <a:endParaRPr lang="en-US" sz="1200" dirty="0"/>
          </a:p>
        </p:txBody>
      </p:sp>
      <p:sp>
        <p:nvSpPr>
          <p:cNvPr id="39" name="Text 36"/>
          <p:cNvSpPr/>
          <p:nvPr/>
        </p:nvSpPr>
        <p:spPr>
          <a:xfrm>
            <a:off x="8897112" y="6473952"/>
            <a:ext cx="2926080" cy="274320"/>
          </a:xfrm>
          <a:prstGeom prst="rect">
            <a:avLst/>
          </a:prstGeom>
          <a:noFill/>
          <a:ln/>
        </p:spPr>
        <p:txBody>
          <a:bodyPr wrap="square" rtlCol="0" anchor="ctr"/>
          <a:lstStyle/>
          <a:p>
            <a:pPr algn="r" indent="0" marL="0">
              <a:buNone/>
            </a:pPr>
            <a:r>
              <a:rPr lang="en-US" sz="900" dirty="0">
                <a:solidFill>
                  <a:srgbClr val="7183A8"/>
                </a:solidFill>
                <a:latin typeface="Arial" pitchFamily="34" charset="0"/>
                <a:ea typeface="Arial" pitchFamily="34" charset="-122"/>
                <a:cs typeface="Arial" pitchFamily="34" charset="-120"/>
              </a:rPr>
              <a:t>05  ·  tradeshielduk.org</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81228"/>
        </a:solidFill>
      </p:bgPr>
    </p:bg>
    <p:spTree>
      <p:nvGrpSpPr>
        <p:cNvPr id="1" name=""/>
        <p:cNvGrpSpPr/>
        <p:nvPr/>
      </p:nvGrpSpPr>
      <p:grpSpPr>
        <a:xfrm>
          <a:off x="0" y="0"/>
          <a:ext cx="0" cy="0"/>
          <a:chOff x="0" y="0"/>
          <a:chExt cx="0" cy="0"/>
        </a:xfrm>
      </p:grpSpPr>
      <p:sp>
        <p:nvSpPr>
          <p:cNvPr id="2" name="Text 0"/>
          <p:cNvSpPr/>
          <p:nvPr/>
        </p:nvSpPr>
        <p:spPr>
          <a:xfrm>
            <a:off x="548640" y="502920"/>
            <a:ext cx="7315200" cy="274320"/>
          </a:xfrm>
          <a:prstGeom prst="rect">
            <a:avLst/>
          </a:prstGeom>
          <a:noFill/>
          <a:ln/>
        </p:spPr>
        <p:txBody>
          <a:bodyPr wrap="square" rtlCol="0" anchor="ctr"/>
          <a:lstStyle/>
          <a:p>
            <a:pPr algn="l" indent="0" marL="0">
              <a:buNone/>
            </a:pPr>
            <a:r>
              <a:rPr lang="en-US" sz="1200" b="1" spc="300" kern="0" dirty="0">
                <a:solidFill>
                  <a:srgbClr val="29C2D8"/>
                </a:solidFill>
                <a:latin typeface="Arial" pitchFamily="34" charset="0"/>
                <a:ea typeface="Arial" pitchFamily="34" charset="-122"/>
                <a:cs typeface="Arial" pitchFamily="34" charset="-120"/>
              </a:rPr>
              <a:t>THE ACTION CENTRE</a:t>
            </a:r>
            <a:endParaRPr lang="en-US" sz="1200" dirty="0"/>
          </a:p>
        </p:txBody>
      </p:sp>
      <p:sp>
        <p:nvSpPr>
          <p:cNvPr id="3" name="Text 1"/>
          <p:cNvSpPr/>
          <p:nvPr/>
        </p:nvSpPr>
        <p:spPr>
          <a:xfrm>
            <a:off x="548640" y="868680"/>
            <a:ext cx="10058400" cy="1005840"/>
          </a:xfrm>
          <a:prstGeom prst="rect">
            <a:avLst/>
          </a:prstGeom>
          <a:noFill/>
          <a:ln/>
        </p:spPr>
        <p:txBody>
          <a:bodyPr wrap="square" rtlCol="0" anchor="ctr"/>
          <a:lstStyle/>
          <a:p>
            <a:pPr algn="l" indent="0" marL="0">
              <a:lnSpc>
                <a:spcPct val="98000"/>
              </a:lnSpc>
              <a:buNone/>
            </a:pPr>
            <a:r>
              <a:rPr lang="en-US" sz="3000" b="1" dirty="0">
                <a:solidFill>
                  <a:srgbClr val="FFFFFF"/>
                </a:solidFill>
                <a:latin typeface="Arial" pitchFamily="34" charset="0"/>
                <a:ea typeface="Arial" pitchFamily="34" charset="-122"/>
                <a:cs typeface="Arial" pitchFamily="34" charset="-120"/>
              </a:rPr>
              <a:t>Turn information into a named action</a:t>
            </a:r>
            <a:endParaRPr lang="en-US" sz="3000" dirty="0"/>
          </a:p>
        </p:txBody>
      </p:sp>
      <p:sp>
        <p:nvSpPr>
          <p:cNvPr id="4" name="Shape 2"/>
          <p:cNvSpPr/>
          <p:nvPr/>
        </p:nvSpPr>
        <p:spPr>
          <a:xfrm>
            <a:off x="8531352" y="1673352"/>
            <a:ext cx="2400849" cy="4882896"/>
          </a:xfrm>
          <a:prstGeom prst="roundRect">
            <a:avLst>
              <a:gd name="adj" fmla="val 5332"/>
            </a:avLst>
          </a:prstGeom>
          <a:solidFill>
            <a:srgbClr val="0A1330"/>
          </a:solidFill>
          <a:ln w="15875">
            <a:solidFill>
              <a:srgbClr val="2A3E66"/>
            </a:solidFill>
            <a:prstDash val="solid"/>
          </a:ln>
          <a:effectLst>
            <a:outerShdw sx="100000" sy="100000" kx="0" ky="0" algn="bl" rotWithShape="0" blurRad="177800" dist="63500" dir="5400000">
              <a:srgbClr val="000000">
                <a:alpha val="45000"/>
              </a:srgbClr>
            </a:outerShdw>
          </a:effectLst>
        </p:spPr>
      </p:sp>
      <p:pic>
        <p:nvPicPr>
          <p:cNvPr id="5" name="Image 0" descr="/tmp/claude-0/-home-user-AI-Agent/58945abb-1ebe-5660-8725-4e1dccac2381/scratchpad/deck-actions.png">    </p:cNvPr>
          <p:cNvPicPr>
            <a:picLocks noChangeAspect="1"/>
          </p:cNvPicPr>
          <p:nvPr/>
        </p:nvPicPr>
        <p:blipFill>
          <a:blip r:embed="rId1"/>
          <a:stretch>
            <a:fillRect/>
          </a:stretch>
        </p:blipFill>
        <p:spPr>
          <a:xfrm>
            <a:off x="8595360" y="1737360"/>
            <a:ext cx="2272833" cy="4754880"/>
          </a:xfrm>
          <a:prstGeom prst="rect">
            <a:avLst/>
          </a:prstGeom>
        </p:spPr>
      </p:pic>
      <p:sp>
        <p:nvSpPr>
          <p:cNvPr id="6" name="Text 3"/>
          <p:cNvSpPr/>
          <p:nvPr/>
        </p:nvSpPr>
        <p:spPr>
          <a:xfrm>
            <a:off x="548640" y="1783080"/>
            <a:ext cx="7589520" cy="822960"/>
          </a:xfrm>
          <a:prstGeom prst="rect">
            <a:avLst/>
          </a:prstGeom>
          <a:noFill/>
          <a:ln/>
        </p:spPr>
        <p:txBody>
          <a:bodyPr wrap="square" rtlCol="0" anchor="ctr"/>
          <a:lstStyle/>
          <a:p>
            <a:pPr algn="l" indent="0" marL="0">
              <a:lnSpc>
                <a:spcPct val="105000"/>
              </a:lnSpc>
              <a:buNone/>
            </a:pPr>
            <a:r>
              <a:rPr lang="en-US" sz="1450" dirty="0">
                <a:solidFill>
                  <a:srgbClr val="9FB2D6"/>
                </a:solidFill>
                <a:latin typeface="Arial" pitchFamily="34" charset="0"/>
                <a:ea typeface="Arial" pitchFamily="34" charset="-122"/>
                <a:cs typeface="Arial" pitchFamily="34" charset="-120"/>
              </a:rPr>
              <a:t>The app surfaces exactly what needs attention and routes it to the right person — each item carries a deadline, priority and evidence requirement.</a:t>
            </a:r>
            <a:endParaRPr lang="en-US" sz="1450" dirty="0"/>
          </a:p>
        </p:txBody>
      </p:sp>
      <p:sp>
        <p:nvSpPr>
          <p:cNvPr id="7" name="Shape 4"/>
          <p:cNvSpPr/>
          <p:nvPr/>
        </p:nvSpPr>
        <p:spPr>
          <a:xfrm>
            <a:off x="548640" y="2788920"/>
            <a:ext cx="3703320" cy="1554480"/>
          </a:xfrm>
          <a:prstGeom prst="roundRect">
            <a:avLst>
              <a:gd name="adj" fmla="val 7059"/>
            </a:avLst>
          </a:prstGeom>
          <a:solidFill>
            <a:srgbClr val="14264C"/>
          </a:solidFill>
          <a:ln w="12700">
            <a:solidFill>
              <a:srgbClr val="27395F"/>
            </a:solidFill>
            <a:prstDash val="solid"/>
          </a:ln>
        </p:spPr>
      </p:sp>
      <p:sp>
        <p:nvSpPr>
          <p:cNvPr id="8" name="Shape 5"/>
          <p:cNvSpPr/>
          <p:nvPr/>
        </p:nvSpPr>
        <p:spPr>
          <a:xfrm>
            <a:off x="804672" y="3044952"/>
            <a:ext cx="566928" cy="566928"/>
          </a:xfrm>
          <a:prstGeom prst="roundRect">
            <a:avLst>
              <a:gd name="adj" fmla="val 22581"/>
            </a:avLst>
          </a:prstGeom>
          <a:solidFill>
            <a:srgbClr val="FF6B5E"/>
          </a:solidFill>
          <a:ln/>
        </p:spPr>
      </p:sp>
      <p:sp>
        <p:nvSpPr>
          <p:cNvPr id="9" name="Text 6"/>
          <p:cNvSpPr/>
          <p:nvPr/>
        </p:nvSpPr>
        <p:spPr>
          <a:xfrm>
            <a:off x="804672" y="3008376"/>
            <a:ext cx="566928" cy="603504"/>
          </a:xfrm>
          <a:prstGeom prst="rect">
            <a:avLst/>
          </a:prstGeom>
          <a:noFill/>
          <a:ln/>
        </p:spPr>
        <p:txBody>
          <a:bodyPr wrap="square" rtlCol="0" anchor="ctr"/>
          <a:lstStyle/>
          <a:p>
            <a:pPr algn="ctr" indent="0" marL="0">
              <a:buNone/>
            </a:pPr>
            <a:r>
              <a:rPr lang="en-US" sz="2000" b="1" dirty="0">
                <a:solidFill>
                  <a:srgbClr val="04121E"/>
                </a:solidFill>
                <a:latin typeface="Arial" pitchFamily="34" charset="0"/>
                <a:ea typeface="Arial" pitchFamily="34" charset="-122"/>
                <a:cs typeface="Arial" pitchFamily="34" charset="-120"/>
              </a:rPr>
              <a:t>!</a:t>
            </a:r>
            <a:endParaRPr lang="en-US" sz="2000" dirty="0"/>
          </a:p>
        </p:txBody>
      </p:sp>
      <p:sp>
        <p:nvSpPr>
          <p:cNvPr id="10" name="Text 7"/>
          <p:cNvSpPr/>
          <p:nvPr/>
        </p:nvSpPr>
        <p:spPr>
          <a:xfrm>
            <a:off x="804672" y="3749040"/>
            <a:ext cx="3191256" cy="365760"/>
          </a:xfrm>
          <a:prstGeom prst="rect">
            <a:avLst/>
          </a:prstGeom>
          <a:noFill/>
          <a:ln/>
        </p:spPr>
        <p:txBody>
          <a:bodyPr wrap="square" rtlCol="0" anchor="ctr"/>
          <a:lstStyle/>
          <a:p>
            <a:pPr algn="l" indent="0" marL="0">
              <a:buNone/>
            </a:pPr>
            <a:r>
              <a:rPr lang="en-US" sz="1500" b="1" dirty="0">
                <a:solidFill>
                  <a:srgbClr val="FFFFFF"/>
                </a:solidFill>
                <a:latin typeface="Arial" pitchFamily="34" charset="0"/>
                <a:ea typeface="Arial" pitchFamily="34" charset="-122"/>
                <a:cs typeface="Arial" pitchFamily="34" charset="-120"/>
              </a:rPr>
              <a:t>Approval</a:t>
            </a:r>
            <a:endParaRPr lang="en-US" sz="1500" dirty="0"/>
          </a:p>
        </p:txBody>
      </p:sp>
      <p:sp>
        <p:nvSpPr>
          <p:cNvPr id="11" name="Text 8"/>
          <p:cNvSpPr/>
          <p:nvPr/>
        </p:nvSpPr>
        <p:spPr>
          <a:xfrm>
            <a:off x="804672" y="4160520"/>
            <a:ext cx="3191256" cy="0"/>
          </a:xfrm>
          <a:prstGeom prst="rect">
            <a:avLst/>
          </a:prstGeom>
          <a:noFill/>
          <a:ln/>
        </p:spPr>
        <p:txBody>
          <a:bodyPr wrap="square" rtlCol="0" anchor="t"/>
          <a:lstStyle>
            <a:lvl1pPr algn="l"/>
          </a:lstStyle>
          <a:p>
            <a:pPr algn="l" indent="0" marL="0">
              <a:lnSpc>
                <a:spcPct val="102000"/>
              </a:lnSpc>
              <a:buNone/>
            </a:pPr>
            <a:r>
              <a:rPr lang="en-US" sz="1200" dirty="0">
                <a:solidFill>
                  <a:srgbClr val="9FB2D6"/>
                </a:solidFill>
                <a:latin typeface="Arial" pitchFamily="34" charset="0"/>
                <a:ea typeface="Arial" pitchFamily="34" charset="-122"/>
                <a:cs typeface="Arial" pitchFamily="34" charset="-120"/>
              </a:rPr>
              <a:t>“Approve the VAT funding request” — the decisions only you can make.</a:t>
            </a:r>
            <a:endParaRPr lang="en-US" sz="1200" dirty="0"/>
          </a:p>
        </p:txBody>
      </p:sp>
      <p:sp>
        <p:nvSpPr>
          <p:cNvPr id="12" name="Shape 9"/>
          <p:cNvSpPr/>
          <p:nvPr/>
        </p:nvSpPr>
        <p:spPr>
          <a:xfrm>
            <a:off x="4462272" y="2788920"/>
            <a:ext cx="3703320" cy="1554480"/>
          </a:xfrm>
          <a:prstGeom prst="roundRect">
            <a:avLst>
              <a:gd name="adj" fmla="val 7059"/>
            </a:avLst>
          </a:prstGeom>
          <a:solidFill>
            <a:srgbClr val="14264C"/>
          </a:solidFill>
          <a:ln w="12700">
            <a:solidFill>
              <a:srgbClr val="27395F"/>
            </a:solidFill>
            <a:prstDash val="solid"/>
          </a:ln>
        </p:spPr>
      </p:sp>
      <p:sp>
        <p:nvSpPr>
          <p:cNvPr id="13" name="Shape 10"/>
          <p:cNvSpPr/>
          <p:nvPr/>
        </p:nvSpPr>
        <p:spPr>
          <a:xfrm>
            <a:off x="4718304" y="3044952"/>
            <a:ext cx="566928" cy="566928"/>
          </a:xfrm>
          <a:prstGeom prst="roundRect">
            <a:avLst>
              <a:gd name="adj" fmla="val 22581"/>
            </a:avLst>
          </a:prstGeom>
          <a:solidFill>
            <a:srgbClr val="D8B866"/>
          </a:solidFill>
          <a:ln/>
        </p:spPr>
      </p:sp>
      <p:sp>
        <p:nvSpPr>
          <p:cNvPr id="14" name="Text 11"/>
          <p:cNvSpPr/>
          <p:nvPr/>
        </p:nvSpPr>
        <p:spPr>
          <a:xfrm>
            <a:off x="4718304" y="3008376"/>
            <a:ext cx="566928" cy="603504"/>
          </a:xfrm>
          <a:prstGeom prst="rect">
            <a:avLst/>
          </a:prstGeom>
          <a:noFill/>
          <a:ln/>
        </p:spPr>
        <p:txBody>
          <a:bodyPr wrap="square" rtlCol="0" anchor="ctr"/>
          <a:lstStyle/>
          <a:p>
            <a:pPr algn="ctr" indent="0" marL="0">
              <a:buNone/>
            </a:pPr>
            <a:r>
              <a:rPr lang="en-US" sz="2000" b="1" dirty="0">
                <a:solidFill>
                  <a:srgbClr val="04121E"/>
                </a:solidFill>
                <a:latin typeface="Arial" pitchFamily="34" charset="0"/>
                <a:ea typeface="Arial" pitchFamily="34" charset="-122"/>
                <a:cs typeface="Arial" pitchFamily="34" charset="-120"/>
              </a:rPr>
              <a:t>◆</a:t>
            </a:r>
            <a:endParaRPr lang="en-US" sz="2000" dirty="0"/>
          </a:p>
        </p:txBody>
      </p:sp>
      <p:sp>
        <p:nvSpPr>
          <p:cNvPr id="15" name="Text 12"/>
          <p:cNvSpPr/>
          <p:nvPr/>
        </p:nvSpPr>
        <p:spPr>
          <a:xfrm>
            <a:off x="4718304" y="3749040"/>
            <a:ext cx="3191256" cy="365760"/>
          </a:xfrm>
          <a:prstGeom prst="rect">
            <a:avLst/>
          </a:prstGeom>
          <a:noFill/>
          <a:ln/>
        </p:spPr>
        <p:txBody>
          <a:bodyPr wrap="square" rtlCol="0" anchor="ctr"/>
          <a:lstStyle/>
          <a:p>
            <a:pPr algn="l" indent="0" marL="0">
              <a:buNone/>
            </a:pPr>
            <a:r>
              <a:rPr lang="en-US" sz="1500" b="1" dirty="0">
                <a:solidFill>
                  <a:srgbClr val="FFFFFF"/>
                </a:solidFill>
                <a:latin typeface="Arial" pitchFamily="34" charset="0"/>
                <a:ea typeface="Arial" pitchFamily="34" charset="-122"/>
                <a:cs typeface="Arial" pitchFamily="34" charset="-120"/>
              </a:rPr>
              <a:t>Document</a:t>
            </a:r>
            <a:endParaRPr lang="en-US" sz="1500" dirty="0"/>
          </a:p>
        </p:txBody>
      </p:sp>
      <p:sp>
        <p:nvSpPr>
          <p:cNvPr id="16" name="Text 13"/>
          <p:cNvSpPr/>
          <p:nvPr/>
        </p:nvSpPr>
        <p:spPr>
          <a:xfrm>
            <a:off x="4718304" y="4160520"/>
            <a:ext cx="3191256" cy="0"/>
          </a:xfrm>
          <a:prstGeom prst="rect">
            <a:avLst/>
          </a:prstGeom>
          <a:noFill/>
          <a:ln/>
        </p:spPr>
        <p:txBody>
          <a:bodyPr wrap="square" rtlCol="0" anchor="t"/>
          <a:lstStyle>
            <a:lvl1pPr algn="l"/>
          </a:lstStyle>
          <a:p>
            <a:pPr algn="l" indent="0" marL="0">
              <a:lnSpc>
                <a:spcPct val="102000"/>
              </a:lnSpc>
              <a:buNone/>
            </a:pPr>
            <a:r>
              <a:rPr lang="en-US" sz="1200" dirty="0">
                <a:solidFill>
                  <a:srgbClr val="9FB2D6"/>
                </a:solidFill>
                <a:latin typeface="Arial" pitchFamily="34" charset="0"/>
                <a:ea typeface="Arial" pitchFamily="34" charset="-122"/>
                <a:cs typeface="Arial" pitchFamily="34" charset="-120"/>
              </a:rPr>
              <a:t>“Upload the supporting invoice” — the evidence a record still needs.</a:t>
            </a:r>
            <a:endParaRPr lang="en-US" sz="1200" dirty="0"/>
          </a:p>
        </p:txBody>
      </p:sp>
      <p:sp>
        <p:nvSpPr>
          <p:cNvPr id="17" name="Shape 14"/>
          <p:cNvSpPr/>
          <p:nvPr/>
        </p:nvSpPr>
        <p:spPr>
          <a:xfrm>
            <a:off x="548640" y="4526280"/>
            <a:ext cx="3703320" cy="1554480"/>
          </a:xfrm>
          <a:prstGeom prst="roundRect">
            <a:avLst>
              <a:gd name="adj" fmla="val 7059"/>
            </a:avLst>
          </a:prstGeom>
          <a:solidFill>
            <a:srgbClr val="14264C"/>
          </a:solidFill>
          <a:ln w="12700">
            <a:solidFill>
              <a:srgbClr val="27395F"/>
            </a:solidFill>
            <a:prstDash val="solid"/>
          </a:ln>
        </p:spPr>
      </p:sp>
      <p:sp>
        <p:nvSpPr>
          <p:cNvPr id="18" name="Shape 15"/>
          <p:cNvSpPr/>
          <p:nvPr/>
        </p:nvSpPr>
        <p:spPr>
          <a:xfrm>
            <a:off x="804672" y="4782312"/>
            <a:ext cx="566928" cy="566928"/>
          </a:xfrm>
          <a:prstGeom prst="roundRect">
            <a:avLst>
              <a:gd name="adj" fmla="val 22581"/>
            </a:avLst>
          </a:prstGeom>
          <a:solidFill>
            <a:srgbClr val="29C2D8"/>
          </a:solidFill>
          <a:ln/>
        </p:spPr>
      </p:sp>
      <p:sp>
        <p:nvSpPr>
          <p:cNvPr id="19" name="Text 16"/>
          <p:cNvSpPr/>
          <p:nvPr/>
        </p:nvSpPr>
        <p:spPr>
          <a:xfrm>
            <a:off x="804672" y="4745736"/>
            <a:ext cx="566928" cy="603504"/>
          </a:xfrm>
          <a:prstGeom prst="rect">
            <a:avLst/>
          </a:prstGeom>
          <a:noFill/>
          <a:ln/>
        </p:spPr>
        <p:txBody>
          <a:bodyPr wrap="square" rtlCol="0" anchor="ctr"/>
          <a:lstStyle/>
          <a:p>
            <a:pPr algn="ctr" indent="0" marL="0">
              <a:buNone/>
            </a:pPr>
            <a:r>
              <a:rPr lang="en-US" sz="2000" b="1" dirty="0">
                <a:solidFill>
                  <a:srgbClr val="04121E"/>
                </a:solidFill>
                <a:latin typeface="Arial" pitchFamily="34" charset="0"/>
                <a:ea typeface="Arial" pitchFamily="34" charset="-122"/>
                <a:cs typeface="Arial" pitchFamily="34" charset="-120"/>
              </a:rPr>
              <a:t>●</a:t>
            </a:r>
            <a:endParaRPr lang="en-US" sz="2000" dirty="0"/>
          </a:p>
        </p:txBody>
      </p:sp>
      <p:sp>
        <p:nvSpPr>
          <p:cNvPr id="20" name="Text 17"/>
          <p:cNvSpPr/>
          <p:nvPr/>
        </p:nvSpPr>
        <p:spPr>
          <a:xfrm>
            <a:off x="804672" y="5486400"/>
            <a:ext cx="3191256" cy="365760"/>
          </a:xfrm>
          <a:prstGeom prst="rect">
            <a:avLst/>
          </a:prstGeom>
          <a:noFill/>
          <a:ln/>
        </p:spPr>
        <p:txBody>
          <a:bodyPr wrap="square" rtlCol="0" anchor="ctr"/>
          <a:lstStyle/>
          <a:p>
            <a:pPr algn="l" indent="0" marL="0">
              <a:buNone/>
            </a:pPr>
            <a:r>
              <a:rPr lang="en-US" sz="1500" b="1" dirty="0">
                <a:solidFill>
                  <a:srgbClr val="FFFFFF"/>
                </a:solidFill>
                <a:latin typeface="Arial" pitchFamily="34" charset="0"/>
                <a:ea typeface="Arial" pitchFamily="34" charset="-122"/>
                <a:cs typeface="Arial" pitchFamily="34" charset="-120"/>
              </a:rPr>
              <a:t>Decision</a:t>
            </a:r>
            <a:endParaRPr lang="en-US" sz="1500" dirty="0"/>
          </a:p>
        </p:txBody>
      </p:sp>
      <p:sp>
        <p:nvSpPr>
          <p:cNvPr id="21" name="Text 18"/>
          <p:cNvSpPr/>
          <p:nvPr/>
        </p:nvSpPr>
        <p:spPr>
          <a:xfrm>
            <a:off x="804672" y="5897880"/>
            <a:ext cx="3191256" cy="0"/>
          </a:xfrm>
          <a:prstGeom prst="rect">
            <a:avLst/>
          </a:prstGeom>
          <a:noFill/>
          <a:ln/>
        </p:spPr>
        <p:txBody>
          <a:bodyPr wrap="square" rtlCol="0" anchor="t"/>
          <a:lstStyle>
            <a:lvl1pPr algn="l"/>
          </a:lstStyle>
          <a:p>
            <a:pPr algn="l" indent="0" marL="0">
              <a:lnSpc>
                <a:spcPct val="102000"/>
              </a:lnSpc>
              <a:buNone/>
            </a:pPr>
            <a:r>
              <a:rPr lang="en-US" sz="1200" dirty="0">
                <a:solidFill>
                  <a:srgbClr val="9FB2D6"/>
                </a:solidFill>
                <a:latin typeface="Arial" pitchFamily="34" charset="0"/>
                <a:ea typeface="Arial" pitchFamily="34" charset="-122"/>
                <a:cs typeface="Arial" pitchFamily="34" charset="-120"/>
              </a:rPr>
              <a:t>“Confirm the finance repayment” — the choices that move things forward.</a:t>
            </a:r>
            <a:endParaRPr lang="en-US" sz="1200" dirty="0"/>
          </a:p>
        </p:txBody>
      </p:sp>
      <p:sp>
        <p:nvSpPr>
          <p:cNvPr id="22" name="Shape 19"/>
          <p:cNvSpPr/>
          <p:nvPr/>
        </p:nvSpPr>
        <p:spPr>
          <a:xfrm>
            <a:off x="4462272" y="4526280"/>
            <a:ext cx="3703320" cy="1554480"/>
          </a:xfrm>
          <a:prstGeom prst="roundRect">
            <a:avLst>
              <a:gd name="adj" fmla="val 7059"/>
            </a:avLst>
          </a:prstGeom>
          <a:solidFill>
            <a:srgbClr val="14264C"/>
          </a:solidFill>
          <a:ln w="12700">
            <a:solidFill>
              <a:srgbClr val="27395F"/>
            </a:solidFill>
            <a:prstDash val="solid"/>
          </a:ln>
        </p:spPr>
      </p:sp>
      <p:sp>
        <p:nvSpPr>
          <p:cNvPr id="23" name="Shape 20"/>
          <p:cNvSpPr/>
          <p:nvPr/>
        </p:nvSpPr>
        <p:spPr>
          <a:xfrm>
            <a:off x="4718304" y="4782312"/>
            <a:ext cx="566928" cy="566928"/>
          </a:xfrm>
          <a:prstGeom prst="roundRect">
            <a:avLst>
              <a:gd name="adj" fmla="val 22581"/>
            </a:avLst>
          </a:prstGeom>
          <a:solidFill>
            <a:srgbClr val="8A7BFF"/>
          </a:solidFill>
          <a:ln/>
        </p:spPr>
      </p:sp>
      <p:sp>
        <p:nvSpPr>
          <p:cNvPr id="24" name="Text 21"/>
          <p:cNvSpPr/>
          <p:nvPr/>
        </p:nvSpPr>
        <p:spPr>
          <a:xfrm>
            <a:off x="4718304" y="4745736"/>
            <a:ext cx="566928" cy="603504"/>
          </a:xfrm>
          <a:prstGeom prst="rect">
            <a:avLst/>
          </a:prstGeom>
          <a:noFill/>
          <a:ln/>
        </p:spPr>
        <p:txBody>
          <a:bodyPr wrap="square" rtlCol="0" anchor="ctr"/>
          <a:lstStyle/>
          <a:p>
            <a:pPr algn="ctr" indent="0" marL="0">
              <a:buNone/>
            </a:pPr>
            <a:r>
              <a:rPr lang="en-US" sz="2000" b="1" dirty="0">
                <a:solidFill>
                  <a:srgbClr val="04121E"/>
                </a:solidFill>
                <a:latin typeface="Arial" pitchFamily="34" charset="0"/>
                <a:ea typeface="Arial" pitchFamily="34" charset="-122"/>
                <a:cs typeface="Arial" pitchFamily="34" charset="-120"/>
              </a:rPr>
              <a:t>★</a:t>
            </a:r>
            <a:endParaRPr lang="en-US" sz="2000" dirty="0"/>
          </a:p>
        </p:txBody>
      </p:sp>
      <p:sp>
        <p:nvSpPr>
          <p:cNvPr id="25" name="Text 22"/>
          <p:cNvSpPr/>
          <p:nvPr/>
        </p:nvSpPr>
        <p:spPr>
          <a:xfrm>
            <a:off x="4718304" y="5486400"/>
            <a:ext cx="3191256" cy="365760"/>
          </a:xfrm>
          <a:prstGeom prst="rect">
            <a:avLst/>
          </a:prstGeom>
          <a:noFill/>
          <a:ln/>
        </p:spPr>
        <p:txBody>
          <a:bodyPr wrap="square" rtlCol="0" anchor="ctr"/>
          <a:lstStyle/>
          <a:p>
            <a:pPr algn="l" indent="0" marL="0">
              <a:buNone/>
            </a:pPr>
            <a:r>
              <a:rPr lang="en-US" sz="1500" b="1" dirty="0">
                <a:solidFill>
                  <a:srgbClr val="FFFFFF"/>
                </a:solidFill>
                <a:latin typeface="Arial" pitchFamily="34" charset="0"/>
                <a:ea typeface="Arial" pitchFamily="34" charset="-122"/>
                <a:cs typeface="Arial" pitchFamily="34" charset="-120"/>
              </a:rPr>
              <a:t>Review</a:t>
            </a:r>
            <a:endParaRPr lang="en-US" sz="1500" dirty="0"/>
          </a:p>
        </p:txBody>
      </p:sp>
      <p:sp>
        <p:nvSpPr>
          <p:cNvPr id="26" name="Text 23"/>
          <p:cNvSpPr/>
          <p:nvPr/>
        </p:nvSpPr>
        <p:spPr>
          <a:xfrm>
            <a:off x="4718304" y="5897880"/>
            <a:ext cx="3191256" cy="0"/>
          </a:xfrm>
          <a:prstGeom prst="rect">
            <a:avLst/>
          </a:prstGeom>
          <a:noFill/>
          <a:ln/>
        </p:spPr>
        <p:txBody>
          <a:bodyPr wrap="square" rtlCol="0" anchor="t"/>
          <a:lstStyle>
            <a:lvl1pPr algn="l"/>
          </a:lstStyle>
          <a:p>
            <a:pPr algn="l" indent="0" marL="0">
              <a:lnSpc>
                <a:spcPct val="102000"/>
              </a:lnSpc>
              <a:buNone/>
            </a:pPr>
            <a:r>
              <a:rPr lang="en-US" sz="1200" dirty="0">
                <a:solidFill>
                  <a:srgbClr val="9FB2D6"/>
                </a:solidFill>
                <a:latin typeface="Arial" pitchFamily="34" charset="0"/>
                <a:ea typeface="Arial" pitchFamily="34" charset="-122"/>
                <a:cs typeface="Arial" pitchFamily="34" charset="-120"/>
              </a:rPr>
              <a:t>“Resolve the overdue fee” — the exceptions that need a response.</a:t>
            </a:r>
            <a:endParaRPr lang="en-US" sz="1200" dirty="0"/>
          </a:p>
        </p:txBody>
      </p:sp>
      <p:sp>
        <p:nvSpPr>
          <p:cNvPr id="27" name="Text 24"/>
          <p:cNvSpPr/>
          <p:nvPr/>
        </p:nvSpPr>
        <p:spPr>
          <a:xfrm>
            <a:off x="8897112" y="6473952"/>
            <a:ext cx="2926080" cy="274320"/>
          </a:xfrm>
          <a:prstGeom prst="rect">
            <a:avLst/>
          </a:prstGeom>
          <a:noFill/>
          <a:ln/>
        </p:spPr>
        <p:txBody>
          <a:bodyPr wrap="square" rtlCol="0" anchor="ctr"/>
          <a:lstStyle/>
          <a:p>
            <a:pPr algn="r" indent="0" marL="0">
              <a:buNone/>
            </a:pPr>
            <a:r>
              <a:rPr lang="en-US" sz="900" dirty="0">
                <a:solidFill>
                  <a:srgbClr val="7183A8"/>
                </a:solidFill>
                <a:latin typeface="Arial" pitchFamily="34" charset="0"/>
                <a:ea typeface="Arial" pitchFamily="34" charset="-122"/>
                <a:cs typeface="Arial" pitchFamily="34" charset="-120"/>
              </a:rPr>
              <a:t>06  ·  tradeshielduk.org</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50B1C"/>
        </a:solidFill>
      </p:bgPr>
    </p:bg>
    <p:spTree>
      <p:nvGrpSpPr>
        <p:cNvPr id="1" name=""/>
        <p:cNvGrpSpPr/>
        <p:nvPr/>
      </p:nvGrpSpPr>
      <p:grpSpPr>
        <a:xfrm>
          <a:off x="0" y="0"/>
          <a:ext cx="0" cy="0"/>
          <a:chOff x="0" y="0"/>
          <a:chExt cx="0" cy="0"/>
        </a:xfrm>
      </p:grpSpPr>
      <p:sp>
        <p:nvSpPr>
          <p:cNvPr id="2" name="Shape 0"/>
          <p:cNvSpPr/>
          <p:nvPr/>
        </p:nvSpPr>
        <p:spPr>
          <a:xfrm>
            <a:off x="8686800" y="-1645920"/>
            <a:ext cx="5486400" cy="4572000"/>
          </a:xfrm>
          <a:prstGeom prst="oval">
            <a:avLst/>
          </a:prstGeom>
          <a:solidFill>
            <a:srgbClr val="103247"/>
          </a:solidFill>
          <a:ln/>
        </p:spPr>
      </p:sp>
      <p:sp>
        <p:nvSpPr>
          <p:cNvPr id="3" name="Text 1"/>
          <p:cNvSpPr/>
          <p:nvPr/>
        </p:nvSpPr>
        <p:spPr>
          <a:xfrm>
            <a:off x="548640" y="502920"/>
            <a:ext cx="7315200" cy="274320"/>
          </a:xfrm>
          <a:prstGeom prst="rect">
            <a:avLst/>
          </a:prstGeom>
          <a:noFill/>
          <a:ln/>
        </p:spPr>
        <p:txBody>
          <a:bodyPr wrap="square" rtlCol="0" anchor="ctr"/>
          <a:lstStyle/>
          <a:p>
            <a:pPr algn="l" indent="0" marL="0">
              <a:buNone/>
            </a:pPr>
            <a:r>
              <a:rPr lang="en-US" sz="1200" b="1" spc="300" kern="0" dirty="0">
                <a:solidFill>
                  <a:srgbClr val="29C2D8"/>
                </a:solidFill>
                <a:latin typeface="Arial" pitchFamily="34" charset="0"/>
                <a:ea typeface="Arial" pitchFamily="34" charset="-122"/>
                <a:cs typeface="Arial" pitchFamily="34" charset="-120"/>
              </a:rPr>
              <a:t>HOW WE SUPPORT YOU</a:t>
            </a:r>
            <a:endParaRPr lang="en-US" sz="1200" dirty="0"/>
          </a:p>
        </p:txBody>
      </p:sp>
      <p:sp>
        <p:nvSpPr>
          <p:cNvPr id="4" name="Text 2"/>
          <p:cNvSpPr/>
          <p:nvPr/>
        </p:nvSpPr>
        <p:spPr>
          <a:xfrm>
            <a:off x="548640" y="868680"/>
            <a:ext cx="10972800" cy="1005840"/>
          </a:xfrm>
          <a:prstGeom prst="rect">
            <a:avLst/>
          </a:prstGeom>
          <a:noFill/>
          <a:ln/>
        </p:spPr>
        <p:txBody>
          <a:bodyPr wrap="square" rtlCol="0" anchor="ctr"/>
          <a:lstStyle/>
          <a:p>
            <a:pPr algn="l" indent="0" marL="0">
              <a:lnSpc>
                <a:spcPct val="98000"/>
              </a:lnSpc>
              <a:buNone/>
            </a:pPr>
            <a:r>
              <a:rPr lang="en-US" sz="3000" b="1" dirty="0">
                <a:solidFill>
                  <a:srgbClr val="FFFFFF"/>
                </a:solidFill>
                <a:latin typeface="Arial" pitchFamily="34" charset="0"/>
                <a:ea typeface="Arial" pitchFamily="34" charset="-122"/>
                <a:cs typeface="Arial" pitchFamily="34" charset="-120"/>
              </a:rPr>
              <a:t>See exactly what your team is doing for you</a:t>
            </a:r>
            <a:endParaRPr lang="en-US" sz="3000" dirty="0"/>
          </a:p>
        </p:txBody>
      </p:sp>
      <p:sp>
        <p:nvSpPr>
          <p:cNvPr id="5" name="Shape 3"/>
          <p:cNvSpPr/>
          <p:nvPr/>
        </p:nvSpPr>
        <p:spPr>
          <a:xfrm>
            <a:off x="8622792" y="1536192"/>
            <a:ext cx="2488265" cy="5065776"/>
          </a:xfrm>
          <a:prstGeom prst="roundRect">
            <a:avLst>
              <a:gd name="adj" fmla="val 5145"/>
            </a:avLst>
          </a:prstGeom>
          <a:solidFill>
            <a:srgbClr val="0A1330"/>
          </a:solidFill>
          <a:ln w="15875">
            <a:solidFill>
              <a:srgbClr val="2A3E66"/>
            </a:solidFill>
            <a:prstDash val="solid"/>
          </a:ln>
          <a:effectLst>
            <a:outerShdw sx="100000" sy="100000" kx="0" ky="0" algn="bl" rotWithShape="0" blurRad="177800" dist="63500" dir="5400000">
              <a:srgbClr val="000000">
                <a:alpha val="45000"/>
              </a:srgbClr>
            </a:outerShdw>
          </a:effectLst>
        </p:spPr>
      </p:sp>
      <p:pic>
        <p:nvPicPr>
          <p:cNvPr id="6" name="Image 0" descr="/tmp/claude-0/-home-user-AI-Agent/58945abb-1ebe-5660-8725-4e1dccac2381/scratchpad/deck-updates.png">    </p:cNvPr>
          <p:cNvPicPr>
            <a:picLocks noChangeAspect="1"/>
          </p:cNvPicPr>
          <p:nvPr/>
        </p:nvPicPr>
        <p:blipFill>
          <a:blip r:embed="rId1"/>
          <a:stretch>
            <a:fillRect/>
          </a:stretch>
        </p:blipFill>
        <p:spPr>
          <a:xfrm>
            <a:off x="8686800" y="1600200"/>
            <a:ext cx="2360249" cy="4937760"/>
          </a:xfrm>
          <a:prstGeom prst="rect">
            <a:avLst/>
          </a:prstGeom>
        </p:spPr>
      </p:pic>
      <p:sp>
        <p:nvSpPr>
          <p:cNvPr id="7" name="Text 4"/>
          <p:cNvSpPr/>
          <p:nvPr/>
        </p:nvSpPr>
        <p:spPr>
          <a:xfrm>
            <a:off x="548640" y="1783080"/>
            <a:ext cx="7680960" cy="548640"/>
          </a:xfrm>
          <a:prstGeom prst="rect">
            <a:avLst/>
          </a:prstGeom>
          <a:noFill/>
          <a:ln/>
        </p:spPr>
        <p:txBody>
          <a:bodyPr wrap="square" rtlCol="0" anchor="ctr"/>
          <a:lstStyle/>
          <a:p>
            <a:pPr algn="l" indent="0" marL="0">
              <a:buNone/>
            </a:pPr>
            <a:r>
              <a:rPr lang="en-US" sz="1500" dirty="0">
                <a:solidFill>
                  <a:srgbClr val="9FB2D6"/>
                </a:solidFill>
                <a:latin typeface="Arial" pitchFamily="34" charset="0"/>
                <a:ea typeface="Arial" pitchFamily="34" charset="-122"/>
                <a:cs typeface="Arial" pitchFamily="34" charset="-120"/>
              </a:rPr>
              <a:t>A live feed of your TradeShield team's work — so support is visible, not a black box.</a:t>
            </a:r>
            <a:endParaRPr lang="en-US" sz="1500" dirty="0"/>
          </a:p>
        </p:txBody>
      </p:sp>
      <p:sp>
        <p:nvSpPr>
          <p:cNvPr id="8" name="Shape 5"/>
          <p:cNvSpPr/>
          <p:nvPr/>
        </p:nvSpPr>
        <p:spPr>
          <a:xfrm>
            <a:off x="548640" y="2514600"/>
            <a:ext cx="7680960" cy="777240"/>
          </a:xfrm>
          <a:prstGeom prst="roundRect">
            <a:avLst>
              <a:gd name="adj" fmla="val 14118"/>
            </a:avLst>
          </a:prstGeom>
          <a:solidFill>
            <a:srgbClr val="14264C"/>
          </a:solidFill>
          <a:ln w="12700">
            <a:solidFill>
              <a:srgbClr val="27395F"/>
            </a:solidFill>
            <a:prstDash val="solid"/>
          </a:ln>
        </p:spPr>
      </p:sp>
      <p:sp>
        <p:nvSpPr>
          <p:cNvPr id="9" name="Shape 6"/>
          <p:cNvSpPr/>
          <p:nvPr/>
        </p:nvSpPr>
        <p:spPr>
          <a:xfrm>
            <a:off x="548640" y="2514600"/>
            <a:ext cx="82296" cy="777240"/>
          </a:xfrm>
          <a:prstGeom prst="roundRect">
            <a:avLst>
              <a:gd name="adj" fmla="val 44444"/>
            </a:avLst>
          </a:prstGeom>
          <a:solidFill>
            <a:srgbClr val="35D29A"/>
          </a:solidFill>
          <a:ln/>
        </p:spPr>
      </p:sp>
      <p:sp>
        <p:nvSpPr>
          <p:cNvPr id="10" name="Text 7"/>
          <p:cNvSpPr/>
          <p:nvPr/>
        </p:nvSpPr>
        <p:spPr>
          <a:xfrm>
            <a:off x="777240" y="2624328"/>
            <a:ext cx="1920240" cy="274320"/>
          </a:xfrm>
          <a:prstGeom prst="rect">
            <a:avLst/>
          </a:prstGeom>
          <a:noFill/>
          <a:ln/>
        </p:spPr>
        <p:txBody>
          <a:bodyPr wrap="square" rtlCol="0" anchor="ctr"/>
          <a:lstStyle/>
          <a:p>
            <a:pPr indent="0" marL="0">
              <a:buNone/>
            </a:pPr>
            <a:r>
              <a:rPr lang="en-US" sz="1050" b="1" spc="100" kern="0" dirty="0">
                <a:solidFill>
                  <a:srgbClr val="35D29A"/>
                </a:solidFill>
                <a:latin typeface="Arial" pitchFamily="34" charset="0"/>
                <a:ea typeface="Arial" pitchFamily="34" charset="-122"/>
                <a:cs typeface="Arial" pitchFamily="34" charset="-120"/>
              </a:rPr>
              <a:t>COMPLETED</a:t>
            </a:r>
            <a:endParaRPr lang="en-US" sz="1050" dirty="0"/>
          </a:p>
        </p:txBody>
      </p:sp>
      <p:sp>
        <p:nvSpPr>
          <p:cNvPr id="11" name="Text 8"/>
          <p:cNvSpPr/>
          <p:nvPr/>
        </p:nvSpPr>
        <p:spPr>
          <a:xfrm>
            <a:off x="2697480" y="2560320"/>
            <a:ext cx="5394960" cy="685800"/>
          </a:xfrm>
          <a:prstGeom prst="rect">
            <a:avLst/>
          </a:prstGeom>
          <a:noFill/>
          <a:ln/>
        </p:spPr>
        <p:txBody>
          <a:bodyPr wrap="square" rtlCol="0" anchor="ctr"/>
          <a:lstStyle/>
          <a:p>
            <a:pPr algn="l" indent="0" marL="0">
              <a:buNone/>
            </a:pPr>
            <a:r>
              <a:rPr lang="en-US" sz="1250" dirty="0">
                <a:solidFill>
                  <a:srgbClr val="EAF1FF"/>
                </a:solidFill>
                <a:latin typeface="Arial" pitchFamily="34" charset="0"/>
                <a:ea typeface="Arial" pitchFamily="34" charset="-122"/>
                <a:cs typeface="Arial" pitchFamily="34" charset="-120"/>
              </a:rPr>
              <a:t>Time to Pay arrangement secured with HMRC — no enforcement while it holds.</a:t>
            </a:r>
            <a:endParaRPr lang="en-US" sz="1250" dirty="0"/>
          </a:p>
        </p:txBody>
      </p:sp>
      <p:sp>
        <p:nvSpPr>
          <p:cNvPr id="12" name="Shape 9"/>
          <p:cNvSpPr/>
          <p:nvPr/>
        </p:nvSpPr>
        <p:spPr>
          <a:xfrm>
            <a:off x="548640" y="3429000"/>
            <a:ext cx="7680960" cy="777240"/>
          </a:xfrm>
          <a:prstGeom prst="roundRect">
            <a:avLst>
              <a:gd name="adj" fmla="val 14118"/>
            </a:avLst>
          </a:prstGeom>
          <a:solidFill>
            <a:srgbClr val="14264C"/>
          </a:solidFill>
          <a:ln w="12700">
            <a:solidFill>
              <a:srgbClr val="27395F"/>
            </a:solidFill>
            <a:prstDash val="solid"/>
          </a:ln>
        </p:spPr>
      </p:sp>
      <p:sp>
        <p:nvSpPr>
          <p:cNvPr id="13" name="Shape 10"/>
          <p:cNvSpPr/>
          <p:nvPr/>
        </p:nvSpPr>
        <p:spPr>
          <a:xfrm>
            <a:off x="548640" y="3429000"/>
            <a:ext cx="82296" cy="777240"/>
          </a:xfrm>
          <a:prstGeom prst="roundRect">
            <a:avLst>
              <a:gd name="adj" fmla="val 44444"/>
            </a:avLst>
          </a:prstGeom>
          <a:solidFill>
            <a:srgbClr val="29C2D8"/>
          </a:solidFill>
          <a:ln/>
        </p:spPr>
      </p:sp>
      <p:sp>
        <p:nvSpPr>
          <p:cNvPr id="14" name="Text 11"/>
          <p:cNvSpPr/>
          <p:nvPr/>
        </p:nvSpPr>
        <p:spPr>
          <a:xfrm>
            <a:off x="777240" y="3538728"/>
            <a:ext cx="1920240" cy="274320"/>
          </a:xfrm>
          <a:prstGeom prst="rect">
            <a:avLst/>
          </a:prstGeom>
          <a:noFill/>
          <a:ln/>
        </p:spPr>
        <p:txBody>
          <a:bodyPr wrap="square" rtlCol="0" anchor="ctr"/>
          <a:lstStyle/>
          <a:p>
            <a:pPr indent="0" marL="0">
              <a:buNone/>
            </a:pPr>
            <a:r>
              <a:rPr lang="en-US" sz="1050" b="1" spc="100" kern="0" dirty="0">
                <a:solidFill>
                  <a:srgbClr val="29C2D8"/>
                </a:solidFill>
                <a:latin typeface="Arial" pitchFamily="34" charset="0"/>
                <a:ea typeface="Arial" pitchFamily="34" charset="-122"/>
                <a:cs typeface="Arial" pitchFamily="34" charset="-120"/>
              </a:rPr>
              <a:t>IN PROGRESS</a:t>
            </a:r>
            <a:endParaRPr lang="en-US" sz="1050" dirty="0"/>
          </a:p>
        </p:txBody>
      </p:sp>
      <p:sp>
        <p:nvSpPr>
          <p:cNvPr id="15" name="Text 12"/>
          <p:cNvSpPr/>
          <p:nvPr/>
        </p:nvSpPr>
        <p:spPr>
          <a:xfrm>
            <a:off x="2697480" y="3474720"/>
            <a:ext cx="5394960" cy="685800"/>
          </a:xfrm>
          <a:prstGeom prst="rect">
            <a:avLst/>
          </a:prstGeom>
          <a:noFill/>
          <a:ln/>
        </p:spPr>
        <p:txBody>
          <a:bodyPr wrap="square" rtlCol="0" anchor="ctr"/>
          <a:lstStyle/>
          <a:p>
            <a:pPr algn="l" indent="0" marL="0">
              <a:buNone/>
            </a:pPr>
            <a:r>
              <a:rPr lang="en-US" sz="1250" dirty="0">
                <a:solidFill>
                  <a:srgbClr val="EAF1FF"/>
                </a:solidFill>
                <a:latin typeface="Arial" pitchFamily="34" charset="0"/>
                <a:ea typeface="Arial" pitchFamily="34" charset="-122"/>
                <a:cs typeface="Arial" pitchFamily="34" charset="-120"/>
              </a:rPr>
              <a:t>Restructuring your £400,000 trade finance facility over 18 months.</a:t>
            </a:r>
            <a:endParaRPr lang="en-US" sz="1250" dirty="0"/>
          </a:p>
        </p:txBody>
      </p:sp>
      <p:sp>
        <p:nvSpPr>
          <p:cNvPr id="16" name="Shape 13"/>
          <p:cNvSpPr/>
          <p:nvPr/>
        </p:nvSpPr>
        <p:spPr>
          <a:xfrm>
            <a:off x="548640" y="4343400"/>
            <a:ext cx="7680960" cy="777240"/>
          </a:xfrm>
          <a:prstGeom prst="roundRect">
            <a:avLst>
              <a:gd name="adj" fmla="val 14118"/>
            </a:avLst>
          </a:prstGeom>
          <a:solidFill>
            <a:srgbClr val="14264C"/>
          </a:solidFill>
          <a:ln w="12700">
            <a:solidFill>
              <a:srgbClr val="27395F"/>
            </a:solidFill>
            <a:prstDash val="solid"/>
          </a:ln>
        </p:spPr>
      </p:sp>
      <p:sp>
        <p:nvSpPr>
          <p:cNvPr id="17" name="Shape 14"/>
          <p:cNvSpPr/>
          <p:nvPr/>
        </p:nvSpPr>
        <p:spPr>
          <a:xfrm>
            <a:off x="548640" y="4343400"/>
            <a:ext cx="82296" cy="777240"/>
          </a:xfrm>
          <a:prstGeom prst="roundRect">
            <a:avLst>
              <a:gd name="adj" fmla="val 44444"/>
            </a:avLst>
          </a:prstGeom>
          <a:solidFill>
            <a:srgbClr val="F0B64A"/>
          </a:solidFill>
          <a:ln/>
        </p:spPr>
      </p:sp>
      <p:sp>
        <p:nvSpPr>
          <p:cNvPr id="18" name="Text 15"/>
          <p:cNvSpPr/>
          <p:nvPr/>
        </p:nvSpPr>
        <p:spPr>
          <a:xfrm>
            <a:off x="777240" y="4453128"/>
            <a:ext cx="1920240" cy="274320"/>
          </a:xfrm>
          <a:prstGeom prst="rect">
            <a:avLst/>
          </a:prstGeom>
          <a:noFill/>
          <a:ln/>
        </p:spPr>
        <p:txBody>
          <a:bodyPr wrap="square" rtlCol="0" anchor="ctr"/>
          <a:lstStyle/>
          <a:p>
            <a:pPr indent="0" marL="0">
              <a:buNone/>
            </a:pPr>
            <a:r>
              <a:rPr lang="en-US" sz="1050" b="1" spc="100" kern="0" dirty="0">
                <a:solidFill>
                  <a:srgbClr val="F0B64A"/>
                </a:solidFill>
                <a:latin typeface="Arial" pitchFamily="34" charset="0"/>
                <a:ea typeface="Arial" pitchFamily="34" charset="-122"/>
                <a:cs typeface="Arial" pitchFamily="34" charset="-120"/>
              </a:rPr>
              <a:t>AWAITING YOU</a:t>
            </a:r>
            <a:endParaRPr lang="en-US" sz="1050" dirty="0"/>
          </a:p>
        </p:txBody>
      </p:sp>
      <p:sp>
        <p:nvSpPr>
          <p:cNvPr id="19" name="Text 16"/>
          <p:cNvSpPr/>
          <p:nvPr/>
        </p:nvSpPr>
        <p:spPr>
          <a:xfrm>
            <a:off x="2697480" y="4389120"/>
            <a:ext cx="5394960" cy="685800"/>
          </a:xfrm>
          <a:prstGeom prst="rect">
            <a:avLst/>
          </a:prstGeom>
          <a:noFill/>
          <a:ln/>
        </p:spPr>
        <p:txBody>
          <a:bodyPr wrap="square" rtlCol="0" anchor="ctr"/>
          <a:lstStyle/>
          <a:p>
            <a:pPr algn="l" indent="0" marL="0">
              <a:buNone/>
            </a:pPr>
            <a:r>
              <a:rPr lang="en-US" sz="1250" dirty="0">
                <a:solidFill>
                  <a:srgbClr val="EAF1FF"/>
                </a:solidFill>
                <a:latin typeface="Arial" pitchFamily="34" charset="0"/>
                <a:ea typeface="Arial" pitchFamily="34" charset="-122"/>
                <a:cs typeface="Arial" pitchFamily="34" charset="-120"/>
              </a:rPr>
              <a:t>Approve the VAT funding release — one tap, and we action it.</a:t>
            </a:r>
            <a:endParaRPr lang="en-US" sz="1250" dirty="0"/>
          </a:p>
        </p:txBody>
      </p:sp>
      <p:sp>
        <p:nvSpPr>
          <p:cNvPr id="20" name="Shape 17"/>
          <p:cNvSpPr/>
          <p:nvPr/>
        </p:nvSpPr>
        <p:spPr>
          <a:xfrm>
            <a:off x="548640" y="5257800"/>
            <a:ext cx="7680960" cy="777240"/>
          </a:xfrm>
          <a:prstGeom prst="roundRect">
            <a:avLst>
              <a:gd name="adj" fmla="val 14118"/>
            </a:avLst>
          </a:prstGeom>
          <a:solidFill>
            <a:srgbClr val="14264C"/>
          </a:solidFill>
          <a:ln w="12700">
            <a:solidFill>
              <a:srgbClr val="27395F"/>
            </a:solidFill>
            <a:prstDash val="solid"/>
          </a:ln>
        </p:spPr>
      </p:sp>
      <p:sp>
        <p:nvSpPr>
          <p:cNvPr id="21" name="Shape 18"/>
          <p:cNvSpPr/>
          <p:nvPr/>
        </p:nvSpPr>
        <p:spPr>
          <a:xfrm>
            <a:off x="548640" y="5257800"/>
            <a:ext cx="82296" cy="777240"/>
          </a:xfrm>
          <a:prstGeom prst="roundRect">
            <a:avLst>
              <a:gd name="adj" fmla="val 44444"/>
            </a:avLst>
          </a:prstGeom>
          <a:solidFill>
            <a:srgbClr val="8A7BFF"/>
          </a:solidFill>
          <a:ln/>
        </p:spPr>
      </p:sp>
      <p:sp>
        <p:nvSpPr>
          <p:cNvPr id="22" name="Text 19"/>
          <p:cNvSpPr/>
          <p:nvPr/>
        </p:nvSpPr>
        <p:spPr>
          <a:xfrm>
            <a:off x="777240" y="5367528"/>
            <a:ext cx="1920240" cy="274320"/>
          </a:xfrm>
          <a:prstGeom prst="rect">
            <a:avLst/>
          </a:prstGeom>
          <a:noFill/>
          <a:ln/>
        </p:spPr>
        <p:txBody>
          <a:bodyPr wrap="square" rtlCol="0" anchor="ctr"/>
          <a:lstStyle/>
          <a:p>
            <a:pPr indent="0" marL="0">
              <a:buNone/>
            </a:pPr>
            <a:r>
              <a:rPr lang="en-US" sz="1050" b="1" spc="100" kern="0" dirty="0">
                <a:solidFill>
                  <a:srgbClr val="8A7BFF"/>
                </a:solidFill>
                <a:latin typeface="Arial" pitchFamily="34" charset="0"/>
                <a:ea typeface="Arial" pitchFamily="34" charset="-122"/>
                <a:cs typeface="Arial" pitchFamily="34" charset="-120"/>
              </a:rPr>
              <a:t>ON THE CASE</a:t>
            </a:r>
            <a:endParaRPr lang="en-US" sz="1050" dirty="0"/>
          </a:p>
        </p:txBody>
      </p:sp>
      <p:sp>
        <p:nvSpPr>
          <p:cNvPr id="23" name="Text 20"/>
          <p:cNvSpPr/>
          <p:nvPr/>
        </p:nvSpPr>
        <p:spPr>
          <a:xfrm>
            <a:off x="2697480" y="5303520"/>
            <a:ext cx="5394960" cy="685800"/>
          </a:xfrm>
          <a:prstGeom prst="rect">
            <a:avLst/>
          </a:prstGeom>
          <a:noFill/>
          <a:ln/>
        </p:spPr>
        <p:txBody>
          <a:bodyPr wrap="square" rtlCol="0" anchor="ctr"/>
          <a:lstStyle/>
          <a:p>
            <a:pPr algn="l" indent="0" marL="0">
              <a:buNone/>
            </a:pPr>
            <a:r>
              <a:rPr lang="en-US" sz="1250" dirty="0">
                <a:solidFill>
                  <a:srgbClr val="EAF1FF"/>
                </a:solidFill>
                <a:latin typeface="Arial" pitchFamily="34" charset="0"/>
                <a:ea typeface="Arial" pitchFamily="34" charset="-122"/>
                <a:cs typeface="Arial" pitchFamily="34" charset="-120"/>
              </a:rPr>
              <a:t>Disputed professional fee — recovery paused while we review it.</a:t>
            </a:r>
            <a:endParaRPr lang="en-US" sz="1250" dirty="0"/>
          </a:p>
        </p:txBody>
      </p:sp>
      <p:sp>
        <p:nvSpPr>
          <p:cNvPr id="24" name="Text 21"/>
          <p:cNvSpPr/>
          <p:nvPr/>
        </p:nvSpPr>
        <p:spPr>
          <a:xfrm>
            <a:off x="548640" y="6355080"/>
            <a:ext cx="7680960" cy="365760"/>
          </a:xfrm>
          <a:prstGeom prst="rect">
            <a:avLst/>
          </a:prstGeom>
          <a:noFill/>
          <a:ln/>
        </p:spPr>
        <p:txBody>
          <a:bodyPr wrap="square" rtlCol="0" anchor="ctr"/>
          <a:lstStyle/>
          <a:p>
            <a:pPr indent="0" marL="0">
              <a:buNone/>
            </a:pPr>
            <a:r>
              <a:rPr lang="en-US" sz="1150" i="1" dirty="0">
                <a:solidFill>
                  <a:srgbClr val="7183A8"/>
                </a:solidFill>
                <a:latin typeface="Arial" pitchFamily="34" charset="0"/>
                <a:ea typeface="Arial" pitchFamily="34" charset="-122"/>
                <a:cs typeface="Arial" pitchFamily="34" charset="-120"/>
              </a:rPr>
              <a:t>Each update shows the status, the next step, and the named specialist handling it.</a:t>
            </a:r>
            <a:endParaRPr lang="en-US" sz="1150" dirty="0"/>
          </a:p>
        </p:txBody>
      </p:sp>
      <p:sp>
        <p:nvSpPr>
          <p:cNvPr id="25" name="Text 22"/>
          <p:cNvSpPr/>
          <p:nvPr/>
        </p:nvSpPr>
        <p:spPr>
          <a:xfrm>
            <a:off x="8897112" y="6473952"/>
            <a:ext cx="2926080" cy="274320"/>
          </a:xfrm>
          <a:prstGeom prst="rect">
            <a:avLst/>
          </a:prstGeom>
          <a:noFill/>
          <a:ln/>
        </p:spPr>
        <p:txBody>
          <a:bodyPr wrap="square" rtlCol="0" anchor="ctr"/>
          <a:lstStyle/>
          <a:p>
            <a:pPr algn="r" indent="0" marL="0">
              <a:buNone/>
            </a:pPr>
            <a:r>
              <a:rPr lang="en-US" sz="900" dirty="0">
                <a:solidFill>
                  <a:srgbClr val="7183A8"/>
                </a:solidFill>
                <a:latin typeface="Arial" pitchFamily="34" charset="0"/>
                <a:ea typeface="Arial" pitchFamily="34" charset="-122"/>
                <a:cs typeface="Arial" pitchFamily="34" charset="-120"/>
              </a:rPr>
              <a:t>07  ·  tradeshielduk.org</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81228"/>
        </a:solidFill>
      </p:bgPr>
    </p:bg>
    <p:spTree>
      <p:nvGrpSpPr>
        <p:cNvPr id="1" name=""/>
        <p:cNvGrpSpPr/>
        <p:nvPr/>
      </p:nvGrpSpPr>
      <p:grpSpPr>
        <a:xfrm>
          <a:off x="0" y="0"/>
          <a:ext cx="0" cy="0"/>
          <a:chOff x="0" y="0"/>
          <a:chExt cx="0" cy="0"/>
        </a:xfrm>
      </p:grpSpPr>
      <p:sp>
        <p:nvSpPr>
          <p:cNvPr id="2" name="Text 0"/>
          <p:cNvSpPr/>
          <p:nvPr/>
        </p:nvSpPr>
        <p:spPr>
          <a:xfrm>
            <a:off x="548640" y="502920"/>
            <a:ext cx="7315200" cy="274320"/>
          </a:xfrm>
          <a:prstGeom prst="rect">
            <a:avLst/>
          </a:prstGeom>
          <a:noFill/>
          <a:ln/>
        </p:spPr>
        <p:txBody>
          <a:bodyPr wrap="square" rtlCol="0" anchor="ctr"/>
          <a:lstStyle/>
          <a:p>
            <a:pPr algn="l" indent="0" marL="0">
              <a:buNone/>
            </a:pPr>
            <a:r>
              <a:rPr lang="en-US" sz="1200" b="1" spc="300" kern="0" dirty="0">
                <a:solidFill>
                  <a:srgbClr val="29C2D8"/>
                </a:solidFill>
                <a:latin typeface="Arial" pitchFamily="34" charset="0"/>
                <a:ea typeface="Arial" pitchFamily="34" charset="-122"/>
                <a:cs typeface="Arial" pitchFamily="34" charset="-120"/>
              </a:rPr>
              <a:t>ALWAYS-ON HELP</a:t>
            </a:r>
            <a:endParaRPr lang="en-US" sz="1200" dirty="0"/>
          </a:p>
        </p:txBody>
      </p:sp>
      <p:sp>
        <p:nvSpPr>
          <p:cNvPr id="3" name="Text 1"/>
          <p:cNvSpPr/>
          <p:nvPr/>
        </p:nvSpPr>
        <p:spPr>
          <a:xfrm>
            <a:off x="548640" y="868680"/>
            <a:ext cx="10972800" cy="1005840"/>
          </a:xfrm>
          <a:prstGeom prst="rect">
            <a:avLst/>
          </a:prstGeom>
          <a:noFill/>
          <a:ln/>
        </p:spPr>
        <p:txBody>
          <a:bodyPr wrap="square" rtlCol="0" anchor="ctr"/>
          <a:lstStyle/>
          <a:p>
            <a:pPr algn="l" indent="0" marL="0">
              <a:lnSpc>
                <a:spcPct val="98000"/>
              </a:lnSpc>
              <a:buNone/>
            </a:pPr>
            <a:r>
              <a:rPr lang="en-US" sz="3000" b="1" dirty="0">
                <a:solidFill>
                  <a:srgbClr val="FFFFFF"/>
                </a:solidFill>
                <a:latin typeface="Arial" pitchFamily="34" charset="0"/>
                <a:ea typeface="Arial" pitchFamily="34" charset="-122"/>
                <a:cs typeface="Arial" pitchFamily="34" charset="-120"/>
              </a:rPr>
              <a:t>An AI assistant and 24/7 human support</a:t>
            </a:r>
            <a:endParaRPr lang="en-US" sz="3000" dirty="0"/>
          </a:p>
        </p:txBody>
      </p:sp>
      <p:sp>
        <p:nvSpPr>
          <p:cNvPr id="4" name="Shape 2"/>
          <p:cNvSpPr/>
          <p:nvPr/>
        </p:nvSpPr>
        <p:spPr>
          <a:xfrm>
            <a:off x="548640" y="1874520"/>
            <a:ext cx="5440680" cy="4526280"/>
          </a:xfrm>
          <a:prstGeom prst="roundRect">
            <a:avLst>
              <a:gd name="adj" fmla="val 2424"/>
            </a:avLst>
          </a:prstGeom>
          <a:solidFill>
            <a:srgbClr val="14264C"/>
          </a:solidFill>
          <a:ln w="12700">
            <a:solidFill>
              <a:srgbClr val="27395F"/>
            </a:solidFill>
            <a:prstDash val="solid"/>
          </a:ln>
        </p:spPr>
      </p:sp>
      <p:sp>
        <p:nvSpPr>
          <p:cNvPr id="5" name="Text 3"/>
          <p:cNvSpPr/>
          <p:nvPr/>
        </p:nvSpPr>
        <p:spPr>
          <a:xfrm>
            <a:off x="868680" y="2103120"/>
            <a:ext cx="3657600" cy="274320"/>
          </a:xfrm>
          <a:prstGeom prst="rect">
            <a:avLst/>
          </a:prstGeom>
          <a:noFill/>
          <a:ln/>
        </p:spPr>
        <p:txBody>
          <a:bodyPr wrap="square" rtlCol="0" anchor="ctr"/>
          <a:lstStyle/>
          <a:p>
            <a:pPr indent="0" marL="0">
              <a:buNone/>
            </a:pPr>
            <a:r>
              <a:rPr lang="en-US" sz="1200" b="1" spc="200" kern="0" dirty="0">
                <a:solidFill>
                  <a:srgbClr val="29C2D8"/>
                </a:solidFill>
                <a:latin typeface="Arial" pitchFamily="34" charset="0"/>
                <a:ea typeface="Arial" pitchFamily="34" charset="-122"/>
                <a:cs typeface="Arial" pitchFamily="34" charset="-120"/>
              </a:rPr>
              <a:t>AI ASSISTANT</a:t>
            </a:r>
            <a:endParaRPr lang="en-US" sz="1200" dirty="0"/>
          </a:p>
        </p:txBody>
      </p:sp>
      <p:sp>
        <p:nvSpPr>
          <p:cNvPr id="6" name="Text 4"/>
          <p:cNvSpPr/>
          <p:nvPr/>
        </p:nvSpPr>
        <p:spPr>
          <a:xfrm>
            <a:off x="868680" y="2377440"/>
            <a:ext cx="3108960" cy="640080"/>
          </a:xfrm>
          <a:prstGeom prst="rect">
            <a:avLst/>
          </a:prstGeom>
          <a:noFill/>
          <a:ln/>
        </p:spPr>
        <p:txBody>
          <a:bodyPr wrap="square" rtlCol="0" anchor="ctr"/>
          <a:lstStyle/>
          <a:p>
            <a:pPr indent="0" marL="0">
              <a:lnSpc>
                <a:spcPct val="95000"/>
              </a:lnSpc>
              <a:buNone/>
            </a:pPr>
            <a:r>
              <a:rPr lang="en-US" sz="1600" b="1" dirty="0">
                <a:solidFill>
                  <a:srgbClr val="FFFFFF"/>
                </a:solidFill>
                <a:latin typeface="Arial" pitchFamily="34" charset="0"/>
                <a:ea typeface="Arial" pitchFamily="34" charset="-122"/>
                <a:cs typeface="Arial" pitchFamily="34" charset="-120"/>
              </a:rPr>
              <a:t>Answers from your live figures</a:t>
            </a:r>
            <a:endParaRPr lang="en-US" sz="1600" dirty="0"/>
          </a:p>
        </p:txBody>
      </p:sp>
      <p:sp>
        <p:nvSpPr>
          <p:cNvPr id="7" name="Text 5"/>
          <p:cNvSpPr/>
          <p:nvPr/>
        </p:nvSpPr>
        <p:spPr>
          <a:xfrm>
            <a:off x="868680" y="3154680"/>
            <a:ext cx="3063240" cy="365760"/>
          </a:xfrm>
          <a:prstGeom prst="rect">
            <a:avLst/>
          </a:prstGeom>
          <a:noFill/>
          <a:ln/>
        </p:spPr>
        <p:txBody>
          <a:bodyPr wrap="square" rtlCol="0" anchor="ctr"/>
          <a:lstStyle/>
          <a:p>
            <a:pPr algn="l" indent="0" marL="0">
              <a:buNone/>
            </a:pPr>
            <a:r>
              <a:rPr lang="en-US" sz="1250" dirty="0">
                <a:solidFill>
                  <a:srgbClr val="9FB2D6"/>
                </a:solidFill>
                <a:latin typeface="Arial" pitchFamily="34" charset="0"/>
                <a:ea typeface="Arial" pitchFamily="34" charset="-122"/>
                <a:cs typeface="Arial" pitchFamily="34" charset="-120"/>
              </a:rPr>
              <a:t>“What's overdue?”</a:t>
            </a:r>
            <a:endParaRPr lang="en-US" sz="1250" dirty="0"/>
          </a:p>
        </p:txBody>
      </p:sp>
      <p:sp>
        <p:nvSpPr>
          <p:cNvPr id="8" name="Text 6"/>
          <p:cNvSpPr/>
          <p:nvPr/>
        </p:nvSpPr>
        <p:spPr>
          <a:xfrm>
            <a:off x="868680" y="3611880"/>
            <a:ext cx="3063240" cy="365760"/>
          </a:xfrm>
          <a:prstGeom prst="rect">
            <a:avLst/>
          </a:prstGeom>
          <a:noFill/>
          <a:ln/>
        </p:spPr>
        <p:txBody>
          <a:bodyPr wrap="square" rtlCol="0" anchor="ctr"/>
          <a:lstStyle/>
          <a:p>
            <a:pPr algn="l" indent="0" marL="0">
              <a:buNone/>
            </a:pPr>
            <a:r>
              <a:rPr lang="en-US" sz="1250" dirty="0">
                <a:solidFill>
                  <a:srgbClr val="9FB2D6"/>
                </a:solidFill>
                <a:latin typeface="Arial" pitchFamily="34" charset="0"/>
                <a:ea typeface="Arial" pitchFamily="34" charset="-122"/>
                <a:cs typeface="Arial" pitchFamily="34" charset="-120"/>
              </a:rPr>
              <a:t>“How much do I owe HMRC?”</a:t>
            </a:r>
            <a:endParaRPr lang="en-US" sz="1250" dirty="0"/>
          </a:p>
        </p:txBody>
      </p:sp>
      <p:sp>
        <p:nvSpPr>
          <p:cNvPr id="9" name="Text 7"/>
          <p:cNvSpPr/>
          <p:nvPr/>
        </p:nvSpPr>
        <p:spPr>
          <a:xfrm>
            <a:off x="868680" y="4069080"/>
            <a:ext cx="3063240" cy="365760"/>
          </a:xfrm>
          <a:prstGeom prst="rect">
            <a:avLst/>
          </a:prstGeom>
          <a:noFill/>
          <a:ln/>
        </p:spPr>
        <p:txBody>
          <a:bodyPr wrap="square" rtlCol="0" anchor="ctr"/>
          <a:lstStyle/>
          <a:p>
            <a:pPr algn="l" indent="0" marL="0">
              <a:buNone/>
            </a:pPr>
            <a:r>
              <a:rPr lang="en-US" sz="1250" dirty="0">
                <a:solidFill>
                  <a:srgbClr val="9FB2D6"/>
                </a:solidFill>
                <a:latin typeface="Arial" pitchFamily="34" charset="0"/>
                <a:ea typeface="Arial" pitchFamily="34" charset="-122"/>
                <a:cs typeface="Arial" pitchFamily="34" charset="-120"/>
              </a:rPr>
              <a:t>“What's my funding gap?”</a:t>
            </a:r>
            <a:endParaRPr lang="en-US" sz="1250" dirty="0"/>
          </a:p>
        </p:txBody>
      </p:sp>
      <p:sp>
        <p:nvSpPr>
          <p:cNvPr id="10" name="Text 8"/>
          <p:cNvSpPr/>
          <p:nvPr/>
        </p:nvSpPr>
        <p:spPr>
          <a:xfrm>
            <a:off x="868680" y="4526280"/>
            <a:ext cx="3063240" cy="365760"/>
          </a:xfrm>
          <a:prstGeom prst="rect">
            <a:avLst/>
          </a:prstGeom>
          <a:noFill/>
          <a:ln/>
        </p:spPr>
        <p:txBody>
          <a:bodyPr wrap="square" rtlCol="0" anchor="ctr"/>
          <a:lstStyle/>
          <a:p>
            <a:pPr algn="l" indent="0" marL="0">
              <a:buNone/>
            </a:pPr>
            <a:r>
              <a:rPr lang="en-US" sz="1250" dirty="0">
                <a:solidFill>
                  <a:srgbClr val="9FB2D6"/>
                </a:solidFill>
                <a:latin typeface="Arial" pitchFamily="34" charset="0"/>
                <a:ea typeface="Arial" pitchFamily="34" charset="-122"/>
                <a:cs typeface="Arial" pitchFamily="34" charset="-120"/>
              </a:rPr>
              <a:t>“What is the team doing for me?”</a:t>
            </a:r>
            <a:endParaRPr lang="en-US" sz="1250" dirty="0"/>
          </a:p>
        </p:txBody>
      </p:sp>
      <p:sp>
        <p:nvSpPr>
          <p:cNvPr id="11" name="Shape 9"/>
          <p:cNvSpPr/>
          <p:nvPr/>
        </p:nvSpPr>
        <p:spPr>
          <a:xfrm>
            <a:off x="4096512" y="2450592"/>
            <a:ext cx="1832640" cy="3694176"/>
          </a:xfrm>
          <a:prstGeom prst="roundRect">
            <a:avLst>
              <a:gd name="adj" fmla="val 6985"/>
            </a:avLst>
          </a:prstGeom>
          <a:solidFill>
            <a:srgbClr val="0A1330"/>
          </a:solidFill>
          <a:ln w="15875">
            <a:solidFill>
              <a:srgbClr val="2A3E66"/>
            </a:solidFill>
            <a:prstDash val="solid"/>
          </a:ln>
          <a:effectLst>
            <a:outerShdw sx="100000" sy="100000" kx="0" ky="0" algn="bl" rotWithShape="0" blurRad="177800" dist="63500" dir="5400000">
              <a:srgbClr val="000000">
                <a:alpha val="45000"/>
              </a:srgbClr>
            </a:outerShdw>
          </a:effectLst>
        </p:spPr>
      </p:sp>
      <p:pic>
        <p:nvPicPr>
          <p:cNvPr id="12" name="Image 0" descr="/tmp/claude-0/-home-user-AI-Agent/58945abb-1ebe-5660-8725-4e1dccac2381/scratchpad/deck-assistant.png">    </p:cNvPr>
          <p:cNvPicPr>
            <a:picLocks noChangeAspect="1"/>
          </p:cNvPicPr>
          <p:nvPr/>
        </p:nvPicPr>
        <p:blipFill>
          <a:blip r:embed="rId1"/>
          <a:stretch>
            <a:fillRect/>
          </a:stretch>
        </p:blipFill>
        <p:spPr>
          <a:xfrm>
            <a:off x="4160520" y="2514600"/>
            <a:ext cx="1704624" cy="3566160"/>
          </a:xfrm>
          <a:prstGeom prst="rect">
            <a:avLst/>
          </a:prstGeom>
        </p:spPr>
      </p:pic>
      <p:sp>
        <p:nvSpPr>
          <p:cNvPr id="13" name="Shape 10"/>
          <p:cNvSpPr/>
          <p:nvPr/>
        </p:nvSpPr>
        <p:spPr>
          <a:xfrm>
            <a:off x="6199632" y="1874520"/>
            <a:ext cx="5440680" cy="4526280"/>
          </a:xfrm>
          <a:prstGeom prst="roundRect">
            <a:avLst>
              <a:gd name="adj" fmla="val 2424"/>
            </a:avLst>
          </a:prstGeom>
          <a:solidFill>
            <a:srgbClr val="14264C"/>
          </a:solidFill>
          <a:ln w="12700">
            <a:solidFill>
              <a:srgbClr val="27395F"/>
            </a:solidFill>
            <a:prstDash val="solid"/>
          </a:ln>
        </p:spPr>
      </p:sp>
      <p:sp>
        <p:nvSpPr>
          <p:cNvPr id="14" name="Text 11"/>
          <p:cNvSpPr/>
          <p:nvPr/>
        </p:nvSpPr>
        <p:spPr>
          <a:xfrm>
            <a:off x="6519672" y="2103120"/>
            <a:ext cx="3657600" cy="274320"/>
          </a:xfrm>
          <a:prstGeom prst="rect">
            <a:avLst/>
          </a:prstGeom>
          <a:noFill/>
          <a:ln/>
        </p:spPr>
        <p:txBody>
          <a:bodyPr wrap="square" rtlCol="0" anchor="ctr"/>
          <a:lstStyle/>
          <a:p>
            <a:pPr indent="0" marL="0">
              <a:buNone/>
            </a:pPr>
            <a:r>
              <a:rPr lang="en-US" sz="1200" b="1" spc="200" kern="0" dirty="0">
                <a:solidFill>
                  <a:srgbClr val="D8B866"/>
                </a:solidFill>
                <a:latin typeface="Arial" pitchFamily="34" charset="0"/>
                <a:ea typeface="Arial" pitchFamily="34" charset="-122"/>
                <a:cs typeface="Arial" pitchFamily="34" charset="-120"/>
              </a:rPr>
              <a:t>24/7 SUPPORT</a:t>
            </a:r>
            <a:endParaRPr lang="en-US" sz="1200" dirty="0"/>
          </a:p>
        </p:txBody>
      </p:sp>
      <p:sp>
        <p:nvSpPr>
          <p:cNvPr id="15" name="Text 12"/>
          <p:cNvSpPr/>
          <p:nvPr/>
        </p:nvSpPr>
        <p:spPr>
          <a:xfrm>
            <a:off x="6519672" y="2377440"/>
            <a:ext cx="3108960" cy="457200"/>
          </a:xfrm>
          <a:prstGeom prst="rect">
            <a:avLst/>
          </a:prstGeom>
          <a:noFill/>
          <a:ln/>
        </p:spPr>
        <p:txBody>
          <a:bodyPr wrap="square" rtlCol="0" anchor="ctr"/>
          <a:lstStyle/>
          <a:p>
            <a:pPr indent="0" marL="0">
              <a:buNone/>
            </a:pPr>
            <a:r>
              <a:rPr lang="en-US" sz="1600" b="1" dirty="0">
                <a:solidFill>
                  <a:srgbClr val="FFFFFF"/>
                </a:solidFill>
                <a:latin typeface="Arial" pitchFamily="34" charset="0"/>
                <a:ea typeface="Arial" pitchFamily="34" charset="-122"/>
                <a:cs typeface="Arial" pitchFamily="34" charset="-120"/>
              </a:rPr>
              <a:t>Real people, any time</a:t>
            </a:r>
            <a:endParaRPr lang="en-US" sz="1600" dirty="0"/>
          </a:p>
        </p:txBody>
      </p:sp>
      <p:sp>
        <p:nvSpPr>
          <p:cNvPr id="16" name="Shape 13"/>
          <p:cNvSpPr/>
          <p:nvPr/>
        </p:nvSpPr>
        <p:spPr>
          <a:xfrm>
            <a:off x="6519672" y="3081528"/>
            <a:ext cx="237744" cy="237744"/>
          </a:xfrm>
          <a:prstGeom prst="oval">
            <a:avLst/>
          </a:prstGeom>
          <a:solidFill>
            <a:srgbClr val="12354A"/>
          </a:solidFill>
          <a:ln w="13970">
            <a:solidFill>
              <a:srgbClr val="29C2D8"/>
            </a:solidFill>
            <a:prstDash val="solid"/>
          </a:ln>
        </p:spPr>
      </p:sp>
      <p:sp>
        <p:nvSpPr>
          <p:cNvPr id="17" name="Text 14"/>
          <p:cNvSpPr/>
          <p:nvPr/>
        </p:nvSpPr>
        <p:spPr>
          <a:xfrm>
            <a:off x="6519672" y="3035808"/>
            <a:ext cx="237744" cy="274320"/>
          </a:xfrm>
          <a:prstGeom prst="rect">
            <a:avLst/>
          </a:prstGeom>
          <a:noFill/>
          <a:ln/>
        </p:spPr>
        <p:txBody>
          <a:bodyPr wrap="square" rtlCol="0" anchor="ctr"/>
          <a:lstStyle/>
          <a:p>
            <a:pPr algn="ctr" indent="0" marL="0">
              <a:buNone/>
            </a:pPr>
            <a:r>
              <a:rPr lang="en-US" sz="1100" b="1" dirty="0">
                <a:solidFill>
                  <a:srgbClr val="29C2D8"/>
                </a:solidFill>
                <a:latin typeface="Arial" pitchFamily="34" charset="0"/>
                <a:ea typeface="Arial" pitchFamily="34" charset="-122"/>
                <a:cs typeface="Arial" pitchFamily="34" charset="-120"/>
              </a:rPr>
              <a:t>✓</a:t>
            </a:r>
            <a:endParaRPr lang="en-US" sz="1100" dirty="0"/>
          </a:p>
        </p:txBody>
      </p:sp>
      <p:sp>
        <p:nvSpPr>
          <p:cNvPr id="18" name="Text 15"/>
          <p:cNvSpPr/>
          <p:nvPr/>
        </p:nvSpPr>
        <p:spPr>
          <a:xfrm>
            <a:off x="6903720" y="3017520"/>
            <a:ext cx="2679192" cy="457200"/>
          </a:xfrm>
          <a:prstGeom prst="rect">
            <a:avLst/>
          </a:prstGeom>
          <a:noFill/>
          <a:ln/>
        </p:spPr>
        <p:txBody>
          <a:bodyPr wrap="square" rtlCol="0" anchor="ctr"/>
          <a:lstStyle/>
          <a:p>
            <a:pPr algn="l" indent="0" marL="0">
              <a:buNone/>
            </a:pPr>
            <a:r>
              <a:rPr lang="en-US" sz="1350" b="1" dirty="0">
                <a:solidFill>
                  <a:srgbClr val="EAF1FF"/>
                </a:solidFill>
                <a:latin typeface="Arial" pitchFamily="34" charset="0"/>
                <a:ea typeface="Arial" pitchFamily="34" charset="-122"/>
                <a:cs typeface="Arial" pitchFamily="34" charset="-120"/>
              </a:rPr>
              <a:t>Live chat with an agent</a:t>
            </a:r>
            <a:endParaRPr lang="en-US" sz="1350" dirty="0"/>
          </a:p>
        </p:txBody>
      </p:sp>
      <p:sp>
        <p:nvSpPr>
          <p:cNvPr id="19" name="Shape 16"/>
          <p:cNvSpPr/>
          <p:nvPr/>
        </p:nvSpPr>
        <p:spPr>
          <a:xfrm>
            <a:off x="6519672" y="3538728"/>
            <a:ext cx="237744" cy="237744"/>
          </a:xfrm>
          <a:prstGeom prst="oval">
            <a:avLst/>
          </a:prstGeom>
          <a:solidFill>
            <a:srgbClr val="12354A"/>
          </a:solidFill>
          <a:ln w="13970">
            <a:solidFill>
              <a:srgbClr val="29C2D8"/>
            </a:solidFill>
            <a:prstDash val="solid"/>
          </a:ln>
        </p:spPr>
      </p:sp>
      <p:sp>
        <p:nvSpPr>
          <p:cNvPr id="20" name="Text 17"/>
          <p:cNvSpPr/>
          <p:nvPr/>
        </p:nvSpPr>
        <p:spPr>
          <a:xfrm>
            <a:off x="6519672" y="3493008"/>
            <a:ext cx="237744" cy="274320"/>
          </a:xfrm>
          <a:prstGeom prst="rect">
            <a:avLst/>
          </a:prstGeom>
          <a:noFill/>
          <a:ln/>
        </p:spPr>
        <p:txBody>
          <a:bodyPr wrap="square" rtlCol="0" anchor="ctr"/>
          <a:lstStyle/>
          <a:p>
            <a:pPr algn="ctr" indent="0" marL="0">
              <a:buNone/>
            </a:pPr>
            <a:r>
              <a:rPr lang="en-US" sz="1100" b="1" dirty="0">
                <a:solidFill>
                  <a:srgbClr val="29C2D8"/>
                </a:solidFill>
                <a:latin typeface="Arial" pitchFamily="34" charset="0"/>
                <a:ea typeface="Arial" pitchFamily="34" charset="-122"/>
                <a:cs typeface="Arial" pitchFamily="34" charset="-120"/>
              </a:rPr>
              <a:t>✓</a:t>
            </a:r>
            <a:endParaRPr lang="en-US" sz="1100" dirty="0"/>
          </a:p>
        </p:txBody>
      </p:sp>
      <p:sp>
        <p:nvSpPr>
          <p:cNvPr id="21" name="Text 18"/>
          <p:cNvSpPr/>
          <p:nvPr/>
        </p:nvSpPr>
        <p:spPr>
          <a:xfrm>
            <a:off x="6903720" y="3474720"/>
            <a:ext cx="2679192" cy="457200"/>
          </a:xfrm>
          <a:prstGeom prst="rect">
            <a:avLst/>
          </a:prstGeom>
          <a:noFill/>
          <a:ln/>
        </p:spPr>
        <p:txBody>
          <a:bodyPr wrap="square" rtlCol="0" anchor="ctr"/>
          <a:lstStyle/>
          <a:p>
            <a:pPr algn="l" indent="0" marL="0">
              <a:buNone/>
            </a:pPr>
            <a:r>
              <a:rPr lang="en-US" sz="1350" b="1" dirty="0">
                <a:solidFill>
                  <a:srgbClr val="EAF1FF"/>
                </a:solidFill>
                <a:latin typeface="Arial" pitchFamily="34" charset="0"/>
                <a:ea typeface="Arial" pitchFamily="34" charset="-122"/>
                <a:cs typeface="Arial" pitchFamily="34" charset="-120"/>
              </a:rPr>
              <a:t>Request a callback</a:t>
            </a:r>
            <a:endParaRPr lang="en-US" sz="1350" dirty="0"/>
          </a:p>
        </p:txBody>
      </p:sp>
      <p:sp>
        <p:nvSpPr>
          <p:cNvPr id="22" name="Shape 19"/>
          <p:cNvSpPr/>
          <p:nvPr/>
        </p:nvSpPr>
        <p:spPr>
          <a:xfrm>
            <a:off x="6519672" y="3995928"/>
            <a:ext cx="237744" cy="237744"/>
          </a:xfrm>
          <a:prstGeom prst="oval">
            <a:avLst/>
          </a:prstGeom>
          <a:solidFill>
            <a:srgbClr val="12354A"/>
          </a:solidFill>
          <a:ln w="13970">
            <a:solidFill>
              <a:srgbClr val="29C2D8"/>
            </a:solidFill>
            <a:prstDash val="solid"/>
          </a:ln>
        </p:spPr>
      </p:sp>
      <p:sp>
        <p:nvSpPr>
          <p:cNvPr id="23" name="Text 20"/>
          <p:cNvSpPr/>
          <p:nvPr/>
        </p:nvSpPr>
        <p:spPr>
          <a:xfrm>
            <a:off x="6519672" y="3950208"/>
            <a:ext cx="237744" cy="274320"/>
          </a:xfrm>
          <a:prstGeom prst="rect">
            <a:avLst/>
          </a:prstGeom>
          <a:noFill/>
          <a:ln/>
        </p:spPr>
        <p:txBody>
          <a:bodyPr wrap="square" rtlCol="0" anchor="ctr"/>
          <a:lstStyle/>
          <a:p>
            <a:pPr algn="ctr" indent="0" marL="0">
              <a:buNone/>
            </a:pPr>
            <a:r>
              <a:rPr lang="en-US" sz="1100" b="1" dirty="0">
                <a:solidFill>
                  <a:srgbClr val="29C2D8"/>
                </a:solidFill>
                <a:latin typeface="Arial" pitchFamily="34" charset="0"/>
                <a:ea typeface="Arial" pitchFamily="34" charset="-122"/>
                <a:cs typeface="Arial" pitchFamily="34" charset="-120"/>
              </a:rPr>
              <a:t>✓</a:t>
            </a:r>
            <a:endParaRPr lang="en-US" sz="1100" dirty="0"/>
          </a:p>
        </p:txBody>
      </p:sp>
      <p:sp>
        <p:nvSpPr>
          <p:cNvPr id="24" name="Text 21"/>
          <p:cNvSpPr/>
          <p:nvPr/>
        </p:nvSpPr>
        <p:spPr>
          <a:xfrm>
            <a:off x="6903720" y="3931920"/>
            <a:ext cx="2679192" cy="457200"/>
          </a:xfrm>
          <a:prstGeom prst="rect">
            <a:avLst/>
          </a:prstGeom>
          <a:noFill/>
          <a:ln/>
        </p:spPr>
        <p:txBody>
          <a:bodyPr wrap="square" rtlCol="0" anchor="ctr"/>
          <a:lstStyle/>
          <a:p>
            <a:pPr algn="l" indent="0" marL="0">
              <a:buNone/>
            </a:pPr>
            <a:r>
              <a:rPr lang="en-US" sz="1350" b="1" dirty="0">
                <a:solidFill>
                  <a:srgbClr val="EAF1FF"/>
                </a:solidFill>
                <a:latin typeface="Arial" pitchFamily="34" charset="0"/>
                <a:ea typeface="Arial" pitchFamily="34" charset="-122"/>
                <a:cs typeface="Arial" pitchFamily="34" charset="-120"/>
              </a:rPr>
              <a:t>Message your team directly</a:t>
            </a:r>
            <a:endParaRPr lang="en-US" sz="1350" dirty="0"/>
          </a:p>
        </p:txBody>
      </p:sp>
      <p:sp>
        <p:nvSpPr>
          <p:cNvPr id="25" name="Shape 22"/>
          <p:cNvSpPr/>
          <p:nvPr/>
        </p:nvSpPr>
        <p:spPr>
          <a:xfrm>
            <a:off x="6519672" y="4453128"/>
            <a:ext cx="237744" cy="237744"/>
          </a:xfrm>
          <a:prstGeom prst="oval">
            <a:avLst/>
          </a:prstGeom>
          <a:solidFill>
            <a:srgbClr val="12354A"/>
          </a:solidFill>
          <a:ln w="13970">
            <a:solidFill>
              <a:srgbClr val="29C2D8"/>
            </a:solidFill>
            <a:prstDash val="solid"/>
          </a:ln>
        </p:spPr>
      </p:sp>
      <p:sp>
        <p:nvSpPr>
          <p:cNvPr id="26" name="Text 23"/>
          <p:cNvSpPr/>
          <p:nvPr/>
        </p:nvSpPr>
        <p:spPr>
          <a:xfrm>
            <a:off x="6519672" y="4407408"/>
            <a:ext cx="237744" cy="274320"/>
          </a:xfrm>
          <a:prstGeom prst="rect">
            <a:avLst/>
          </a:prstGeom>
          <a:noFill/>
          <a:ln/>
        </p:spPr>
        <p:txBody>
          <a:bodyPr wrap="square" rtlCol="0" anchor="ctr"/>
          <a:lstStyle/>
          <a:p>
            <a:pPr algn="ctr" indent="0" marL="0">
              <a:buNone/>
            </a:pPr>
            <a:r>
              <a:rPr lang="en-US" sz="1100" b="1" dirty="0">
                <a:solidFill>
                  <a:srgbClr val="29C2D8"/>
                </a:solidFill>
                <a:latin typeface="Arial" pitchFamily="34" charset="0"/>
                <a:ea typeface="Arial" pitchFamily="34" charset="-122"/>
                <a:cs typeface="Arial" pitchFamily="34" charset="-120"/>
              </a:rPr>
              <a:t>✓</a:t>
            </a:r>
            <a:endParaRPr lang="en-US" sz="1100" dirty="0"/>
          </a:p>
        </p:txBody>
      </p:sp>
      <p:sp>
        <p:nvSpPr>
          <p:cNvPr id="27" name="Text 24"/>
          <p:cNvSpPr/>
          <p:nvPr/>
        </p:nvSpPr>
        <p:spPr>
          <a:xfrm>
            <a:off x="6903720" y="4389120"/>
            <a:ext cx="2679192" cy="457200"/>
          </a:xfrm>
          <a:prstGeom prst="rect">
            <a:avLst/>
          </a:prstGeom>
          <a:noFill/>
          <a:ln/>
        </p:spPr>
        <p:txBody>
          <a:bodyPr wrap="square" rtlCol="0" anchor="ctr"/>
          <a:lstStyle/>
          <a:p>
            <a:pPr algn="l" indent="0" marL="0">
              <a:buNone/>
            </a:pPr>
            <a:r>
              <a:rPr lang="en-US" sz="1350" b="1" dirty="0">
                <a:solidFill>
                  <a:srgbClr val="EAF1FF"/>
                </a:solidFill>
                <a:latin typeface="Arial" pitchFamily="34" charset="0"/>
                <a:ea typeface="Arial" pitchFamily="34" charset="-122"/>
                <a:cs typeface="Arial" pitchFamily="34" charset="-120"/>
              </a:rPr>
              <a:t>Quick-answer help centre</a:t>
            </a:r>
            <a:endParaRPr lang="en-US" sz="1350" dirty="0"/>
          </a:p>
        </p:txBody>
      </p:sp>
      <p:sp>
        <p:nvSpPr>
          <p:cNvPr id="28" name="Shape 25"/>
          <p:cNvSpPr/>
          <p:nvPr/>
        </p:nvSpPr>
        <p:spPr>
          <a:xfrm>
            <a:off x="9765792" y="2450592"/>
            <a:ext cx="1832640" cy="3694176"/>
          </a:xfrm>
          <a:prstGeom prst="roundRect">
            <a:avLst>
              <a:gd name="adj" fmla="val 6985"/>
            </a:avLst>
          </a:prstGeom>
          <a:solidFill>
            <a:srgbClr val="0A1330"/>
          </a:solidFill>
          <a:ln w="15875">
            <a:solidFill>
              <a:srgbClr val="2A3E66"/>
            </a:solidFill>
            <a:prstDash val="solid"/>
          </a:ln>
          <a:effectLst>
            <a:outerShdw sx="100000" sy="100000" kx="0" ky="0" algn="bl" rotWithShape="0" blurRad="177800" dist="63500" dir="5400000">
              <a:srgbClr val="000000">
                <a:alpha val="45000"/>
              </a:srgbClr>
            </a:outerShdw>
          </a:effectLst>
        </p:spPr>
      </p:sp>
      <p:pic>
        <p:nvPicPr>
          <p:cNvPr id="29" name="Image 1" descr="/tmp/claude-0/-home-user-AI-Agent/58945abb-1ebe-5660-8725-4e1dccac2381/scratchpad/deck-support.png">    </p:cNvPr>
          <p:cNvPicPr>
            <a:picLocks noChangeAspect="1"/>
          </p:cNvPicPr>
          <p:nvPr/>
        </p:nvPicPr>
        <p:blipFill>
          <a:blip r:embed="rId2"/>
          <a:stretch>
            <a:fillRect/>
          </a:stretch>
        </p:blipFill>
        <p:spPr>
          <a:xfrm>
            <a:off x="9829800" y="2514600"/>
            <a:ext cx="1704624" cy="3566160"/>
          </a:xfrm>
          <a:prstGeom prst="rect">
            <a:avLst/>
          </a:prstGeom>
        </p:spPr>
      </p:pic>
      <p:sp>
        <p:nvSpPr>
          <p:cNvPr id="30" name="Text 26"/>
          <p:cNvSpPr/>
          <p:nvPr/>
        </p:nvSpPr>
        <p:spPr>
          <a:xfrm>
            <a:off x="8897112" y="6473952"/>
            <a:ext cx="2926080" cy="274320"/>
          </a:xfrm>
          <a:prstGeom prst="rect">
            <a:avLst/>
          </a:prstGeom>
          <a:noFill/>
          <a:ln/>
        </p:spPr>
        <p:txBody>
          <a:bodyPr wrap="square" rtlCol="0" anchor="ctr"/>
          <a:lstStyle/>
          <a:p>
            <a:pPr algn="r" indent="0" marL="0">
              <a:buNone/>
            </a:pPr>
            <a:r>
              <a:rPr lang="en-US" sz="900" dirty="0">
                <a:solidFill>
                  <a:srgbClr val="7183A8"/>
                </a:solidFill>
                <a:latin typeface="Arial" pitchFamily="34" charset="0"/>
                <a:ea typeface="Arial" pitchFamily="34" charset="-122"/>
                <a:cs typeface="Arial" pitchFamily="34" charset="-120"/>
              </a:rPr>
              <a:t>08  ·  tradeshielduk.org</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81228"/>
        </a:solidFill>
      </p:bgPr>
    </p:bg>
    <p:spTree>
      <p:nvGrpSpPr>
        <p:cNvPr id="1" name=""/>
        <p:cNvGrpSpPr/>
        <p:nvPr/>
      </p:nvGrpSpPr>
      <p:grpSpPr>
        <a:xfrm>
          <a:off x="0" y="0"/>
          <a:ext cx="0" cy="0"/>
          <a:chOff x="0" y="0"/>
          <a:chExt cx="0" cy="0"/>
        </a:xfrm>
      </p:grpSpPr>
      <p:sp>
        <p:nvSpPr>
          <p:cNvPr id="2" name="Text 0"/>
          <p:cNvSpPr/>
          <p:nvPr/>
        </p:nvSpPr>
        <p:spPr>
          <a:xfrm>
            <a:off x="548640" y="502920"/>
            <a:ext cx="7315200" cy="274320"/>
          </a:xfrm>
          <a:prstGeom prst="rect">
            <a:avLst/>
          </a:prstGeom>
          <a:noFill/>
          <a:ln/>
        </p:spPr>
        <p:txBody>
          <a:bodyPr wrap="square" rtlCol="0" anchor="ctr"/>
          <a:lstStyle/>
          <a:p>
            <a:pPr algn="l" indent="0" marL="0">
              <a:buNone/>
            </a:pPr>
            <a:r>
              <a:rPr lang="en-US" sz="1200" b="1" spc="300" kern="0" dirty="0">
                <a:solidFill>
                  <a:srgbClr val="29C2D8"/>
                </a:solidFill>
                <a:latin typeface="Arial" pitchFamily="34" charset="0"/>
                <a:ea typeface="Arial" pitchFamily="34" charset="-122"/>
                <a:cs typeface="Arial" pitchFamily="34" charset="-120"/>
              </a:rPr>
              <a:t>CONNECTED</a:t>
            </a:r>
            <a:endParaRPr lang="en-US" sz="1200" dirty="0"/>
          </a:p>
        </p:txBody>
      </p:sp>
      <p:sp>
        <p:nvSpPr>
          <p:cNvPr id="3" name="Text 1"/>
          <p:cNvSpPr/>
          <p:nvPr/>
        </p:nvSpPr>
        <p:spPr>
          <a:xfrm>
            <a:off x="548640" y="868680"/>
            <a:ext cx="10972800" cy="1005840"/>
          </a:xfrm>
          <a:prstGeom prst="rect">
            <a:avLst/>
          </a:prstGeom>
          <a:noFill/>
          <a:ln/>
        </p:spPr>
        <p:txBody>
          <a:bodyPr wrap="square" rtlCol="0" anchor="ctr"/>
          <a:lstStyle/>
          <a:p>
            <a:pPr algn="l" indent="0" marL="0">
              <a:lnSpc>
                <a:spcPct val="98000"/>
              </a:lnSpc>
              <a:buNone/>
            </a:pPr>
            <a:r>
              <a:rPr lang="en-US" sz="3000" b="1" dirty="0">
                <a:solidFill>
                  <a:srgbClr val="FFFFFF"/>
                </a:solidFill>
                <a:latin typeface="Arial" pitchFamily="34" charset="0"/>
                <a:ea typeface="Arial" pitchFamily="34" charset="-122"/>
                <a:cs typeface="Arial" pitchFamily="34" charset="-120"/>
              </a:rPr>
              <a:t>Your liabilities, synced from your ledgers</a:t>
            </a:r>
            <a:endParaRPr lang="en-US" sz="3000" dirty="0"/>
          </a:p>
        </p:txBody>
      </p:sp>
      <p:sp>
        <p:nvSpPr>
          <p:cNvPr id="4" name="Shape 2"/>
          <p:cNvSpPr/>
          <p:nvPr/>
        </p:nvSpPr>
        <p:spPr>
          <a:xfrm>
            <a:off x="548640" y="2377440"/>
            <a:ext cx="3200400" cy="2011680"/>
          </a:xfrm>
          <a:prstGeom prst="roundRect">
            <a:avLst>
              <a:gd name="adj" fmla="val 5455"/>
            </a:avLst>
          </a:prstGeom>
          <a:solidFill>
            <a:srgbClr val="14264C"/>
          </a:solidFill>
          <a:ln w="12700">
            <a:solidFill>
              <a:srgbClr val="27395F"/>
            </a:solidFill>
            <a:prstDash val="solid"/>
          </a:ln>
        </p:spPr>
      </p:sp>
      <p:sp>
        <p:nvSpPr>
          <p:cNvPr id="5" name="Text 3"/>
          <p:cNvSpPr/>
          <p:nvPr/>
        </p:nvSpPr>
        <p:spPr>
          <a:xfrm>
            <a:off x="777240" y="2633472"/>
            <a:ext cx="2743200" cy="457200"/>
          </a:xfrm>
          <a:prstGeom prst="rect">
            <a:avLst/>
          </a:prstGeom>
          <a:noFill/>
          <a:ln/>
        </p:spPr>
        <p:txBody>
          <a:bodyPr wrap="square" rtlCol="0" anchor="ctr"/>
          <a:lstStyle/>
          <a:p>
            <a:pPr indent="0" marL="0">
              <a:buNone/>
            </a:pPr>
            <a:r>
              <a:rPr lang="en-US" sz="1600" b="1" dirty="0">
                <a:solidFill>
                  <a:srgbClr val="FFFFFF"/>
                </a:solidFill>
                <a:latin typeface="Arial" pitchFamily="34" charset="0"/>
                <a:ea typeface="Arial" pitchFamily="34" charset="-122"/>
                <a:cs typeface="Arial" pitchFamily="34" charset="-120"/>
              </a:rPr>
              <a:t>Xero &amp;</a:t>
            </a:r>
            <a:endParaRPr lang="en-US" sz="1600" dirty="0"/>
          </a:p>
          <a:p>
            <a:pPr indent="0" marL="0">
              <a:buNone/>
            </a:pPr>
            <a:r>
              <a:rPr lang="en-US" sz="1600" b="1" dirty="0">
                <a:solidFill>
                  <a:srgbClr val="FFFFFF"/>
                </a:solidFill>
                <a:latin typeface="Arial" pitchFamily="34" charset="0"/>
                <a:ea typeface="Arial" pitchFamily="34" charset="-122"/>
                <a:cs typeface="Arial" pitchFamily="34" charset="-120"/>
              </a:rPr>
              <a:t>QuickBooks</a:t>
            </a:r>
            <a:endParaRPr lang="en-US" sz="1600" dirty="0"/>
          </a:p>
        </p:txBody>
      </p:sp>
      <p:sp>
        <p:nvSpPr>
          <p:cNvPr id="6" name="Text 4"/>
          <p:cNvSpPr/>
          <p:nvPr/>
        </p:nvSpPr>
        <p:spPr>
          <a:xfrm>
            <a:off x="777240" y="3200400"/>
            <a:ext cx="2743200" cy="1051560"/>
          </a:xfrm>
          <a:prstGeom prst="rect">
            <a:avLst/>
          </a:prstGeom>
          <a:noFill/>
          <a:ln/>
        </p:spPr>
        <p:txBody>
          <a:bodyPr wrap="square" rtlCol="0" anchor="ctr"/>
          <a:lstStyle/>
          <a:p>
            <a:pPr indent="0" marL="0">
              <a:lnSpc>
                <a:spcPct val="103000"/>
              </a:lnSpc>
              <a:buNone/>
            </a:pPr>
            <a:r>
              <a:rPr lang="en-US" sz="1200" dirty="0">
                <a:solidFill>
                  <a:srgbClr val="9FB2D6"/>
                </a:solidFill>
                <a:latin typeface="Arial" pitchFamily="34" charset="0"/>
                <a:ea typeface="Arial" pitchFamily="34" charset="-122"/>
                <a:cs typeface="Arial" pitchFamily="34" charset="-120"/>
              </a:rPr>
              <a:t>Bills, tax and payroll data — read securely via OAuth. TradeShield never moves your money.</a:t>
            </a:r>
            <a:endParaRPr lang="en-US" sz="1200" dirty="0"/>
          </a:p>
        </p:txBody>
      </p:sp>
      <p:sp>
        <p:nvSpPr>
          <p:cNvPr id="7" name="Shape 5"/>
          <p:cNvSpPr/>
          <p:nvPr/>
        </p:nvSpPr>
        <p:spPr>
          <a:xfrm>
            <a:off x="3886200" y="3200400"/>
            <a:ext cx="777240" cy="365760"/>
          </a:xfrm>
          <a:prstGeom prst="rightArrow">
            <a:avLst/>
          </a:prstGeom>
          <a:solidFill>
            <a:srgbClr val="29C2D8"/>
          </a:solidFill>
          <a:ln/>
        </p:spPr>
      </p:sp>
      <p:sp>
        <p:nvSpPr>
          <p:cNvPr id="8" name="Shape 6"/>
          <p:cNvSpPr/>
          <p:nvPr/>
        </p:nvSpPr>
        <p:spPr>
          <a:xfrm>
            <a:off x="4800600" y="2377440"/>
            <a:ext cx="3200400" cy="2011680"/>
          </a:xfrm>
          <a:prstGeom prst="roundRect">
            <a:avLst>
              <a:gd name="adj" fmla="val 5455"/>
            </a:avLst>
          </a:prstGeom>
          <a:solidFill>
            <a:srgbClr val="0F2748"/>
          </a:solidFill>
          <a:ln w="12700">
            <a:solidFill>
              <a:srgbClr val="29C2D8"/>
            </a:solidFill>
            <a:prstDash val="solid"/>
          </a:ln>
        </p:spPr>
      </p:sp>
      <p:sp>
        <p:nvSpPr>
          <p:cNvPr id="9" name="Text 7"/>
          <p:cNvSpPr/>
          <p:nvPr/>
        </p:nvSpPr>
        <p:spPr>
          <a:xfrm>
            <a:off x="5029200" y="2633472"/>
            <a:ext cx="2743200" cy="457200"/>
          </a:xfrm>
          <a:prstGeom prst="rect">
            <a:avLst/>
          </a:prstGeom>
          <a:noFill/>
          <a:ln/>
        </p:spPr>
        <p:txBody>
          <a:bodyPr wrap="square" rtlCol="0" anchor="ctr"/>
          <a:lstStyle/>
          <a:p>
            <a:pPr indent="0" marL="0">
              <a:buNone/>
            </a:pPr>
            <a:r>
              <a:rPr lang="en-US" sz="1600" b="1" dirty="0">
                <a:solidFill>
                  <a:srgbClr val="29C2D8"/>
                </a:solidFill>
                <a:latin typeface="Arial" pitchFamily="34" charset="0"/>
                <a:ea typeface="Arial" pitchFamily="34" charset="-122"/>
                <a:cs typeface="Arial" pitchFamily="34" charset="-120"/>
              </a:rPr>
              <a:t>TradeShield</a:t>
            </a:r>
            <a:endParaRPr lang="en-US" sz="1600" dirty="0"/>
          </a:p>
        </p:txBody>
      </p:sp>
      <p:sp>
        <p:nvSpPr>
          <p:cNvPr id="10" name="Text 8"/>
          <p:cNvSpPr/>
          <p:nvPr/>
        </p:nvSpPr>
        <p:spPr>
          <a:xfrm>
            <a:off x="5029200" y="3200400"/>
            <a:ext cx="2743200" cy="1051560"/>
          </a:xfrm>
          <a:prstGeom prst="rect">
            <a:avLst/>
          </a:prstGeom>
          <a:noFill/>
          <a:ln/>
        </p:spPr>
        <p:txBody>
          <a:bodyPr wrap="square" rtlCol="0" anchor="ctr"/>
          <a:lstStyle/>
          <a:p>
            <a:pPr indent="0" marL="0">
              <a:lnSpc>
                <a:spcPct val="103000"/>
              </a:lnSpc>
              <a:buNone/>
            </a:pPr>
            <a:r>
              <a:rPr lang="en-US" sz="1200" dirty="0">
                <a:solidFill>
                  <a:srgbClr val="9FB2D6"/>
                </a:solidFill>
                <a:latin typeface="Arial" pitchFamily="34" charset="0"/>
                <a:ea typeface="Arial" pitchFamily="34" charset="-122"/>
                <a:cs typeface="Arial" pitchFamily="34" charset="-120"/>
              </a:rPr>
              <a:t>Sync engine maps every bill into the liability register, categorised across HMRC, People, Supply and Risk.</a:t>
            </a:r>
            <a:endParaRPr lang="en-US" sz="1200" dirty="0"/>
          </a:p>
        </p:txBody>
      </p:sp>
      <p:sp>
        <p:nvSpPr>
          <p:cNvPr id="11" name="Shape 9"/>
          <p:cNvSpPr/>
          <p:nvPr/>
        </p:nvSpPr>
        <p:spPr>
          <a:xfrm>
            <a:off x="8138160" y="3200400"/>
            <a:ext cx="777240" cy="365760"/>
          </a:xfrm>
          <a:prstGeom prst="rightArrow">
            <a:avLst/>
          </a:prstGeom>
          <a:solidFill>
            <a:srgbClr val="29C2D8"/>
          </a:solidFill>
          <a:ln/>
        </p:spPr>
      </p:sp>
      <p:sp>
        <p:nvSpPr>
          <p:cNvPr id="12" name="Shape 10"/>
          <p:cNvSpPr/>
          <p:nvPr/>
        </p:nvSpPr>
        <p:spPr>
          <a:xfrm>
            <a:off x="9052560" y="2377440"/>
            <a:ext cx="2587752" cy="2011680"/>
          </a:xfrm>
          <a:prstGeom prst="roundRect">
            <a:avLst>
              <a:gd name="adj" fmla="val 5455"/>
            </a:avLst>
          </a:prstGeom>
          <a:solidFill>
            <a:srgbClr val="14264C"/>
          </a:solidFill>
          <a:ln w="12700">
            <a:solidFill>
              <a:srgbClr val="27395F"/>
            </a:solidFill>
            <a:prstDash val="solid"/>
          </a:ln>
        </p:spPr>
      </p:sp>
      <p:sp>
        <p:nvSpPr>
          <p:cNvPr id="13" name="Text 11"/>
          <p:cNvSpPr/>
          <p:nvPr/>
        </p:nvSpPr>
        <p:spPr>
          <a:xfrm>
            <a:off x="9281160" y="2633472"/>
            <a:ext cx="2130552" cy="457200"/>
          </a:xfrm>
          <a:prstGeom prst="rect">
            <a:avLst/>
          </a:prstGeom>
          <a:noFill/>
          <a:ln/>
        </p:spPr>
        <p:txBody>
          <a:bodyPr wrap="square" rtlCol="0" anchor="ctr"/>
          <a:lstStyle/>
          <a:p>
            <a:pPr indent="0" marL="0">
              <a:buNone/>
            </a:pPr>
            <a:r>
              <a:rPr lang="en-US" sz="1600" b="1" dirty="0">
                <a:solidFill>
                  <a:srgbClr val="D8B866"/>
                </a:solidFill>
                <a:latin typeface="Arial" pitchFamily="34" charset="0"/>
                <a:ea typeface="Arial" pitchFamily="34" charset="-122"/>
                <a:cs typeface="Arial" pitchFamily="34" charset="-120"/>
              </a:rPr>
              <a:t>Your view</a:t>
            </a:r>
            <a:endParaRPr lang="en-US" sz="1600" dirty="0"/>
          </a:p>
        </p:txBody>
      </p:sp>
      <p:sp>
        <p:nvSpPr>
          <p:cNvPr id="14" name="Text 12"/>
          <p:cNvSpPr/>
          <p:nvPr/>
        </p:nvSpPr>
        <p:spPr>
          <a:xfrm>
            <a:off x="9281160" y="3200400"/>
            <a:ext cx="2130552" cy="1051560"/>
          </a:xfrm>
          <a:prstGeom prst="rect">
            <a:avLst/>
          </a:prstGeom>
          <a:noFill/>
          <a:ln/>
        </p:spPr>
        <p:txBody>
          <a:bodyPr wrap="square" rtlCol="0" anchor="ctr"/>
          <a:lstStyle/>
          <a:p>
            <a:pPr indent="0" marL="0">
              <a:lnSpc>
                <a:spcPct val="103000"/>
              </a:lnSpc>
              <a:buNone/>
            </a:pPr>
            <a:r>
              <a:rPr lang="en-US" sz="1200" dirty="0">
                <a:solidFill>
                  <a:srgbClr val="9FB2D6"/>
                </a:solidFill>
                <a:latin typeface="Arial" pitchFamily="34" charset="0"/>
                <a:ea typeface="Arial" pitchFamily="34" charset="-122"/>
                <a:cs typeface="Arial" pitchFamily="34" charset="-120"/>
              </a:rPr>
              <a:t>A live, categorised, reconciled position — always current.</a:t>
            </a:r>
            <a:endParaRPr lang="en-US" sz="1200" dirty="0"/>
          </a:p>
        </p:txBody>
      </p:sp>
      <p:sp>
        <p:nvSpPr>
          <p:cNvPr id="15" name="Shape 13"/>
          <p:cNvSpPr/>
          <p:nvPr/>
        </p:nvSpPr>
        <p:spPr>
          <a:xfrm>
            <a:off x="548640" y="4846320"/>
            <a:ext cx="11091672" cy="1371600"/>
          </a:xfrm>
          <a:prstGeom prst="roundRect">
            <a:avLst>
              <a:gd name="adj" fmla="val 8000"/>
            </a:avLst>
          </a:prstGeom>
          <a:solidFill>
            <a:srgbClr val="0E1C3C"/>
          </a:solidFill>
          <a:ln w="12700">
            <a:solidFill>
              <a:srgbClr val="27395F"/>
            </a:solidFill>
            <a:prstDash val="solid"/>
          </a:ln>
        </p:spPr>
      </p:sp>
      <p:sp>
        <p:nvSpPr>
          <p:cNvPr id="16" name="Text 14"/>
          <p:cNvSpPr/>
          <p:nvPr/>
        </p:nvSpPr>
        <p:spPr>
          <a:xfrm>
            <a:off x="868680" y="4846320"/>
            <a:ext cx="10424160" cy="1371600"/>
          </a:xfrm>
          <a:prstGeom prst="rect">
            <a:avLst/>
          </a:prstGeom>
          <a:noFill/>
          <a:ln/>
        </p:spPr>
        <p:txBody>
          <a:bodyPr wrap="square" rtlCol="0" anchor="ctr"/>
          <a:lstStyle/>
          <a:p>
            <a:pPr algn="l" indent="0" marL="0">
              <a:lnSpc>
                <a:spcPct val="105000"/>
              </a:lnSpc>
              <a:buNone/>
            </a:pPr>
            <a:r>
              <a:rPr lang="en-US" sz="1400" b="1" dirty="0">
                <a:solidFill>
                  <a:srgbClr val="29C2D8"/>
                </a:solidFill>
                <a:latin typeface="Arial" pitchFamily="34" charset="0"/>
                <a:ea typeface="Arial" pitchFamily="34" charset="-122"/>
                <a:cs typeface="Arial" pitchFamily="34" charset="-120"/>
              </a:rPr>
              <a:t>Built for live data.  </a:t>
            </a:r>
            <a:pPr algn="l" indent="0" marL="0">
              <a:lnSpc>
                <a:spcPct val="105000"/>
              </a:lnSpc>
              <a:buNone/>
            </a:pPr>
            <a:r>
              <a:rPr lang="en-US" sz="1400" dirty="0">
                <a:solidFill>
                  <a:srgbClr val="EAF1FF"/>
                </a:solidFill>
                <a:latin typeface="Arial" pitchFamily="34" charset="0"/>
                <a:ea typeface="Arial" pitchFamily="34" charset="-122"/>
                <a:cs typeface="Arial" pitchFamily="34" charset="-120"/>
              </a:rPr>
              <a:t>The sync engine and data mapping are in place today. Going live connects your Xero / QuickBooks developer credentials through a secure backend — no rebuild required.</a:t>
            </a:r>
            <a:endParaRPr lang="en-US" sz="1400" dirty="0"/>
          </a:p>
        </p:txBody>
      </p:sp>
      <p:sp>
        <p:nvSpPr>
          <p:cNvPr id="17" name="Text 15"/>
          <p:cNvSpPr/>
          <p:nvPr/>
        </p:nvSpPr>
        <p:spPr>
          <a:xfrm>
            <a:off x="8897112" y="6473952"/>
            <a:ext cx="2926080" cy="274320"/>
          </a:xfrm>
          <a:prstGeom prst="rect">
            <a:avLst/>
          </a:prstGeom>
          <a:noFill/>
          <a:ln/>
        </p:spPr>
        <p:txBody>
          <a:bodyPr wrap="square" rtlCol="0" anchor="ctr"/>
          <a:lstStyle/>
          <a:p>
            <a:pPr algn="r" indent="0" marL="0">
              <a:buNone/>
            </a:pPr>
            <a:r>
              <a:rPr lang="en-US" sz="900" dirty="0">
                <a:solidFill>
                  <a:srgbClr val="7183A8"/>
                </a:solidFill>
                <a:latin typeface="Arial" pitchFamily="34" charset="0"/>
                <a:ea typeface="Arial" pitchFamily="34" charset="-122"/>
                <a:cs typeface="Arial" pitchFamily="34" charset="-120"/>
              </a:rPr>
              <a:t>09  ·  tradeshielduk.org</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81228"/>
        </a:solidFill>
      </p:bgPr>
    </p:bg>
    <p:spTree>
      <p:nvGrpSpPr>
        <p:cNvPr id="1" name=""/>
        <p:cNvGrpSpPr/>
        <p:nvPr/>
      </p:nvGrpSpPr>
      <p:grpSpPr>
        <a:xfrm>
          <a:off x="0" y="0"/>
          <a:ext cx="0" cy="0"/>
          <a:chOff x="0" y="0"/>
          <a:chExt cx="0" cy="0"/>
        </a:xfrm>
      </p:grpSpPr>
      <p:sp>
        <p:nvSpPr>
          <p:cNvPr id="2" name="Text 0"/>
          <p:cNvSpPr/>
          <p:nvPr/>
        </p:nvSpPr>
        <p:spPr>
          <a:xfrm>
            <a:off x="548640" y="502920"/>
            <a:ext cx="7315200" cy="274320"/>
          </a:xfrm>
          <a:prstGeom prst="rect">
            <a:avLst/>
          </a:prstGeom>
          <a:noFill/>
          <a:ln/>
        </p:spPr>
        <p:txBody>
          <a:bodyPr wrap="square" rtlCol="0" anchor="ctr"/>
          <a:lstStyle/>
          <a:p>
            <a:pPr algn="l" indent="0" marL="0">
              <a:buNone/>
            </a:pPr>
            <a:r>
              <a:rPr lang="en-US" sz="1200" b="1" spc="300" kern="0" dirty="0">
                <a:solidFill>
                  <a:srgbClr val="29C2D8"/>
                </a:solidFill>
                <a:latin typeface="Arial" pitchFamily="34" charset="0"/>
                <a:ea typeface="Arial" pitchFamily="34" charset="-122"/>
                <a:cs typeface="Arial" pitchFamily="34" charset="-120"/>
              </a:rPr>
              <a:t>HOW IT WORKS IN PRACTICE</a:t>
            </a:r>
            <a:endParaRPr lang="en-US" sz="1200" dirty="0"/>
          </a:p>
        </p:txBody>
      </p:sp>
      <p:sp>
        <p:nvSpPr>
          <p:cNvPr id="3" name="Text 1"/>
          <p:cNvSpPr/>
          <p:nvPr/>
        </p:nvSpPr>
        <p:spPr>
          <a:xfrm>
            <a:off x="548640" y="868680"/>
            <a:ext cx="10972800" cy="1005840"/>
          </a:xfrm>
          <a:prstGeom prst="rect">
            <a:avLst/>
          </a:prstGeom>
          <a:noFill/>
          <a:ln/>
        </p:spPr>
        <p:txBody>
          <a:bodyPr wrap="square" rtlCol="0" anchor="ctr"/>
          <a:lstStyle/>
          <a:p>
            <a:pPr algn="l" indent="0" marL="0">
              <a:lnSpc>
                <a:spcPct val="98000"/>
              </a:lnSpc>
              <a:buNone/>
            </a:pPr>
            <a:r>
              <a:rPr lang="en-US" sz="3000" b="1" dirty="0">
                <a:solidFill>
                  <a:srgbClr val="FFFFFF"/>
                </a:solidFill>
                <a:latin typeface="Arial" pitchFamily="34" charset="0"/>
                <a:ea typeface="Arial" pitchFamily="34" charset="-122"/>
                <a:cs typeface="Arial" pitchFamily="34" charset="-120"/>
              </a:rPr>
              <a:t>A disciplined rhythm, from capture to review</a:t>
            </a:r>
            <a:endParaRPr lang="en-US" sz="3000" dirty="0"/>
          </a:p>
        </p:txBody>
      </p:sp>
      <p:sp>
        <p:nvSpPr>
          <p:cNvPr id="4" name="Shape 2"/>
          <p:cNvSpPr/>
          <p:nvPr/>
        </p:nvSpPr>
        <p:spPr>
          <a:xfrm>
            <a:off x="1143000" y="2514600"/>
            <a:ext cx="9875520" cy="0"/>
          </a:xfrm>
          <a:prstGeom prst="line">
            <a:avLst/>
          </a:prstGeom>
          <a:noFill/>
          <a:ln w="25400">
            <a:solidFill>
              <a:srgbClr val="27395F"/>
            </a:solidFill>
            <a:prstDash val="solid"/>
          </a:ln>
        </p:spPr>
      </p:sp>
      <p:sp>
        <p:nvSpPr>
          <p:cNvPr id="5" name="Shape 3"/>
          <p:cNvSpPr/>
          <p:nvPr/>
        </p:nvSpPr>
        <p:spPr>
          <a:xfrm>
            <a:off x="914400" y="2286000"/>
            <a:ext cx="457200" cy="457200"/>
          </a:xfrm>
          <a:prstGeom prst="oval">
            <a:avLst/>
          </a:prstGeom>
          <a:solidFill>
            <a:srgbClr val="3B82F6"/>
          </a:solidFill>
          <a:ln/>
        </p:spPr>
      </p:sp>
      <p:sp>
        <p:nvSpPr>
          <p:cNvPr id="6" name="Text 4"/>
          <p:cNvSpPr/>
          <p:nvPr/>
        </p:nvSpPr>
        <p:spPr>
          <a:xfrm>
            <a:off x="914400" y="2267712"/>
            <a:ext cx="457200" cy="475488"/>
          </a:xfrm>
          <a:prstGeom prst="rect">
            <a:avLst/>
          </a:prstGeom>
          <a:noFill/>
          <a:ln/>
        </p:spPr>
        <p:txBody>
          <a:bodyPr wrap="square" rtlCol="0" anchor="ctr"/>
          <a:lstStyle/>
          <a:p>
            <a:pPr algn="ctr" indent="0" marL="0">
              <a:buNone/>
            </a:pPr>
            <a:r>
              <a:rPr lang="en-US" sz="1700" b="1" dirty="0">
                <a:solidFill>
                  <a:srgbClr val="04121E"/>
                </a:solidFill>
                <a:latin typeface="Arial" pitchFamily="34" charset="0"/>
                <a:ea typeface="Arial" pitchFamily="34" charset="-122"/>
                <a:cs typeface="Arial" pitchFamily="34" charset="-120"/>
              </a:rPr>
              <a:t>1</a:t>
            </a:r>
            <a:endParaRPr lang="en-US" sz="1700" dirty="0"/>
          </a:p>
        </p:txBody>
      </p:sp>
      <p:sp>
        <p:nvSpPr>
          <p:cNvPr id="7" name="Text 5"/>
          <p:cNvSpPr/>
          <p:nvPr/>
        </p:nvSpPr>
        <p:spPr>
          <a:xfrm>
            <a:off x="411480" y="2880360"/>
            <a:ext cx="1463040" cy="320040"/>
          </a:xfrm>
          <a:prstGeom prst="rect">
            <a:avLst/>
          </a:prstGeom>
          <a:noFill/>
          <a:ln/>
        </p:spPr>
        <p:txBody>
          <a:bodyPr wrap="square"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Capture</a:t>
            </a:r>
            <a:endParaRPr lang="en-US" sz="1500" dirty="0"/>
          </a:p>
        </p:txBody>
      </p:sp>
      <p:sp>
        <p:nvSpPr>
          <p:cNvPr id="8" name="Text 6"/>
          <p:cNvSpPr/>
          <p:nvPr/>
        </p:nvSpPr>
        <p:spPr>
          <a:xfrm>
            <a:off x="274320" y="3200400"/>
            <a:ext cx="1737360" cy="548640"/>
          </a:xfrm>
          <a:prstGeom prst="rect">
            <a:avLst/>
          </a:prstGeom>
          <a:noFill/>
          <a:ln/>
        </p:spPr>
        <p:txBody>
          <a:bodyPr wrap="square" rtlCol="0" anchor="ctr"/>
          <a:lstStyle/>
          <a:p>
            <a:pPr algn="ctr" indent="0" marL="0">
              <a:lnSpc>
                <a:spcPct val="95000"/>
              </a:lnSpc>
              <a:buNone/>
            </a:pPr>
            <a:r>
              <a:rPr lang="en-US" sz="1050" dirty="0">
                <a:solidFill>
                  <a:srgbClr val="7183A8"/>
                </a:solidFill>
                <a:latin typeface="Arial" pitchFamily="34" charset="0"/>
                <a:ea typeface="Arial" pitchFamily="34" charset="-122"/>
                <a:cs typeface="Arial" pitchFamily="34" charset="-120"/>
              </a:rPr>
              <a:t>New liabilities &amp; documents</a:t>
            </a:r>
            <a:endParaRPr lang="en-US" sz="1050" dirty="0"/>
          </a:p>
        </p:txBody>
      </p:sp>
      <p:sp>
        <p:nvSpPr>
          <p:cNvPr id="9" name="Shape 7"/>
          <p:cNvSpPr/>
          <p:nvPr/>
        </p:nvSpPr>
        <p:spPr>
          <a:xfrm>
            <a:off x="3383280" y="2286000"/>
            <a:ext cx="457200" cy="457200"/>
          </a:xfrm>
          <a:prstGeom prst="oval">
            <a:avLst/>
          </a:prstGeom>
          <a:solidFill>
            <a:srgbClr val="8A7BFF"/>
          </a:solidFill>
          <a:ln/>
        </p:spPr>
      </p:sp>
      <p:sp>
        <p:nvSpPr>
          <p:cNvPr id="10" name="Text 8"/>
          <p:cNvSpPr/>
          <p:nvPr/>
        </p:nvSpPr>
        <p:spPr>
          <a:xfrm>
            <a:off x="3383280" y="2267712"/>
            <a:ext cx="457200" cy="475488"/>
          </a:xfrm>
          <a:prstGeom prst="rect">
            <a:avLst/>
          </a:prstGeom>
          <a:noFill/>
          <a:ln/>
        </p:spPr>
        <p:txBody>
          <a:bodyPr wrap="square" rtlCol="0" anchor="ctr"/>
          <a:lstStyle/>
          <a:p>
            <a:pPr algn="ctr" indent="0" marL="0">
              <a:buNone/>
            </a:pPr>
            <a:r>
              <a:rPr lang="en-US" sz="1700" b="1" dirty="0">
                <a:solidFill>
                  <a:srgbClr val="04121E"/>
                </a:solidFill>
                <a:latin typeface="Arial" pitchFamily="34" charset="0"/>
                <a:ea typeface="Arial" pitchFamily="34" charset="-122"/>
                <a:cs typeface="Arial" pitchFamily="34" charset="-120"/>
              </a:rPr>
              <a:t>2</a:t>
            </a:r>
            <a:endParaRPr lang="en-US" sz="1700" dirty="0"/>
          </a:p>
        </p:txBody>
      </p:sp>
      <p:sp>
        <p:nvSpPr>
          <p:cNvPr id="11" name="Text 9"/>
          <p:cNvSpPr/>
          <p:nvPr/>
        </p:nvSpPr>
        <p:spPr>
          <a:xfrm>
            <a:off x="2880360" y="2880360"/>
            <a:ext cx="1463040" cy="320040"/>
          </a:xfrm>
          <a:prstGeom prst="rect">
            <a:avLst/>
          </a:prstGeom>
          <a:noFill/>
          <a:ln/>
        </p:spPr>
        <p:txBody>
          <a:bodyPr wrap="square"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Validate</a:t>
            </a:r>
            <a:endParaRPr lang="en-US" sz="1500" dirty="0"/>
          </a:p>
        </p:txBody>
      </p:sp>
      <p:sp>
        <p:nvSpPr>
          <p:cNvPr id="12" name="Text 10"/>
          <p:cNvSpPr/>
          <p:nvPr/>
        </p:nvSpPr>
        <p:spPr>
          <a:xfrm>
            <a:off x="2743200" y="3200400"/>
            <a:ext cx="1737360" cy="548640"/>
          </a:xfrm>
          <a:prstGeom prst="rect">
            <a:avLst/>
          </a:prstGeom>
          <a:noFill/>
          <a:ln/>
        </p:spPr>
        <p:txBody>
          <a:bodyPr wrap="square" rtlCol="0" anchor="ctr"/>
          <a:lstStyle/>
          <a:p>
            <a:pPr algn="ctr" indent="0" marL="0">
              <a:lnSpc>
                <a:spcPct val="95000"/>
              </a:lnSpc>
              <a:buNone/>
            </a:pPr>
            <a:r>
              <a:rPr lang="en-US" sz="1050" dirty="0">
                <a:solidFill>
                  <a:srgbClr val="7183A8"/>
                </a:solidFill>
                <a:latin typeface="Arial" pitchFamily="34" charset="0"/>
                <a:ea typeface="Arial" pitchFamily="34" charset="-122"/>
                <a:cs typeface="Arial" pitchFamily="34" charset="-120"/>
              </a:rPr>
              <a:t>Amount, date &amp; obligor</a:t>
            </a:r>
            <a:endParaRPr lang="en-US" sz="1050" dirty="0"/>
          </a:p>
        </p:txBody>
      </p:sp>
      <p:sp>
        <p:nvSpPr>
          <p:cNvPr id="13" name="Shape 11"/>
          <p:cNvSpPr/>
          <p:nvPr/>
        </p:nvSpPr>
        <p:spPr>
          <a:xfrm>
            <a:off x="5852160" y="2286000"/>
            <a:ext cx="457200" cy="457200"/>
          </a:xfrm>
          <a:prstGeom prst="oval">
            <a:avLst/>
          </a:prstGeom>
          <a:solidFill>
            <a:srgbClr val="29C2D8"/>
          </a:solidFill>
          <a:ln/>
        </p:spPr>
      </p:sp>
      <p:sp>
        <p:nvSpPr>
          <p:cNvPr id="14" name="Text 12"/>
          <p:cNvSpPr/>
          <p:nvPr/>
        </p:nvSpPr>
        <p:spPr>
          <a:xfrm>
            <a:off x="5852160" y="2267712"/>
            <a:ext cx="457200" cy="475488"/>
          </a:xfrm>
          <a:prstGeom prst="rect">
            <a:avLst/>
          </a:prstGeom>
          <a:noFill/>
          <a:ln/>
        </p:spPr>
        <p:txBody>
          <a:bodyPr wrap="square" rtlCol="0" anchor="ctr"/>
          <a:lstStyle/>
          <a:p>
            <a:pPr algn="ctr" indent="0" marL="0">
              <a:buNone/>
            </a:pPr>
            <a:r>
              <a:rPr lang="en-US" sz="1700" b="1" dirty="0">
                <a:solidFill>
                  <a:srgbClr val="04121E"/>
                </a:solidFill>
                <a:latin typeface="Arial" pitchFamily="34" charset="0"/>
                <a:ea typeface="Arial" pitchFamily="34" charset="-122"/>
                <a:cs typeface="Arial" pitchFamily="34" charset="-120"/>
              </a:rPr>
              <a:t>3</a:t>
            </a:r>
            <a:endParaRPr lang="en-US" sz="1700" dirty="0"/>
          </a:p>
        </p:txBody>
      </p:sp>
      <p:sp>
        <p:nvSpPr>
          <p:cNvPr id="15" name="Text 13"/>
          <p:cNvSpPr/>
          <p:nvPr/>
        </p:nvSpPr>
        <p:spPr>
          <a:xfrm>
            <a:off x="5349240" y="2880360"/>
            <a:ext cx="1463040" cy="320040"/>
          </a:xfrm>
          <a:prstGeom prst="rect">
            <a:avLst/>
          </a:prstGeom>
          <a:noFill/>
          <a:ln/>
        </p:spPr>
        <p:txBody>
          <a:bodyPr wrap="square"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Fund</a:t>
            </a:r>
            <a:endParaRPr lang="en-US" sz="1500" dirty="0"/>
          </a:p>
        </p:txBody>
      </p:sp>
      <p:sp>
        <p:nvSpPr>
          <p:cNvPr id="16" name="Text 14"/>
          <p:cNvSpPr/>
          <p:nvPr/>
        </p:nvSpPr>
        <p:spPr>
          <a:xfrm>
            <a:off x="5212080" y="3200400"/>
            <a:ext cx="1737360" cy="548640"/>
          </a:xfrm>
          <a:prstGeom prst="rect">
            <a:avLst/>
          </a:prstGeom>
          <a:noFill/>
          <a:ln/>
        </p:spPr>
        <p:txBody>
          <a:bodyPr wrap="square" rtlCol="0" anchor="ctr"/>
          <a:lstStyle/>
          <a:p>
            <a:pPr algn="ctr" indent="0" marL="0">
              <a:lnSpc>
                <a:spcPct val="95000"/>
              </a:lnSpc>
              <a:buNone/>
            </a:pPr>
            <a:r>
              <a:rPr lang="en-US" sz="1050" dirty="0">
                <a:solidFill>
                  <a:srgbClr val="7183A8"/>
                </a:solidFill>
                <a:latin typeface="Arial" pitchFamily="34" charset="0"/>
                <a:ea typeface="Arial" pitchFamily="34" charset="-122"/>
                <a:cs typeface="Arial" pitchFamily="34" charset="-120"/>
              </a:rPr>
              <a:t>Allocation &amp; invoice status</a:t>
            </a:r>
            <a:endParaRPr lang="en-US" sz="1050" dirty="0"/>
          </a:p>
        </p:txBody>
      </p:sp>
      <p:sp>
        <p:nvSpPr>
          <p:cNvPr id="17" name="Shape 15"/>
          <p:cNvSpPr/>
          <p:nvPr/>
        </p:nvSpPr>
        <p:spPr>
          <a:xfrm>
            <a:off x="8321040" y="2286000"/>
            <a:ext cx="457200" cy="457200"/>
          </a:xfrm>
          <a:prstGeom prst="oval">
            <a:avLst/>
          </a:prstGeom>
          <a:solidFill>
            <a:srgbClr val="3B82F6"/>
          </a:solidFill>
          <a:ln/>
        </p:spPr>
      </p:sp>
      <p:sp>
        <p:nvSpPr>
          <p:cNvPr id="18" name="Text 16"/>
          <p:cNvSpPr/>
          <p:nvPr/>
        </p:nvSpPr>
        <p:spPr>
          <a:xfrm>
            <a:off x="8321040" y="2267712"/>
            <a:ext cx="457200" cy="475488"/>
          </a:xfrm>
          <a:prstGeom prst="rect">
            <a:avLst/>
          </a:prstGeom>
          <a:noFill/>
          <a:ln/>
        </p:spPr>
        <p:txBody>
          <a:bodyPr wrap="square" rtlCol="0" anchor="ctr"/>
          <a:lstStyle/>
          <a:p>
            <a:pPr algn="ctr" indent="0" marL="0">
              <a:buNone/>
            </a:pPr>
            <a:r>
              <a:rPr lang="en-US" sz="1700" b="1" dirty="0">
                <a:solidFill>
                  <a:srgbClr val="04121E"/>
                </a:solidFill>
                <a:latin typeface="Arial" pitchFamily="34" charset="0"/>
                <a:ea typeface="Arial" pitchFamily="34" charset="-122"/>
                <a:cs typeface="Arial" pitchFamily="34" charset="-120"/>
              </a:rPr>
              <a:t>4</a:t>
            </a:r>
            <a:endParaRPr lang="en-US" sz="1700" dirty="0"/>
          </a:p>
        </p:txBody>
      </p:sp>
      <p:sp>
        <p:nvSpPr>
          <p:cNvPr id="19" name="Text 17"/>
          <p:cNvSpPr/>
          <p:nvPr/>
        </p:nvSpPr>
        <p:spPr>
          <a:xfrm>
            <a:off x="7818120" y="2880360"/>
            <a:ext cx="1463040" cy="320040"/>
          </a:xfrm>
          <a:prstGeom prst="rect">
            <a:avLst/>
          </a:prstGeom>
          <a:noFill/>
          <a:ln/>
        </p:spPr>
        <p:txBody>
          <a:bodyPr wrap="square"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Pay</a:t>
            </a:r>
            <a:endParaRPr lang="en-US" sz="1500" dirty="0"/>
          </a:p>
        </p:txBody>
      </p:sp>
      <p:sp>
        <p:nvSpPr>
          <p:cNvPr id="20" name="Text 18"/>
          <p:cNvSpPr/>
          <p:nvPr/>
        </p:nvSpPr>
        <p:spPr>
          <a:xfrm>
            <a:off x="7680960" y="3200400"/>
            <a:ext cx="1737360" cy="548640"/>
          </a:xfrm>
          <a:prstGeom prst="rect">
            <a:avLst/>
          </a:prstGeom>
          <a:noFill/>
          <a:ln/>
        </p:spPr>
        <p:txBody>
          <a:bodyPr wrap="square" rtlCol="0" anchor="ctr"/>
          <a:lstStyle/>
          <a:p>
            <a:pPr algn="ctr" indent="0" marL="0">
              <a:lnSpc>
                <a:spcPct val="95000"/>
              </a:lnSpc>
              <a:buNone/>
            </a:pPr>
            <a:r>
              <a:rPr lang="en-US" sz="1050" dirty="0">
                <a:solidFill>
                  <a:srgbClr val="7183A8"/>
                </a:solidFill>
                <a:latin typeface="Arial" pitchFamily="34" charset="0"/>
                <a:ea typeface="Arial" pitchFamily="34" charset="-122"/>
                <a:cs typeface="Arial" pitchFamily="34" charset="-120"/>
              </a:rPr>
              <a:t>Reference &amp; confirmation</a:t>
            </a:r>
            <a:endParaRPr lang="en-US" sz="1050" dirty="0"/>
          </a:p>
        </p:txBody>
      </p:sp>
      <p:sp>
        <p:nvSpPr>
          <p:cNvPr id="21" name="Shape 19"/>
          <p:cNvSpPr/>
          <p:nvPr/>
        </p:nvSpPr>
        <p:spPr>
          <a:xfrm>
            <a:off x="10789920" y="2286000"/>
            <a:ext cx="457200" cy="457200"/>
          </a:xfrm>
          <a:prstGeom prst="oval">
            <a:avLst/>
          </a:prstGeom>
          <a:solidFill>
            <a:srgbClr val="35D29A"/>
          </a:solidFill>
          <a:ln/>
        </p:spPr>
      </p:sp>
      <p:sp>
        <p:nvSpPr>
          <p:cNvPr id="22" name="Text 20"/>
          <p:cNvSpPr/>
          <p:nvPr/>
        </p:nvSpPr>
        <p:spPr>
          <a:xfrm>
            <a:off x="10789920" y="2267712"/>
            <a:ext cx="457200" cy="475488"/>
          </a:xfrm>
          <a:prstGeom prst="rect">
            <a:avLst/>
          </a:prstGeom>
          <a:noFill/>
          <a:ln/>
        </p:spPr>
        <p:txBody>
          <a:bodyPr wrap="square" rtlCol="0" anchor="ctr"/>
          <a:lstStyle/>
          <a:p>
            <a:pPr algn="ctr" indent="0" marL="0">
              <a:buNone/>
            </a:pPr>
            <a:r>
              <a:rPr lang="en-US" sz="1700" b="1" dirty="0">
                <a:solidFill>
                  <a:srgbClr val="04121E"/>
                </a:solidFill>
                <a:latin typeface="Arial" pitchFamily="34" charset="0"/>
                <a:ea typeface="Arial" pitchFamily="34" charset="-122"/>
                <a:cs typeface="Arial" pitchFamily="34" charset="-120"/>
              </a:rPr>
              <a:t>5</a:t>
            </a:r>
            <a:endParaRPr lang="en-US" sz="1700" dirty="0"/>
          </a:p>
        </p:txBody>
      </p:sp>
      <p:sp>
        <p:nvSpPr>
          <p:cNvPr id="23" name="Text 21"/>
          <p:cNvSpPr/>
          <p:nvPr/>
        </p:nvSpPr>
        <p:spPr>
          <a:xfrm>
            <a:off x="10287000" y="2880360"/>
            <a:ext cx="1463040" cy="320040"/>
          </a:xfrm>
          <a:prstGeom prst="rect">
            <a:avLst/>
          </a:prstGeom>
          <a:noFill/>
          <a:ln/>
        </p:spPr>
        <p:txBody>
          <a:bodyPr wrap="square"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Review</a:t>
            </a:r>
            <a:endParaRPr lang="en-US" sz="1500" dirty="0"/>
          </a:p>
        </p:txBody>
      </p:sp>
      <p:sp>
        <p:nvSpPr>
          <p:cNvPr id="24" name="Text 22"/>
          <p:cNvSpPr/>
          <p:nvPr/>
        </p:nvSpPr>
        <p:spPr>
          <a:xfrm>
            <a:off x="10149840" y="3200400"/>
            <a:ext cx="1737360" cy="548640"/>
          </a:xfrm>
          <a:prstGeom prst="rect">
            <a:avLst/>
          </a:prstGeom>
          <a:noFill/>
          <a:ln/>
        </p:spPr>
        <p:txBody>
          <a:bodyPr wrap="square" rtlCol="0" anchor="ctr"/>
          <a:lstStyle/>
          <a:p>
            <a:pPr algn="ctr" indent="0" marL="0">
              <a:lnSpc>
                <a:spcPct val="95000"/>
              </a:lnSpc>
              <a:buNone/>
            </a:pPr>
            <a:r>
              <a:rPr lang="en-US" sz="1050" dirty="0">
                <a:solidFill>
                  <a:srgbClr val="7183A8"/>
                </a:solidFill>
                <a:latin typeface="Arial" pitchFamily="34" charset="0"/>
                <a:ea typeface="Arial" pitchFamily="34" charset="-122"/>
                <a:cs typeface="Arial" pitchFamily="34" charset="-120"/>
              </a:rPr>
              <a:t>Reconcile &amp; report</a:t>
            </a:r>
            <a:endParaRPr lang="en-US" sz="1050" dirty="0"/>
          </a:p>
        </p:txBody>
      </p:sp>
      <p:sp>
        <p:nvSpPr>
          <p:cNvPr id="25" name="Shape 23"/>
          <p:cNvSpPr/>
          <p:nvPr/>
        </p:nvSpPr>
        <p:spPr>
          <a:xfrm>
            <a:off x="548640" y="4114800"/>
            <a:ext cx="2651760" cy="1920240"/>
          </a:xfrm>
          <a:prstGeom prst="roundRect">
            <a:avLst>
              <a:gd name="adj" fmla="val 5714"/>
            </a:avLst>
          </a:prstGeom>
          <a:solidFill>
            <a:srgbClr val="14264C"/>
          </a:solidFill>
          <a:ln w="12700">
            <a:solidFill>
              <a:srgbClr val="27395F"/>
            </a:solidFill>
            <a:prstDash val="solid"/>
          </a:ln>
        </p:spPr>
      </p:sp>
      <p:sp>
        <p:nvSpPr>
          <p:cNvPr id="26" name="Text 24"/>
          <p:cNvSpPr/>
          <p:nvPr/>
        </p:nvSpPr>
        <p:spPr>
          <a:xfrm>
            <a:off x="777240" y="4343400"/>
            <a:ext cx="2194560" cy="320040"/>
          </a:xfrm>
          <a:prstGeom prst="rect">
            <a:avLst/>
          </a:prstGeom>
          <a:noFill/>
          <a:ln/>
        </p:spPr>
        <p:txBody>
          <a:bodyPr wrap="square" rtlCol="0" anchor="ctr"/>
          <a:lstStyle/>
          <a:p>
            <a:pPr indent="0" marL="0">
              <a:buNone/>
            </a:pPr>
            <a:r>
              <a:rPr lang="en-US" sz="1300" b="1" spc="100" kern="0" dirty="0">
                <a:solidFill>
                  <a:srgbClr val="29C2D8"/>
                </a:solidFill>
                <a:latin typeface="Arial" pitchFamily="34" charset="0"/>
                <a:ea typeface="Arial" pitchFamily="34" charset="-122"/>
                <a:cs typeface="Arial" pitchFamily="34" charset="-120"/>
              </a:rPr>
              <a:t>DAILY</a:t>
            </a:r>
            <a:endParaRPr lang="en-US" sz="1300" dirty="0"/>
          </a:p>
        </p:txBody>
      </p:sp>
      <p:sp>
        <p:nvSpPr>
          <p:cNvPr id="27" name="Text 25"/>
          <p:cNvSpPr/>
          <p:nvPr/>
        </p:nvSpPr>
        <p:spPr>
          <a:xfrm>
            <a:off x="777240" y="4754880"/>
            <a:ext cx="2240280" cy="1097280"/>
          </a:xfrm>
          <a:prstGeom prst="rect">
            <a:avLst/>
          </a:prstGeom>
          <a:noFill/>
          <a:ln/>
        </p:spPr>
        <p:txBody>
          <a:bodyPr wrap="square" rtlCol="0" anchor="ctr"/>
          <a:lstStyle/>
          <a:p>
            <a:pPr indent="0" marL="0">
              <a:lnSpc>
                <a:spcPct val="108000"/>
              </a:lnSpc>
              <a:buNone/>
            </a:pPr>
            <a:r>
              <a:rPr lang="en-US" sz="1200" dirty="0">
                <a:solidFill>
                  <a:srgbClr val="9FB2D6"/>
                </a:solidFill>
                <a:latin typeface="Arial" pitchFamily="34" charset="0"/>
                <a:ea typeface="Arial" pitchFamily="34" charset="-122"/>
                <a:cs typeface="Arial" pitchFamily="34" charset="-120"/>
              </a:rPr>
              <a:t>New records · urgent alerts · evidence capture</a:t>
            </a:r>
            <a:endParaRPr lang="en-US" sz="1200" dirty="0"/>
          </a:p>
        </p:txBody>
      </p:sp>
      <p:sp>
        <p:nvSpPr>
          <p:cNvPr id="28" name="Shape 26"/>
          <p:cNvSpPr/>
          <p:nvPr/>
        </p:nvSpPr>
        <p:spPr>
          <a:xfrm>
            <a:off x="3346704" y="4114800"/>
            <a:ext cx="2651760" cy="1920240"/>
          </a:xfrm>
          <a:prstGeom prst="roundRect">
            <a:avLst>
              <a:gd name="adj" fmla="val 5714"/>
            </a:avLst>
          </a:prstGeom>
          <a:solidFill>
            <a:srgbClr val="14264C"/>
          </a:solidFill>
          <a:ln w="12700">
            <a:solidFill>
              <a:srgbClr val="27395F"/>
            </a:solidFill>
            <a:prstDash val="solid"/>
          </a:ln>
        </p:spPr>
      </p:sp>
      <p:sp>
        <p:nvSpPr>
          <p:cNvPr id="29" name="Text 27"/>
          <p:cNvSpPr/>
          <p:nvPr/>
        </p:nvSpPr>
        <p:spPr>
          <a:xfrm>
            <a:off x="3575304" y="4343400"/>
            <a:ext cx="2194560" cy="320040"/>
          </a:xfrm>
          <a:prstGeom prst="rect">
            <a:avLst/>
          </a:prstGeom>
          <a:noFill/>
          <a:ln/>
        </p:spPr>
        <p:txBody>
          <a:bodyPr wrap="square" rtlCol="0" anchor="ctr"/>
          <a:lstStyle/>
          <a:p>
            <a:pPr indent="0" marL="0">
              <a:buNone/>
            </a:pPr>
            <a:r>
              <a:rPr lang="en-US" sz="1300" b="1" spc="100" kern="0" dirty="0">
                <a:solidFill>
                  <a:srgbClr val="3B82F6"/>
                </a:solidFill>
                <a:latin typeface="Arial" pitchFamily="34" charset="0"/>
                <a:ea typeface="Arial" pitchFamily="34" charset="-122"/>
                <a:cs typeface="Arial" pitchFamily="34" charset="-120"/>
              </a:rPr>
              <a:t>WEEKLY</a:t>
            </a:r>
            <a:endParaRPr lang="en-US" sz="1300" dirty="0"/>
          </a:p>
        </p:txBody>
      </p:sp>
      <p:sp>
        <p:nvSpPr>
          <p:cNvPr id="30" name="Text 28"/>
          <p:cNvSpPr/>
          <p:nvPr/>
        </p:nvSpPr>
        <p:spPr>
          <a:xfrm>
            <a:off x="3575304" y="4754880"/>
            <a:ext cx="2240280" cy="1097280"/>
          </a:xfrm>
          <a:prstGeom prst="rect">
            <a:avLst/>
          </a:prstGeom>
          <a:noFill/>
          <a:ln/>
        </p:spPr>
        <p:txBody>
          <a:bodyPr wrap="square" rtlCol="0" anchor="ctr"/>
          <a:lstStyle/>
          <a:p>
            <a:pPr indent="0" marL="0">
              <a:lnSpc>
                <a:spcPct val="108000"/>
              </a:lnSpc>
              <a:buNone/>
            </a:pPr>
            <a:r>
              <a:rPr lang="en-US" sz="1200" dirty="0">
                <a:solidFill>
                  <a:srgbClr val="9FB2D6"/>
                </a:solidFill>
                <a:latin typeface="Arial" pitchFamily="34" charset="0"/>
                <a:ea typeface="Arial" pitchFamily="34" charset="-122"/>
                <a:cs typeface="Arial" pitchFamily="34" charset="-120"/>
              </a:rPr>
              <a:t>Seven-day dues · funding gaps · actions review</a:t>
            </a:r>
            <a:endParaRPr lang="en-US" sz="1200" dirty="0"/>
          </a:p>
        </p:txBody>
      </p:sp>
      <p:sp>
        <p:nvSpPr>
          <p:cNvPr id="31" name="Shape 29"/>
          <p:cNvSpPr/>
          <p:nvPr/>
        </p:nvSpPr>
        <p:spPr>
          <a:xfrm>
            <a:off x="6144768" y="4114800"/>
            <a:ext cx="2651760" cy="1920240"/>
          </a:xfrm>
          <a:prstGeom prst="roundRect">
            <a:avLst>
              <a:gd name="adj" fmla="val 5714"/>
            </a:avLst>
          </a:prstGeom>
          <a:solidFill>
            <a:srgbClr val="14264C"/>
          </a:solidFill>
          <a:ln w="12700">
            <a:solidFill>
              <a:srgbClr val="27395F"/>
            </a:solidFill>
            <a:prstDash val="solid"/>
          </a:ln>
        </p:spPr>
      </p:sp>
      <p:sp>
        <p:nvSpPr>
          <p:cNvPr id="32" name="Text 30"/>
          <p:cNvSpPr/>
          <p:nvPr/>
        </p:nvSpPr>
        <p:spPr>
          <a:xfrm>
            <a:off x="6373368" y="4343400"/>
            <a:ext cx="2194560" cy="320040"/>
          </a:xfrm>
          <a:prstGeom prst="rect">
            <a:avLst/>
          </a:prstGeom>
          <a:noFill/>
          <a:ln/>
        </p:spPr>
        <p:txBody>
          <a:bodyPr wrap="square" rtlCol="0" anchor="ctr"/>
          <a:lstStyle/>
          <a:p>
            <a:pPr indent="0" marL="0">
              <a:buNone/>
            </a:pPr>
            <a:r>
              <a:rPr lang="en-US" sz="1300" b="1" spc="100" kern="0" dirty="0">
                <a:solidFill>
                  <a:srgbClr val="D8B866"/>
                </a:solidFill>
                <a:latin typeface="Arial" pitchFamily="34" charset="0"/>
                <a:ea typeface="Arial" pitchFamily="34" charset="-122"/>
                <a:cs typeface="Arial" pitchFamily="34" charset="-120"/>
              </a:rPr>
              <a:t>MONTHLY</a:t>
            </a:r>
            <a:endParaRPr lang="en-US" sz="1300" dirty="0"/>
          </a:p>
        </p:txBody>
      </p:sp>
      <p:sp>
        <p:nvSpPr>
          <p:cNvPr id="33" name="Text 31"/>
          <p:cNvSpPr/>
          <p:nvPr/>
        </p:nvSpPr>
        <p:spPr>
          <a:xfrm>
            <a:off x="6373368" y="4754880"/>
            <a:ext cx="2240280" cy="1097280"/>
          </a:xfrm>
          <a:prstGeom prst="rect">
            <a:avLst/>
          </a:prstGeom>
          <a:noFill/>
          <a:ln/>
        </p:spPr>
        <p:txBody>
          <a:bodyPr wrap="square" rtlCol="0" anchor="ctr"/>
          <a:lstStyle/>
          <a:p>
            <a:pPr indent="0" marL="0">
              <a:lnSpc>
                <a:spcPct val="108000"/>
              </a:lnSpc>
              <a:buNone/>
            </a:pPr>
            <a:r>
              <a:rPr lang="en-US" sz="1200" dirty="0">
                <a:solidFill>
                  <a:srgbClr val="9FB2D6"/>
                </a:solidFill>
                <a:latin typeface="Arial" pitchFamily="34" charset="0"/>
                <a:ea typeface="Arial" pitchFamily="34" charset="-122"/>
                <a:cs typeface="Arial" pitchFamily="34" charset="-120"/>
              </a:rPr>
              <a:t>Full reconciliation · board report · variance</a:t>
            </a:r>
            <a:endParaRPr lang="en-US" sz="1200" dirty="0"/>
          </a:p>
        </p:txBody>
      </p:sp>
      <p:sp>
        <p:nvSpPr>
          <p:cNvPr id="34" name="Shape 32"/>
          <p:cNvSpPr/>
          <p:nvPr/>
        </p:nvSpPr>
        <p:spPr>
          <a:xfrm>
            <a:off x="8942832" y="4114800"/>
            <a:ext cx="2651760" cy="1920240"/>
          </a:xfrm>
          <a:prstGeom prst="roundRect">
            <a:avLst>
              <a:gd name="adj" fmla="val 5714"/>
            </a:avLst>
          </a:prstGeom>
          <a:solidFill>
            <a:srgbClr val="14264C"/>
          </a:solidFill>
          <a:ln w="12700">
            <a:solidFill>
              <a:srgbClr val="27395F"/>
            </a:solidFill>
            <a:prstDash val="solid"/>
          </a:ln>
        </p:spPr>
      </p:sp>
      <p:sp>
        <p:nvSpPr>
          <p:cNvPr id="35" name="Text 33"/>
          <p:cNvSpPr/>
          <p:nvPr/>
        </p:nvSpPr>
        <p:spPr>
          <a:xfrm>
            <a:off x="9171432" y="4343400"/>
            <a:ext cx="2194560" cy="320040"/>
          </a:xfrm>
          <a:prstGeom prst="rect">
            <a:avLst/>
          </a:prstGeom>
          <a:noFill/>
          <a:ln/>
        </p:spPr>
        <p:txBody>
          <a:bodyPr wrap="square" rtlCol="0" anchor="ctr"/>
          <a:lstStyle/>
          <a:p>
            <a:pPr indent="0" marL="0">
              <a:buNone/>
            </a:pPr>
            <a:r>
              <a:rPr lang="en-US" sz="1300" b="1" spc="100" kern="0" dirty="0">
                <a:solidFill>
                  <a:srgbClr val="8A7BFF"/>
                </a:solidFill>
                <a:latin typeface="Arial" pitchFamily="34" charset="0"/>
                <a:ea typeface="Arial" pitchFamily="34" charset="-122"/>
                <a:cs typeface="Arial" pitchFamily="34" charset="-120"/>
              </a:rPr>
              <a:t>QUARTERLY</a:t>
            </a:r>
            <a:endParaRPr lang="en-US" sz="1300" dirty="0"/>
          </a:p>
        </p:txBody>
      </p:sp>
      <p:sp>
        <p:nvSpPr>
          <p:cNvPr id="36" name="Text 34"/>
          <p:cNvSpPr/>
          <p:nvPr/>
        </p:nvSpPr>
        <p:spPr>
          <a:xfrm>
            <a:off x="9171432" y="4754880"/>
            <a:ext cx="2240280" cy="1097280"/>
          </a:xfrm>
          <a:prstGeom prst="rect">
            <a:avLst/>
          </a:prstGeom>
          <a:noFill/>
          <a:ln/>
        </p:spPr>
        <p:txBody>
          <a:bodyPr wrap="square" rtlCol="0" anchor="ctr"/>
          <a:lstStyle/>
          <a:p>
            <a:pPr indent="0" marL="0">
              <a:lnSpc>
                <a:spcPct val="108000"/>
              </a:lnSpc>
              <a:buNone/>
            </a:pPr>
            <a:r>
              <a:rPr lang="en-US" sz="1200" dirty="0">
                <a:solidFill>
                  <a:srgbClr val="9FB2D6"/>
                </a:solidFill>
                <a:latin typeface="Arial" pitchFamily="34" charset="0"/>
                <a:ea typeface="Arial" pitchFamily="34" charset="-122"/>
                <a:cs typeface="Arial" pitchFamily="34" charset="-120"/>
              </a:rPr>
              <a:t>Scope review · permissions · improvement</a:t>
            </a:r>
            <a:endParaRPr lang="en-US" sz="1200" dirty="0"/>
          </a:p>
        </p:txBody>
      </p:sp>
      <p:sp>
        <p:nvSpPr>
          <p:cNvPr id="37" name="Text 35"/>
          <p:cNvSpPr/>
          <p:nvPr/>
        </p:nvSpPr>
        <p:spPr>
          <a:xfrm>
            <a:off x="548640" y="6263640"/>
            <a:ext cx="11064240" cy="365760"/>
          </a:xfrm>
          <a:prstGeom prst="rect">
            <a:avLst/>
          </a:prstGeom>
          <a:noFill/>
          <a:ln/>
        </p:spPr>
        <p:txBody>
          <a:bodyPr wrap="square" rtlCol="0" anchor="ctr"/>
          <a:lstStyle/>
          <a:p>
            <a:pPr algn="ctr" indent="0" marL="0">
              <a:buNone/>
            </a:pPr>
            <a:r>
              <a:rPr lang="en-US" sz="1200" i="1" dirty="0">
                <a:solidFill>
                  <a:srgbClr val="7183A8"/>
                </a:solidFill>
                <a:latin typeface="Arial" pitchFamily="34" charset="0"/>
                <a:ea typeface="Arial" pitchFamily="34" charset="-122"/>
                <a:cs typeface="Arial" pitchFamily="34" charset="-120"/>
              </a:rPr>
              <a:t>The objective: no material liability reaches its due date without a known owner, funding position and next action.</a:t>
            </a:r>
            <a:endParaRPr lang="en-US" sz="1200" dirty="0"/>
          </a:p>
        </p:txBody>
      </p:sp>
      <p:sp>
        <p:nvSpPr>
          <p:cNvPr id="38" name="Text 36"/>
          <p:cNvSpPr/>
          <p:nvPr/>
        </p:nvSpPr>
        <p:spPr>
          <a:xfrm>
            <a:off x="8897112" y="6473952"/>
            <a:ext cx="2926080" cy="274320"/>
          </a:xfrm>
          <a:prstGeom prst="rect">
            <a:avLst/>
          </a:prstGeom>
          <a:noFill/>
          <a:ln/>
        </p:spPr>
        <p:txBody>
          <a:bodyPr wrap="square" rtlCol="0" anchor="ctr"/>
          <a:lstStyle/>
          <a:p>
            <a:pPr algn="r" indent="0" marL="0">
              <a:buNone/>
            </a:pPr>
            <a:r>
              <a:rPr lang="en-US" sz="900" dirty="0">
                <a:solidFill>
                  <a:srgbClr val="7183A8"/>
                </a:solidFill>
                <a:latin typeface="Arial" pitchFamily="34" charset="0"/>
                <a:ea typeface="Arial" pitchFamily="34" charset="-122"/>
                <a:cs typeface="Arial" pitchFamily="34" charset="-120"/>
              </a:rPr>
              <a:t>10  ·  tradeshielduk.org</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81228"/>
        </a:solidFill>
      </p:bgPr>
    </p:bg>
    <p:spTree>
      <p:nvGrpSpPr>
        <p:cNvPr id="1" name=""/>
        <p:cNvGrpSpPr/>
        <p:nvPr/>
      </p:nvGrpSpPr>
      <p:grpSpPr>
        <a:xfrm>
          <a:off x="0" y="0"/>
          <a:ext cx="0" cy="0"/>
          <a:chOff x="0" y="0"/>
          <a:chExt cx="0" cy="0"/>
        </a:xfrm>
      </p:grpSpPr>
      <p:sp>
        <p:nvSpPr>
          <p:cNvPr id="2" name="Text 0"/>
          <p:cNvSpPr/>
          <p:nvPr/>
        </p:nvSpPr>
        <p:spPr>
          <a:xfrm>
            <a:off x="548640" y="502920"/>
            <a:ext cx="7315200" cy="274320"/>
          </a:xfrm>
          <a:prstGeom prst="rect">
            <a:avLst/>
          </a:prstGeom>
          <a:noFill/>
          <a:ln/>
        </p:spPr>
        <p:txBody>
          <a:bodyPr wrap="square" rtlCol="0" anchor="ctr"/>
          <a:lstStyle/>
          <a:p>
            <a:pPr algn="l" indent="0" marL="0">
              <a:buNone/>
            </a:pPr>
            <a:r>
              <a:rPr lang="en-US" sz="1200" b="1" spc="300" kern="0" dirty="0">
                <a:solidFill>
                  <a:srgbClr val="29C2D8"/>
                </a:solidFill>
                <a:latin typeface="Arial" pitchFamily="34" charset="0"/>
                <a:ea typeface="Arial" pitchFamily="34" charset="-122"/>
                <a:cs typeface="Arial" pitchFamily="34" charset="-120"/>
              </a:rPr>
              <a:t>WHAT THE CLIENT KEEPS</a:t>
            </a:r>
            <a:endParaRPr lang="en-US" sz="1200" dirty="0"/>
          </a:p>
        </p:txBody>
      </p:sp>
      <p:sp>
        <p:nvSpPr>
          <p:cNvPr id="3" name="Text 1"/>
          <p:cNvSpPr/>
          <p:nvPr/>
        </p:nvSpPr>
        <p:spPr>
          <a:xfrm>
            <a:off x="548640" y="868680"/>
            <a:ext cx="10972800" cy="1005840"/>
          </a:xfrm>
          <a:prstGeom prst="rect">
            <a:avLst/>
          </a:prstGeom>
          <a:noFill/>
          <a:ln/>
        </p:spPr>
        <p:txBody>
          <a:bodyPr wrap="square" rtlCol="0" anchor="ctr"/>
          <a:lstStyle/>
          <a:p>
            <a:pPr algn="l" indent="0" marL="0">
              <a:lnSpc>
                <a:spcPct val="98000"/>
              </a:lnSpc>
              <a:buNone/>
            </a:pPr>
            <a:r>
              <a:rPr lang="en-US" sz="3000" b="1" dirty="0">
                <a:solidFill>
                  <a:srgbClr val="FFFFFF"/>
                </a:solidFill>
                <a:latin typeface="Arial" pitchFamily="34" charset="0"/>
                <a:ea typeface="Arial" pitchFamily="34" charset="-122"/>
                <a:cs typeface="Arial" pitchFamily="34" charset="-120"/>
              </a:rPr>
              <a:t>Protection without surrendering your business</a:t>
            </a:r>
            <a:endParaRPr lang="en-US" sz="3000" dirty="0"/>
          </a:p>
        </p:txBody>
      </p:sp>
      <p:sp>
        <p:nvSpPr>
          <p:cNvPr id="4" name="Shape 2"/>
          <p:cNvSpPr/>
          <p:nvPr/>
        </p:nvSpPr>
        <p:spPr>
          <a:xfrm>
            <a:off x="548640" y="1965960"/>
            <a:ext cx="5440680" cy="4023360"/>
          </a:xfrm>
          <a:prstGeom prst="roundRect">
            <a:avLst>
              <a:gd name="adj" fmla="val 2727"/>
            </a:avLst>
          </a:prstGeom>
          <a:solidFill>
            <a:srgbClr val="14264C"/>
          </a:solidFill>
          <a:ln w="12700">
            <a:solidFill>
              <a:srgbClr val="27395F"/>
            </a:solidFill>
            <a:prstDash val="solid"/>
          </a:ln>
        </p:spPr>
      </p:sp>
      <p:sp>
        <p:nvSpPr>
          <p:cNvPr id="5" name="Text 3"/>
          <p:cNvSpPr/>
          <p:nvPr/>
        </p:nvSpPr>
        <p:spPr>
          <a:xfrm>
            <a:off x="868680" y="2240280"/>
            <a:ext cx="4754880" cy="320040"/>
          </a:xfrm>
          <a:prstGeom prst="rect">
            <a:avLst/>
          </a:prstGeom>
          <a:noFill/>
          <a:ln/>
        </p:spPr>
        <p:txBody>
          <a:bodyPr wrap="square" rtlCol="0" anchor="ctr"/>
          <a:lstStyle/>
          <a:p>
            <a:pPr indent="0" marL="0">
              <a:buNone/>
            </a:pPr>
            <a:r>
              <a:rPr lang="en-US" sz="1250" b="1" spc="150" kern="0" dirty="0">
                <a:solidFill>
                  <a:srgbClr val="D8B866"/>
                </a:solidFill>
                <a:latin typeface="Arial" pitchFamily="34" charset="0"/>
                <a:ea typeface="Arial" pitchFamily="34" charset="-122"/>
                <a:cs typeface="Arial" pitchFamily="34" charset="-120"/>
              </a:rPr>
              <a:t>YOUR MAIN TRADING COMPANY</a:t>
            </a:r>
            <a:endParaRPr lang="en-US" sz="1250" dirty="0"/>
          </a:p>
        </p:txBody>
      </p:sp>
      <p:sp>
        <p:nvSpPr>
          <p:cNvPr id="6" name="Shape 4"/>
          <p:cNvSpPr/>
          <p:nvPr/>
        </p:nvSpPr>
        <p:spPr>
          <a:xfrm>
            <a:off x="868680" y="2852928"/>
            <a:ext cx="237744" cy="237744"/>
          </a:xfrm>
          <a:prstGeom prst="oval">
            <a:avLst/>
          </a:prstGeom>
          <a:solidFill>
            <a:srgbClr val="12354A"/>
          </a:solidFill>
          <a:ln w="13970">
            <a:solidFill>
              <a:srgbClr val="29C2D8"/>
            </a:solidFill>
            <a:prstDash val="solid"/>
          </a:ln>
        </p:spPr>
      </p:sp>
      <p:sp>
        <p:nvSpPr>
          <p:cNvPr id="7" name="Text 5"/>
          <p:cNvSpPr/>
          <p:nvPr/>
        </p:nvSpPr>
        <p:spPr>
          <a:xfrm>
            <a:off x="868680" y="2807208"/>
            <a:ext cx="237744" cy="274320"/>
          </a:xfrm>
          <a:prstGeom prst="rect">
            <a:avLst/>
          </a:prstGeom>
          <a:noFill/>
          <a:ln/>
        </p:spPr>
        <p:txBody>
          <a:bodyPr wrap="square" rtlCol="0" anchor="ctr"/>
          <a:lstStyle/>
          <a:p>
            <a:pPr algn="ctr" indent="0" marL="0">
              <a:buNone/>
            </a:pPr>
            <a:r>
              <a:rPr lang="en-US" sz="1100" b="1" dirty="0">
                <a:solidFill>
                  <a:srgbClr val="29C2D8"/>
                </a:solidFill>
                <a:latin typeface="Arial" pitchFamily="34" charset="0"/>
                <a:ea typeface="Arial" pitchFamily="34" charset="-122"/>
                <a:cs typeface="Arial" pitchFamily="34" charset="-120"/>
              </a:rPr>
              <a:t>✓</a:t>
            </a:r>
            <a:endParaRPr lang="en-US" sz="1100" dirty="0"/>
          </a:p>
        </p:txBody>
      </p:sp>
      <p:sp>
        <p:nvSpPr>
          <p:cNvPr id="8" name="Text 6"/>
          <p:cNvSpPr/>
          <p:nvPr/>
        </p:nvSpPr>
        <p:spPr>
          <a:xfrm>
            <a:off x="1252728" y="2788920"/>
            <a:ext cx="4370832" cy="457200"/>
          </a:xfrm>
          <a:prstGeom prst="rect">
            <a:avLst/>
          </a:prstGeom>
          <a:noFill/>
          <a:ln/>
        </p:spPr>
        <p:txBody>
          <a:bodyPr wrap="square" rtlCol="0" anchor="ctr"/>
          <a:lstStyle/>
          <a:p>
            <a:pPr algn="l" indent="0" marL="0">
              <a:buNone/>
            </a:pPr>
            <a:r>
              <a:rPr lang="en-US" sz="1350" b="1" dirty="0">
                <a:solidFill>
                  <a:srgbClr val="EAF1FF"/>
                </a:solidFill>
                <a:latin typeface="Arial" pitchFamily="34" charset="0"/>
                <a:ea typeface="Arial" pitchFamily="34" charset="-122"/>
                <a:cs typeface="Arial" pitchFamily="34" charset="-120"/>
              </a:rPr>
              <a:t>Customers and relationships</a:t>
            </a:r>
            <a:endParaRPr lang="en-US" sz="1350" dirty="0"/>
          </a:p>
        </p:txBody>
      </p:sp>
      <p:sp>
        <p:nvSpPr>
          <p:cNvPr id="9" name="Shape 7"/>
          <p:cNvSpPr/>
          <p:nvPr/>
        </p:nvSpPr>
        <p:spPr>
          <a:xfrm>
            <a:off x="868680" y="3419856"/>
            <a:ext cx="237744" cy="237744"/>
          </a:xfrm>
          <a:prstGeom prst="oval">
            <a:avLst/>
          </a:prstGeom>
          <a:solidFill>
            <a:srgbClr val="12354A"/>
          </a:solidFill>
          <a:ln w="13970">
            <a:solidFill>
              <a:srgbClr val="29C2D8"/>
            </a:solidFill>
            <a:prstDash val="solid"/>
          </a:ln>
        </p:spPr>
      </p:sp>
      <p:sp>
        <p:nvSpPr>
          <p:cNvPr id="10" name="Text 8"/>
          <p:cNvSpPr/>
          <p:nvPr/>
        </p:nvSpPr>
        <p:spPr>
          <a:xfrm>
            <a:off x="868680" y="3374136"/>
            <a:ext cx="237744" cy="274320"/>
          </a:xfrm>
          <a:prstGeom prst="rect">
            <a:avLst/>
          </a:prstGeom>
          <a:noFill/>
          <a:ln/>
        </p:spPr>
        <p:txBody>
          <a:bodyPr wrap="square" rtlCol="0" anchor="ctr"/>
          <a:lstStyle/>
          <a:p>
            <a:pPr algn="ctr" indent="0" marL="0">
              <a:buNone/>
            </a:pPr>
            <a:r>
              <a:rPr lang="en-US" sz="1100" b="1" dirty="0">
                <a:solidFill>
                  <a:srgbClr val="29C2D8"/>
                </a:solidFill>
                <a:latin typeface="Arial" pitchFamily="34" charset="0"/>
                <a:ea typeface="Arial" pitchFamily="34" charset="-122"/>
                <a:cs typeface="Arial" pitchFamily="34" charset="-120"/>
              </a:rPr>
              <a:t>✓</a:t>
            </a:r>
            <a:endParaRPr lang="en-US" sz="1100" dirty="0"/>
          </a:p>
        </p:txBody>
      </p:sp>
      <p:sp>
        <p:nvSpPr>
          <p:cNvPr id="11" name="Text 9"/>
          <p:cNvSpPr/>
          <p:nvPr/>
        </p:nvSpPr>
        <p:spPr>
          <a:xfrm>
            <a:off x="1252728" y="3355848"/>
            <a:ext cx="4370832" cy="457200"/>
          </a:xfrm>
          <a:prstGeom prst="rect">
            <a:avLst/>
          </a:prstGeom>
          <a:noFill/>
          <a:ln/>
        </p:spPr>
        <p:txBody>
          <a:bodyPr wrap="square" rtlCol="0" anchor="ctr"/>
          <a:lstStyle/>
          <a:p>
            <a:pPr algn="l" indent="0" marL="0">
              <a:buNone/>
            </a:pPr>
            <a:r>
              <a:rPr lang="en-US" sz="1350" b="1" dirty="0">
                <a:solidFill>
                  <a:srgbClr val="EAF1FF"/>
                </a:solidFill>
                <a:latin typeface="Arial" pitchFamily="34" charset="0"/>
                <a:ea typeface="Arial" pitchFamily="34" charset="-122"/>
                <a:cs typeface="Arial" pitchFamily="34" charset="-120"/>
              </a:rPr>
              <a:t>Sales and pricing</a:t>
            </a:r>
            <a:endParaRPr lang="en-US" sz="1350" dirty="0"/>
          </a:p>
        </p:txBody>
      </p:sp>
      <p:sp>
        <p:nvSpPr>
          <p:cNvPr id="12" name="Shape 10"/>
          <p:cNvSpPr/>
          <p:nvPr/>
        </p:nvSpPr>
        <p:spPr>
          <a:xfrm>
            <a:off x="868680" y="3986784"/>
            <a:ext cx="237744" cy="237744"/>
          </a:xfrm>
          <a:prstGeom prst="oval">
            <a:avLst/>
          </a:prstGeom>
          <a:solidFill>
            <a:srgbClr val="12354A"/>
          </a:solidFill>
          <a:ln w="13970">
            <a:solidFill>
              <a:srgbClr val="29C2D8"/>
            </a:solidFill>
            <a:prstDash val="solid"/>
          </a:ln>
        </p:spPr>
      </p:sp>
      <p:sp>
        <p:nvSpPr>
          <p:cNvPr id="13" name="Text 11"/>
          <p:cNvSpPr/>
          <p:nvPr/>
        </p:nvSpPr>
        <p:spPr>
          <a:xfrm>
            <a:off x="868680" y="3941064"/>
            <a:ext cx="237744" cy="274320"/>
          </a:xfrm>
          <a:prstGeom prst="rect">
            <a:avLst/>
          </a:prstGeom>
          <a:noFill/>
          <a:ln/>
        </p:spPr>
        <p:txBody>
          <a:bodyPr wrap="square" rtlCol="0" anchor="ctr"/>
          <a:lstStyle/>
          <a:p>
            <a:pPr algn="ctr" indent="0" marL="0">
              <a:buNone/>
            </a:pPr>
            <a:r>
              <a:rPr lang="en-US" sz="1100" b="1" dirty="0">
                <a:solidFill>
                  <a:srgbClr val="29C2D8"/>
                </a:solidFill>
                <a:latin typeface="Arial" pitchFamily="34" charset="0"/>
                <a:ea typeface="Arial" pitchFamily="34" charset="-122"/>
                <a:cs typeface="Arial" pitchFamily="34" charset="-120"/>
              </a:rPr>
              <a:t>✓</a:t>
            </a:r>
            <a:endParaRPr lang="en-US" sz="1100" dirty="0"/>
          </a:p>
        </p:txBody>
      </p:sp>
      <p:sp>
        <p:nvSpPr>
          <p:cNvPr id="14" name="Text 12"/>
          <p:cNvSpPr/>
          <p:nvPr/>
        </p:nvSpPr>
        <p:spPr>
          <a:xfrm>
            <a:off x="1252728" y="3922776"/>
            <a:ext cx="4370832" cy="457200"/>
          </a:xfrm>
          <a:prstGeom prst="rect">
            <a:avLst/>
          </a:prstGeom>
          <a:noFill/>
          <a:ln/>
        </p:spPr>
        <p:txBody>
          <a:bodyPr wrap="square" rtlCol="0" anchor="ctr"/>
          <a:lstStyle/>
          <a:p>
            <a:pPr algn="l" indent="0" marL="0">
              <a:buNone/>
            </a:pPr>
            <a:r>
              <a:rPr lang="en-US" sz="1350" b="1" dirty="0">
                <a:solidFill>
                  <a:srgbClr val="EAF1FF"/>
                </a:solidFill>
                <a:latin typeface="Arial" pitchFamily="34" charset="0"/>
                <a:ea typeface="Arial" pitchFamily="34" charset="-122"/>
                <a:cs typeface="Arial" pitchFamily="34" charset="-120"/>
              </a:rPr>
              <a:t>Income and receipt accounts</a:t>
            </a:r>
            <a:endParaRPr lang="en-US" sz="1350" dirty="0"/>
          </a:p>
        </p:txBody>
      </p:sp>
      <p:sp>
        <p:nvSpPr>
          <p:cNvPr id="15" name="Shape 13"/>
          <p:cNvSpPr/>
          <p:nvPr/>
        </p:nvSpPr>
        <p:spPr>
          <a:xfrm>
            <a:off x="868680" y="4553712"/>
            <a:ext cx="237744" cy="237744"/>
          </a:xfrm>
          <a:prstGeom prst="oval">
            <a:avLst/>
          </a:prstGeom>
          <a:solidFill>
            <a:srgbClr val="12354A"/>
          </a:solidFill>
          <a:ln w="13970">
            <a:solidFill>
              <a:srgbClr val="29C2D8"/>
            </a:solidFill>
            <a:prstDash val="solid"/>
          </a:ln>
        </p:spPr>
      </p:sp>
      <p:sp>
        <p:nvSpPr>
          <p:cNvPr id="16" name="Text 14"/>
          <p:cNvSpPr/>
          <p:nvPr/>
        </p:nvSpPr>
        <p:spPr>
          <a:xfrm>
            <a:off x="868680" y="4507992"/>
            <a:ext cx="237744" cy="274320"/>
          </a:xfrm>
          <a:prstGeom prst="rect">
            <a:avLst/>
          </a:prstGeom>
          <a:noFill/>
          <a:ln/>
        </p:spPr>
        <p:txBody>
          <a:bodyPr wrap="square" rtlCol="0" anchor="ctr"/>
          <a:lstStyle/>
          <a:p>
            <a:pPr algn="ctr" indent="0" marL="0">
              <a:buNone/>
            </a:pPr>
            <a:r>
              <a:rPr lang="en-US" sz="1100" b="1" dirty="0">
                <a:solidFill>
                  <a:srgbClr val="29C2D8"/>
                </a:solidFill>
                <a:latin typeface="Arial" pitchFamily="34" charset="0"/>
                <a:ea typeface="Arial" pitchFamily="34" charset="-122"/>
                <a:cs typeface="Arial" pitchFamily="34" charset="-120"/>
              </a:rPr>
              <a:t>✓</a:t>
            </a:r>
            <a:endParaRPr lang="en-US" sz="1100" dirty="0"/>
          </a:p>
        </p:txBody>
      </p:sp>
      <p:sp>
        <p:nvSpPr>
          <p:cNvPr id="17" name="Text 15"/>
          <p:cNvSpPr/>
          <p:nvPr/>
        </p:nvSpPr>
        <p:spPr>
          <a:xfrm>
            <a:off x="1252728" y="4489704"/>
            <a:ext cx="4370832" cy="457200"/>
          </a:xfrm>
          <a:prstGeom prst="rect">
            <a:avLst/>
          </a:prstGeom>
          <a:noFill/>
          <a:ln/>
        </p:spPr>
        <p:txBody>
          <a:bodyPr wrap="square" rtlCol="0" anchor="ctr"/>
          <a:lstStyle/>
          <a:p>
            <a:pPr algn="l" indent="0" marL="0">
              <a:buNone/>
            </a:pPr>
            <a:r>
              <a:rPr lang="en-US" sz="1350" b="1" dirty="0">
                <a:solidFill>
                  <a:srgbClr val="EAF1FF"/>
                </a:solidFill>
                <a:latin typeface="Arial" pitchFamily="34" charset="0"/>
                <a:ea typeface="Arial" pitchFamily="34" charset="-122"/>
                <a:cs typeface="Arial" pitchFamily="34" charset="-120"/>
              </a:rPr>
              <a:t>Core contracts and assets</a:t>
            </a:r>
            <a:endParaRPr lang="en-US" sz="1350" dirty="0"/>
          </a:p>
        </p:txBody>
      </p:sp>
      <p:sp>
        <p:nvSpPr>
          <p:cNvPr id="18" name="Shape 16"/>
          <p:cNvSpPr/>
          <p:nvPr/>
        </p:nvSpPr>
        <p:spPr>
          <a:xfrm>
            <a:off x="868680" y="5120640"/>
            <a:ext cx="237744" cy="237744"/>
          </a:xfrm>
          <a:prstGeom prst="oval">
            <a:avLst/>
          </a:prstGeom>
          <a:solidFill>
            <a:srgbClr val="12354A"/>
          </a:solidFill>
          <a:ln w="13970">
            <a:solidFill>
              <a:srgbClr val="29C2D8"/>
            </a:solidFill>
            <a:prstDash val="solid"/>
          </a:ln>
        </p:spPr>
      </p:sp>
      <p:sp>
        <p:nvSpPr>
          <p:cNvPr id="19" name="Text 17"/>
          <p:cNvSpPr/>
          <p:nvPr/>
        </p:nvSpPr>
        <p:spPr>
          <a:xfrm>
            <a:off x="868680" y="5074920"/>
            <a:ext cx="237744" cy="274320"/>
          </a:xfrm>
          <a:prstGeom prst="rect">
            <a:avLst/>
          </a:prstGeom>
          <a:noFill/>
          <a:ln/>
        </p:spPr>
        <p:txBody>
          <a:bodyPr wrap="square" rtlCol="0" anchor="ctr"/>
          <a:lstStyle/>
          <a:p>
            <a:pPr algn="ctr" indent="0" marL="0">
              <a:buNone/>
            </a:pPr>
            <a:r>
              <a:rPr lang="en-US" sz="1100" b="1" dirty="0">
                <a:solidFill>
                  <a:srgbClr val="29C2D8"/>
                </a:solidFill>
                <a:latin typeface="Arial" pitchFamily="34" charset="0"/>
                <a:ea typeface="Arial" pitchFamily="34" charset="-122"/>
                <a:cs typeface="Arial" pitchFamily="34" charset="-120"/>
              </a:rPr>
              <a:t>✓</a:t>
            </a:r>
            <a:endParaRPr lang="en-US" sz="1100" dirty="0"/>
          </a:p>
        </p:txBody>
      </p:sp>
      <p:sp>
        <p:nvSpPr>
          <p:cNvPr id="20" name="Text 18"/>
          <p:cNvSpPr/>
          <p:nvPr/>
        </p:nvSpPr>
        <p:spPr>
          <a:xfrm>
            <a:off x="1252728" y="5056632"/>
            <a:ext cx="4370832" cy="457200"/>
          </a:xfrm>
          <a:prstGeom prst="rect">
            <a:avLst/>
          </a:prstGeom>
          <a:noFill/>
          <a:ln/>
        </p:spPr>
        <p:txBody>
          <a:bodyPr wrap="square" rtlCol="0" anchor="ctr"/>
          <a:lstStyle/>
          <a:p>
            <a:pPr algn="l" indent="0" marL="0">
              <a:buNone/>
            </a:pPr>
            <a:r>
              <a:rPr lang="en-US" sz="1350" b="1" dirty="0">
                <a:solidFill>
                  <a:srgbClr val="EAF1FF"/>
                </a:solidFill>
                <a:latin typeface="Arial" pitchFamily="34" charset="0"/>
                <a:ea typeface="Arial" pitchFamily="34" charset="-122"/>
                <a:cs typeface="Arial" pitchFamily="34" charset="-120"/>
              </a:rPr>
              <a:t>Commercial strategy</a:t>
            </a:r>
            <a:endParaRPr lang="en-US" sz="1350" dirty="0"/>
          </a:p>
        </p:txBody>
      </p:sp>
      <p:sp>
        <p:nvSpPr>
          <p:cNvPr id="21" name="Shape 19"/>
          <p:cNvSpPr/>
          <p:nvPr/>
        </p:nvSpPr>
        <p:spPr>
          <a:xfrm>
            <a:off x="6199632" y="1965960"/>
            <a:ext cx="5440680" cy="4023360"/>
          </a:xfrm>
          <a:prstGeom prst="roundRect">
            <a:avLst>
              <a:gd name="adj" fmla="val 2727"/>
            </a:avLst>
          </a:prstGeom>
          <a:solidFill>
            <a:srgbClr val="0F2748"/>
          </a:solidFill>
          <a:ln w="12700">
            <a:solidFill>
              <a:srgbClr val="29C2D8"/>
            </a:solidFill>
            <a:prstDash val="solid"/>
          </a:ln>
        </p:spPr>
      </p:sp>
      <p:sp>
        <p:nvSpPr>
          <p:cNvPr id="22" name="Text 20"/>
          <p:cNvSpPr/>
          <p:nvPr/>
        </p:nvSpPr>
        <p:spPr>
          <a:xfrm>
            <a:off x="6519672" y="2240280"/>
            <a:ext cx="4754880" cy="320040"/>
          </a:xfrm>
          <a:prstGeom prst="rect">
            <a:avLst/>
          </a:prstGeom>
          <a:noFill/>
          <a:ln/>
        </p:spPr>
        <p:txBody>
          <a:bodyPr wrap="square" rtlCol="0" anchor="ctr"/>
          <a:lstStyle/>
          <a:p>
            <a:pPr indent="0" marL="0">
              <a:buNone/>
            </a:pPr>
            <a:r>
              <a:rPr lang="en-US" sz="1250" b="1" spc="150" kern="0" dirty="0">
                <a:solidFill>
                  <a:srgbClr val="29C2D8"/>
                </a:solidFill>
                <a:latin typeface="Arial" pitchFamily="34" charset="0"/>
                <a:ea typeface="Arial" pitchFamily="34" charset="-122"/>
                <a:cs typeface="Arial" pitchFamily="34" charset="-120"/>
              </a:rPr>
              <a:t>PTC OPERATING SCOPE</a:t>
            </a:r>
            <a:endParaRPr lang="en-US" sz="1250" dirty="0"/>
          </a:p>
        </p:txBody>
      </p:sp>
      <p:sp>
        <p:nvSpPr>
          <p:cNvPr id="23" name="Shape 21"/>
          <p:cNvSpPr/>
          <p:nvPr/>
        </p:nvSpPr>
        <p:spPr>
          <a:xfrm>
            <a:off x="6519672" y="2852928"/>
            <a:ext cx="237744" cy="237744"/>
          </a:xfrm>
          <a:prstGeom prst="oval">
            <a:avLst/>
          </a:prstGeom>
          <a:solidFill>
            <a:srgbClr val="12354A"/>
          </a:solidFill>
          <a:ln w="13970">
            <a:solidFill>
              <a:srgbClr val="29C2D8"/>
            </a:solidFill>
            <a:prstDash val="solid"/>
          </a:ln>
        </p:spPr>
      </p:sp>
      <p:sp>
        <p:nvSpPr>
          <p:cNvPr id="24" name="Text 22"/>
          <p:cNvSpPr/>
          <p:nvPr/>
        </p:nvSpPr>
        <p:spPr>
          <a:xfrm>
            <a:off x="6519672" y="2807208"/>
            <a:ext cx="237744" cy="274320"/>
          </a:xfrm>
          <a:prstGeom prst="rect">
            <a:avLst/>
          </a:prstGeom>
          <a:noFill/>
          <a:ln/>
        </p:spPr>
        <p:txBody>
          <a:bodyPr wrap="square" rtlCol="0" anchor="ctr"/>
          <a:lstStyle/>
          <a:p>
            <a:pPr algn="ctr" indent="0" marL="0">
              <a:buNone/>
            </a:pPr>
            <a:r>
              <a:rPr lang="en-US" sz="1100" b="1" dirty="0">
                <a:solidFill>
                  <a:srgbClr val="29C2D8"/>
                </a:solidFill>
                <a:latin typeface="Arial" pitchFamily="34" charset="0"/>
                <a:ea typeface="Arial" pitchFamily="34" charset="-122"/>
                <a:cs typeface="Arial" pitchFamily="34" charset="-120"/>
              </a:rPr>
              <a:t>✓</a:t>
            </a:r>
            <a:endParaRPr lang="en-US" sz="1100" dirty="0"/>
          </a:p>
        </p:txBody>
      </p:sp>
      <p:sp>
        <p:nvSpPr>
          <p:cNvPr id="25" name="Text 23"/>
          <p:cNvSpPr/>
          <p:nvPr/>
        </p:nvSpPr>
        <p:spPr>
          <a:xfrm>
            <a:off x="6903720" y="2788920"/>
            <a:ext cx="4370832" cy="457200"/>
          </a:xfrm>
          <a:prstGeom prst="rect">
            <a:avLst/>
          </a:prstGeom>
          <a:noFill/>
          <a:ln/>
        </p:spPr>
        <p:txBody>
          <a:bodyPr wrap="square" rtlCol="0" anchor="ctr"/>
          <a:lstStyle/>
          <a:p>
            <a:pPr algn="l" indent="0" marL="0">
              <a:buNone/>
            </a:pPr>
            <a:r>
              <a:rPr lang="en-US" sz="1350" b="1" dirty="0">
                <a:solidFill>
                  <a:srgbClr val="EAF1FF"/>
                </a:solidFill>
                <a:latin typeface="Arial" pitchFamily="34" charset="0"/>
                <a:ea typeface="Arial" pitchFamily="34" charset="-122"/>
                <a:cs typeface="Arial" pitchFamily="34" charset="-120"/>
              </a:rPr>
              <a:t>Agreed staff costs</a:t>
            </a:r>
            <a:endParaRPr lang="en-US" sz="1350" dirty="0"/>
          </a:p>
        </p:txBody>
      </p:sp>
      <p:sp>
        <p:nvSpPr>
          <p:cNvPr id="26" name="Shape 24"/>
          <p:cNvSpPr/>
          <p:nvPr/>
        </p:nvSpPr>
        <p:spPr>
          <a:xfrm>
            <a:off x="6519672" y="3419856"/>
            <a:ext cx="237744" cy="237744"/>
          </a:xfrm>
          <a:prstGeom prst="oval">
            <a:avLst/>
          </a:prstGeom>
          <a:solidFill>
            <a:srgbClr val="12354A"/>
          </a:solidFill>
          <a:ln w="13970">
            <a:solidFill>
              <a:srgbClr val="29C2D8"/>
            </a:solidFill>
            <a:prstDash val="solid"/>
          </a:ln>
        </p:spPr>
      </p:sp>
      <p:sp>
        <p:nvSpPr>
          <p:cNvPr id="27" name="Text 25"/>
          <p:cNvSpPr/>
          <p:nvPr/>
        </p:nvSpPr>
        <p:spPr>
          <a:xfrm>
            <a:off x="6519672" y="3374136"/>
            <a:ext cx="237744" cy="274320"/>
          </a:xfrm>
          <a:prstGeom prst="rect">
            <a:avLst/>
          </a:prstGeom>
          <a:noFill/>
          <a:ln/>
        </p:spPr>
        <p:txBody>
          <a:bodyPr wrap="square" rtlCol="0" anchor="ctr"/>
          <a:lstStyle/>
          <a:p>
            <a:pPr algn="ctr" indent="0" marL="0">
              <a:buNone/>
            </a:pPr>
            <a:r>
              <a:rPr lang="en-US" sz="1100" b="1" dirty="0">
                <a:solidFill>
                  <a:srgbClr val="29C2D8"/>
                </a:solidFill>
                <a:latin typeface="Arial" pitchFamily="34" charset="0"/>
                <a:ea typeface="Arial" pitchFamily="34" charset="-122"/>
                <a:cs typeface="Arial" pitchFamily="34" charset="-120"/>
              </a:rPr>
              <a:t>✓</a:t>
            </a:r>
            <a:endParaRPr lang="en-US" sz="1100" dirty="0"/>
          </a:p>
        </p:txBody>
      </p:sp>
      <p:sp>
        <p:nvSpPr>
          <p:cNvPr id="28" name="Text 26"/>
          <p:cNvSpPr/>
          <p:nvPr/>
        </p:nvSpPr>
        <p:spPr>
          <a:xfrm>
            <a:off x="6903720" y="3355848"/>
            <a:ext cx="4370832" cy="457200"/>
          </a:xfrm>
          <a:prstGeom prst="rect">
            <a:avLst/>
          </a:prstGeom>
          <a:noFill/>
          <a:ln/>
        </p:spPr>
        <p:txBody>
          <a:bodyPr wrap="square" rtlCol="0" anchor="ctr"/>
          <a:lstStyle/>
          <a:p>
            <a:pPr algn="l" indent="0" marL="0">
              <a:buNone/>
            </a:pPr>
            <a:r>
              <a:rPr lang="en-US" sz="1350" b="1" dirty="0">
                <a:solidFill>
                  <a:srgbClr val="EAF1FF"/>
                </a:solidFill>
                <a:latin typeface="Arial" pitchFamily="34" charset="0"/>
                <a:ea typeface="Arial" pitchFamily="34" charset="-122"/>
                <a:cs typeface="Arial" pitchFamily="34" charset="-120"/>
              </a:rPr>
              <a:t>PAYE and NIC</a:t>
            </a:r>
            <a:endParaRPr lang="en-US" sz="1350" dirty="0"/>
          </a:p>
        </p:txBody>
      </p:sp>
      <p:sp>
        <p:nvSpPr>
          <p:cNvPr id="29" name="Shape 27"/>
          <p:cNvSpPr/>
          <p:nvPr/>
        </p:nvSpPr>
        <p:spPr>
          <a:xfrm>
            <a:off x="6519672" y="3986784"/>
            <a:ext cx="237744" cy="237744"/>
          </a:xfrm>
          <a:prstGeom prst="oval">
            <a:avLst/>
          </a:prstGeom>
          <a:solidFill>
            <a:srgbClr val="12354A"/>
          </a:solidFill>
          <a:ln w="13970">
            <a:solidFill>
              <a:srgbClr val="29C2D8"/>
            </a:solidFill>
            <a:prstDash val="solid"/>
          </a:ln>
        </p:spPr>
      </p:sp>
      <p:sp>
        <p:nvSpPr>
          <p:cNvPr id="30" name="Text 28"/>
          <p:cNvSpPr/>
          <p:nvPr/>
        </p:nvSpPr>
        <p:spPr>
          <a:xfrm>
            <a:off x="6519672" y="3941064"/>
            <a:ext cx="237744" cy="274320"/>
          </a:xfrm>
          <a:prstGeom prst="rect">
            <a:avLst/>
          </a:prstGeom>
          <a:noFill/>
          <a:ln/>
        </p:spPr>
        <p:txBody>
          <a:bodyPr wrap="square" rtlCol="0" anchor="ctr"/>
          <a:lstStyle/>
          <a:p>
            <a:pPr algn="ctr" indent="0" marL="0">
              <a:buNone/>
            </a:pPr>
            <a:r>
              <a:rPr lang="en-US" sz="1100" b="1" dirty="0">
                <a:solidFill>
                  <a:srgbClr val="29C2D8"/>
                </a:solidFill>
                <a:latin typeface="Arial" pitchFamily="34" charset="0"/>
                <a:ea typeface="Arial" pitchFamily="34" charset="-122"/>
                <a:cs typeface="Arial" pitchFamily="34" charset="-120"/>
              </a:rPr>
              <a:t>✓</a:t>
            </a:r>
            <a:endParaRPr lang="en-US" sz="1100" dirty="0"/>
          </a:p>
        </p:txBody>
      </p:sp>
      <p:sp>
        <p:nvSpPr>
          <p:cNvPr id="31" name="Text 29"/>
          <p:cNvSpPr/>
          <p:nvPr/>
        </p:nvSpPr>
        <p:spPr>
          <a:xfrm>
            <a:off x="6903720" y="3922776"/>
            <a:ext cx="4370832" cy="457200"/>
          </a:xfrm>
          <a:prstGeom prst="rect">
            <a:avLst/>
          </a:prstGeom>
          <a:noFill/>
          <a:ln/>
        </p:spPr>
        <p:txBody>
          <a:bodyPr wrap="square" rtlCol="0" anchor="ctr"/>
          <a:lstStyle/>
          <a:p>
            <a:pPr algn="l" indent="0" marL="0">
              <a:buNone/>
            </a:pPr>
            <a:r>
              <a:rPr lang="en-US" sz="1350" b="1" dirty="0">
                <a:solidFill>
                  <a:srgbClr val="EAF1FF"/>
                </a:solidFill>
                <a:latin typeface="Arial" pitchFamily="34" charset="0"/>
                <a:ea typeface="Arial" pitchFamily="34" charset="-122"/>
                <a:cs typeface="Arial" pitchFamily="34" charset="-120"/>
              </a:rPr>
              <a:t>VAT and Corporation Tax</a:t>
            </a:r>
            <a:endParaRPr lang="en-US" sz="1350" dirty="0"/>
          </a:p>
        </p:txBody>
      </p:sp>
      <p:sp>
        <p:nvSpPr>
          <p:cNvPr id="32" name="Shape 30"/>
          <p:cNvSpPr/>
          <p:nvPr/>
        </p:nvSpPr>
        <p:spPr>
          <a:xfrm>
            <a:off x="6519672" y="4553712"/>
            <a:ext cx="237744" cy="237744"/>
          </a:xfrm>
          <a:prstGeom prst="oval">
            <a:avLst/>
          </a:prstGeom>
          <a:solidFill>
            <a:srgbClr val="12354A"/>
          </a:solidFill>
          <a:ln w="13970">
            <a:solidFill>
              <a:srgbClr val="29C2D8"/>
            </a:solidFill>
            <a:prstDash val="solid"/>
          </a:ln>
        </p:spPr>
      </p:sp>
      <p:sp>
        <p:nvSpPr>
          <p:cNvPr id="33" name="Text 31"/>
          <p:cNvSpPr/>
          <p:nvPr/>
        </p:nvSpPr>
        <p:spPr>
          <a:xfrm>
            <a:off x="6519672" y="4507992"/>
            <a:ext cx="237744" cy="274320"/>
          </a:xfrm>
          <a:prstGeom prst="rect">
            <a:avLst/>
          </a:prstGeom>
          <a:noFill/>
          <a:ln/>
        </p:spPr>
        <p:txBody>
          <a:bodyPr wrap="square" rtlCol="0" anchor="ctr"/>
          <a:lstStyle/>
          <a:p>
            <a:pPr algn="ctr" indent="0" marL="0">
              <a:buNone/>
            </a:pPr>
            <a:r>
              <a:rPr lang="en-US" sz="1100" b="1" dirty="0">
                <a:solidFill>
                  <a:srgbClr val="29C2D8"/>
                </a:solidFill>
                <a:latin typeface="Arial" pitchFamily="34" charset="0"/>
                <a:ea typeface="Arial" pitchFamily="34" charset="-122"/>
                <a:cs typeface="Arial" pitchFamily="34" charset="-120"/>
              </a:rPr>
              <a:t>✓</a:t>
            </a:r>
            <a:endParaRPr lang="en-US" sz="1100" dirty="0"/>
          </a:p>
        </p:txBody>
      </p:sp>
      <p:sp>
        <p:nvSpPr>
          <p:cNvPr id="34" name="Text 32"/>
          <p:cNvSpPr/>
          <p:nvPr/>
        </p:nvSpPr>
        <p:spPr>
          <a:xfrm>
            <a:off x="6903720" y="4489704"/>
            <a:ext cx="4370832" cy="457200"/>
          </a:xfrm>
          <a:prstGeom prst="rect">
            <a:avLst/>
          </a:prstGeom>
          <a:noFill/>
          <a:ln/>
        </p:spPr>
        <p:txBody>
          <a:bodyPr wrap="square" rtlCol="0" anchor="ctr"/>
          <a:lstStyle/>
          <a:p>
            <a:pPr algn="l" indent="0" marL="0">
              <a:buNone/>
            </a:pPr>
            <a:r>
              <a:rPr lang="en-US" sz="1350" b="1" dirty="0">
                <a:solidFill>
                  <a:srgbClr val="EAF1FF"/>
                </a:solidFill>
                <a:latin typeface="Arial" pitchFamily="34" charset="0"/>
                <a:ea typeface="Arial" pitchFamily="34" charset="-122"/>
                <a:cs typeface="Arial" pitchFamily="34" charset="-120"/>
              </a:rPr>
              <a:t>Suppliers and purchases</a:t>
            </a:r>
            <a:endParaRPr lang="en-US" sz="1350" dirty="0"/>
          </a:p>
        </p:txBody>
      </p:sp>
      <p:sp>
        <p:nvSpPr>
          <p:cNvPr id="35" name="Shape 33"/>
          <p:cNvSpPr/>
          <p:nvPr/>
        </p:nvSpPr>
        <p:spPr>
          <a:xfrm>
            <a:off x="6519672" y="5120640"/>
            <a:ext cx="237744" cy="237744"/>
          </a:xfrm>
          <a:prstGeom prst="oval">
            <a:avLst/>
          </a:prstGeom>
          <a:solidFill>
            <a:srgbClr val="12354A"/>
          </a:solidFill>
          <a:ln w="13970">
            <a:solidFill>
              <a:srgbClr val="29C2D8"/>
            </a:solidFill>
            <a:prstDash val="solid"/>
          </a:ln>
        </p:spPr>
      </p:sp>
      <p:sp>
        <p:nvSpPr>
          <p:cNvPr id="36" name="Text 34"/>
          <p:cNvSpPr/>
          <p:nvPr/>
        </p:nvSpPr>
        <p:spPr>
          <a:xfrm>
            <a:off x="6519672" y="5074920"/>
            <a:ext cx="237744" cy="274320"/>
          </a:xfrm>
          <a:prstGeom prst="rect">
            <a:avLst/>
          </a:prstGeom>
          <a:noFill/>
          <a:ln/>
        </p:spPr>
        <p:txBody>
          <a:bodyPr wrap="square" rtlCol="0" anchor="ctr"/>
          <a:lstStyle/>
          <a:p>
            <a:pPr algn="ctr" indent="0" marL="0">
              <a:buNone/>
            </a:pPr>
            <a:r>
              <a:rPr lang="en-US" sz="1100" b="1" dirty="0">
                <a:solidFill>
                  <a:srgbClr val="29C2D8"/>
                </a:solidFill>
                <a:latin typeface="Arial" pitchFamily="34" charset="0"/>
                <a:ea typeface="Arial" pitchFamily="34" charset="-122"/>
                <a:cs typeface="Arial" pitchFamily="34" charset="-120"/>
              </a:rPr>
              <a:t>✓</a:t>
            </a:r>
            <a:endParaRPr lang="en-US" sz="1100" dirty="0"/>
          </a:p>
        </p:txBody>
      </p:sp>
      <p:sp>
        <p:nvSpPr>
          <p:cNvPr id="37" name="Text 35"/>
          <p:cNvSpPr/>
          <p:nvPr/>
        </p:nvSpPr>
        <p:spPr>
          <a:xfrm>
            <a:off x="6903720" y="5056632"/>
            <a:ext cx="4370832" cy="457200"/>
          </a:xfrm>
          <a:prstGeom prst="rect">
            <a:avLst/>
          </a:prstGeom>
          <a:noFill/>
          <a:ln/>
        </p:spPr>
        <p:txBody>
          <a:bodyPr wrap="square" rtlCol="0" anchor="ctr"/>
          <a:lstStyle/>
          <a:p>
            <a:pPr algn="l" indent="0" marL="0">
              <a:buNone/>
            </a:pPr>
            <a:r>
              <a:rPr lang="en-US" sz="1350" b="1" dirty="0">
                <a:solidFill>
                  <a:srgbClr val="EAF1FF"/>
                </a:solidFill>
                <a:latin typeface="Arial" pitchFamily="34" charset="0"/>
                <a:ea typeface="Arial" pitchFamily="34" charset="-122"/>
                <a:cs typeface="Arial" pitchFamily="34" charset="-120"/>
              </a:rPr>
              <a:t>Insurance, HR &amp; professional costs</a:t>
            </a:r>
            <a:endParaRPr lang="en-US" sz="1350" dirty="0"/>
          </a:p>
        </p:txBody>
      </p:sp>
      <p:sp>
        <p:nvSpPr>
          <p:cNvPr id="38" name="Text 36"/>
          <p:cNvSpPr/>
          <p:nvPr/>
        </p:nvSpPr>
        <p:spPr>
          <a:xfrm>
            <a:off x="548640" y="6172200"/>
            <a:ext cx="11064240" cy="365760"/>
          </a:xfrm>
          <a:prstGeom prst="rect">
            <a:avLst/>
          </a:prstGeom>
          <a:noFill/>
          <a:ln/>
        </p:spPr>
        <p:txBody>
          <a:bodyPr wrap="square" rtlCol="0" anchor="ctr"/>
          <a:lstStyle/>
          <a:p>
            <a:pPr algn="ctr" indent="0" marL="0">
              <a:buNone/>
            </a:pPr>
            <a:r>
              <a:rPr lang="en-US" sz="1250" i="1" dirty="0">
                <a:solidFill>
                  <a:srgbClr val="9FB2D6"/>
                </a:solidFill>
                <a:latin typeface="Arial" pitchFamily="34" charset="0"/>
                <a:ea typeface="Arial" pitchFamily="34" charset="-122"/>
                <a:cs typeface="Arial" pitchFamily="34" charset="-120"/>
              </a:rPr>
              <a:t>Clear separation — you retain control of what makes your business yours.</a:t>
            </a:r>
            <a:endParaRPr lang="en-US" sz="1250" dirty="0"/>
          </a:p>
        </p:txBody>
      </p:sp>
      <p:sp>
        <p:nvSpPr>
          <p:cNvPr id="39" name="Text 37"/>
          <p:cNvSpPr/>
          <p:nvPr/>
        </p:nvSpPr>
        <p:spPr>
          <a:xfrm>
            <a:off x="8897112" y="6473952"/>
            <a:ext cx="2926080" cy="274320"/>
          </a:xfrm>
          <a:prstGeom prst="rect">
            <a:avLst/>
          </a:prstGeom>
          <a:noFill/>
          <a:ln/>
        </p:spPr>
        <p:txBody>
          <a:bodyPr wrap="square" rtlCol="0" anchor="ctr"/>
          <a:lstStyle/>
          <a:p>
            <a:pPr algn="r" indent="0" marL="0">
              <a:buNone/>
            </a:pPr>
            <a:r>
              <a:rPr lang="en-US" sz="900" dirty="0">
                <a:solidFill>
                  <a:srgbClr val="7183A8"/>
                </a:solidFill>
                <a:latin typeface="Arial" pitchFamily="34" charset="0"/>
                <a:ea typeface="Arial" pitchFamily="34" charset="-122"/>
                <a:cs typeface="Arial" pitchFamily="34" charset="-120"/>
              </a:rPr>
              <a:t>11  ·  tradeshielduk.org</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81228"/>
        </a:solidFill>
      </p:bgPr>
    </p:bg>
    <p:spTree>
      <p:nvGrpSpPr>
        <p:cNvPr id="1" name=""/>
        <p:cNvGrpSpPr/>
        <p:nvPr/>
      </p:nvGrpSpPr>
      <p:grpSpPr>
        <a:xfrm>
          <a:off x="0" y="0"/>
          <a:ext cx="0" cy="0"/>
          <a:chOff x="0" y="0"/>
          <a:chExt cx="0" cy="0"/>
        </a:xfrm>
      </p:grpSpPr>
      <p:sp>
        <p:nvSpPr>
          <p:cNvPr id="2" name="Text 0"/>
          <p:cNvSpPr/>
          <p:nvPr/>
        </p:nvSpPr>
        <p:spPr>
          <a:xfrm>
            <a:off x="548640" y="502920"/>
            <a:ext cx="7315200" cy="274320"/>
          </a:xfrm>
          <a:prstGeom prst="rect">
            <a:avLst/>
          </a:prstGeom>
          <a:noFill/>
          <a:ln/>
        </p:spPr>
        <p:txBody>
          <a:bodyPr wrap="square" rtlCol="0" anchor="ctr"/>
          <a:lstStyle/>
          <a:p>
            <a:pPr algn="l" indent="0" marL="0">
              <a:buNone/>
            </a:pPr>
            <a:r>
              <a:rPr lang="en-US" sz="1200" b="1" spc="300" kern="0" dirty="0">
                <a:solidFill>
                  <a:srgbClr val="29C2D8"/>
                </a:solidFill>
                <a:latin typeface="Arial" pitchFamily="34" charset="0"/>
                <a:ea typeface="Arial" pitchFamily="34" charset="-122"/>
                <a:cs typeface="Arial" pitchFamily="34" charset="-120"/>
              </a:rPr>
              <a:t>BUILT TO COMMERCIALISE</a:t>
            </a:r>
            <a:endParaRPr lang="en-US" sz="1200" dirty="0"/>
          </a:p>
        </p:txBody>
      </p:sp>
      <p:sp>
        <p:nvSpPr>
          <p:cNvPr id="3" name="Text 1"/>
          <p:cNvSpPr/>
          <p:nvPr/>
        </p:nvSpPr>
        <p:spPr>
          <a:xfrm>
            <a:off x="548640" y="868680"/>
            <a:ext cx="10972800" cy="1005840"/>
          </a:xfrm>
          <a:prstGeom prst="rect">
            <a:avLst/>
          </a:prstGeom>
          <a:noFill/>
          <a:ln/>
        </p:spPr>
        <p:txBody>
          <a:bodyPr wrap="square" rtlCol="0" anchor="ctr"/>
          <a:lstStyle/>
          <a:p>
            <a:pPr algn="l" indent="0" marL="0">
              <a:lnSpc>
                <a:spcPct val="98000"/>
              </a:lnSpc>
              <a:buNone/>
            </a:pPr>
            <a:r>
              <a:rPr lang="en-US" sz="3000" b="1" dirty="0">
                <a:solidFill>
                  <a:srgbClr val="FFFFFF"/>
                </a:solidFill>
                <a:latin typeface="Arial" pitchFamily="34" charset="0"/>
                <a:ea typeface="Arial" pitchFamily="34" charset="-122"/>
                <a:cs typeface="Arial" pitchFamily="34" charset="-120"/>
              </a:rPr>
              <a:t>From working product to the App Store</a:t>
            </a:r>
            <a:endParaRPr lang="en-US" sz="3000" dirty="0"/>
          </a:p>
        </p:txBody>
      </p:sp>
      <p:sp>
        <p:nvSpPr>
          <p:cNvPr id="4" name="Shape 2"/>
          <p:cNvSpPr/>
          <p:nvPr/>
        </p:nvSpPr>
        <p:spPr>
          <a:xfrm>
            <a:off x="548640" y="2011680"/>
            <a:ext cx="3566160" cy="3108960"/>
          </a:xfrm>
          <a:prstGeom prst="roundRect">
            <a:avLst>
              <a:gd name="adj" fmla="val 3529"/>
            </a:avLst>
          </a:prstGeom>
          <a:solidFill>
            <a:srgbClr val="14264C"/>
          </a:solidFill>
          <a:ln w="12700">
            <a:solidFill>
              <a:srgbClr val="27395F"/>
            </a:solidFill>
            <a:prstDash val="solid"/>
          </a:ln>
        </p:spPr>
      </p:sp>
      <p:sp>
        <p:nvSpPr>
          <p:cNvPr id="5" name="Shape 3"/>
          <p:cNvSpPr/>
          <p:nvPr/>
        </p:nvSpPr>
        <p:spPr>
          <a:xfrm>
            <a:off x="822960" y="2286000"/>
            <a:ext cx="685800" cy="685800"/>
          </a:xfrm>
          <a:prstGeom prst="oval">
            <a:avLst/>
          </a:prstGeom>
          <a:solidFill>
            <a:srgbClr val="29C2D8"/>
          </a:solidFill>
          <a:ln/>
        </p:spPr>
      </p:sp>
      <p:sp>
        <p:nvSpPr>
          <p:cNvPr id="6" name="Text 4"/>
          <p:cNvSpPr/>
          <p:nvPr/>
        </p:nvSpPr>
        <p:spPr>
          <a:xfrm>
            <a:off x="822960" y="2286000"/>
            <a:ext cx="685800" cy="704088"/>
          </a:xfrm>
          <a:prstGeom prst="rect">
            <a:avLst/>
          </a:prstGeom>
          <a:noFill/>
          <a:ln/>
        </p:spPr>
        <p:txBody>
          <a:bodyPr wrap="square" rtlCol="0" anchor="ctr"/>
          <a:lstStyle/>
          <a:p>
            <a:pPr algn="ctr" indent="0" marL="0">
              <a:buNone/>
            </a:pPr>
            <a:r>
              <a:rPr lang="en-US" sz="1700" b="1" dirty="0">
                <a:solidFill>
                  <a:srgbClr val="04121E"/>
                </a:solidFill>
                <a:latin typeface="Arial" pitchFamily="34" charset="0"/>
                <a:ea typeface="Arial" pitchFamily="34" charset="-122"/>
                <a:cs typeface="Arial" pitchFamily="34" charset="-120"/>
              </a:rPr>
              <a:t>01</a:t>
            </a:r>
            <a:endParaRPr lang="en-US" sz="1700" dirty="0"/>
          </a:p>
        </p:txBody>
      </p:sp>
      <p:sp>
        <p:nvSpPr>
          <p:cNvPr id="7" name="Text 5"/>
          <p:cNvSpPr/>
          <p:nvPr/>
        </p:nvSpPr>
        <p:spPr>
          <a:xfrm>
            <a:off x="1691640" y="2331720"/>
            <a:ext cx="2286000" cy="274320"/>
          </a:xfrm>
          <a:prstGeom prst="rect">
            <a:avLst/>
          </a:prstGeom>
          <a:noFill/>
          <a:ln/>
        </p:spPr>
        <p:txBody>
          <a:bodyPr wrap="square" rtlCol="0" anchor="ctr"/>
          <a:lstStyle/>
          <a:p>
            <a:pPr indent="0" marL="0">
              <a:buNone/>
            </a:pPr>
            <a:r>
              <a:rPr lang="en-US" sz="1100" b="1" spc="100" kern="0" dirty="0">
                <a:solidFill>
                  <a:srgbClr val="29C2D8"/>
                </a:solidFill>
                <a:latin typeface="Arial" pitchFamily="34" charset="0"/>
                <a:ea typeface="Arial" pitchFamily="34" charset="-122"/>
                <a:cs typeface="Arial" pitchFamily="34" charset="-120"/>
              </a:rPr>
              <a:t>LIVE TODAY</a:t>
            </a:r>
            <a:endParaRPr lang="en-US" sz="1100" dirty="0"/>
          </a:p>
        </p:txBody>
      </p:sp>
      <p:sp>
        <p:nvSpPr>
          <p:cNvPr id="8" name="Text 6"/>
          <p:cNvSpPr/>
          <p:nvPr/>
        </p:nvSpPr>
        <p:spPr>
          <a:xfrm>
            <a:off x="1691640" y="2578608"/>
            <a:ext cx="2286000" cy="411480"/>
          </a:xfrm>
          <a:prstGeom prst="rect">
            <a:avLst/>
          </a:prstGeom>
          <a:noFill/>
          <a:ln/>
        </p:spPr>
        <p:txBody>
          <a:bodyPr wrap="square" rtlCol="0" anchor="ctr"/>
          <a:lstStyle/>
          <a:p>
            <a:pPr indent="0" marL="0">
              <a:buNone/>
            </a:pPr>
            <a:r>
              <a:rPr lang="en-US" sz="1600" b="1" dirty="0">
                <a:solidFill>
                  <a:srgbClr val="FFFFFF"/>
                </a:solidFill>
                <a:latin typeface="Arial" pitchFamily="34" charset="0"/>
                <a:ea typeface="Arial" pitchFamily="34" charset="-122"/>
                <a:cs typeface="Arial" pitchFamily="34" charset="-120"/>
              </a:rPr>
              <a:t>Installable app</a:t>
            </a:r>
            <a:endParaRPr lang="en-US" sz="1600" dirty="0"/>
          </a:p>
        </p:txBody>
      </p:sp>
      <p:sp>
        <p:nvSpPr>
          <p:cNvPr id="9" name="Text 7"/>
          <p:cNvSpPr/>
          <p:nvPr/>
        </p:nvSpPr>
        <p:spPr>
          <a:xfrm>
            <a:off x="822960" y="3337560"/>
            <a:ext cx="3063240" cy="1645920"/>
          </a:xfrm>
          <a:prstGeom prst="rect">
            <a:avLst/>
          </a:prstGeom>
          <a:noFill/>
          <a:ln/>
        </p:spPr>
        <p:txBody>
          <a:bodyPr wrap="square" rtlCol="0" anchor="ctr"/>
          <a:lstStyle/>
          <a:p>
            <a:pPr indent="0" marL="0">
              <a:lnSpc>
                <a:spcPct val="108000"/>
              </a:lnSpc>
              <a:buNone/>
            </a:pPr>
            <a:r>
              <a:rPr lang="en-US" sz="1250" dirty="0">
                <a:solidFill>
                  <a:srgbClr val="9FB2D6"/>
                </a:solidFill>
                <a:latin typeface="Arial" pitchFamily="34" charset="0"/>
                <a:ea typeface="Arial" pitchFamily="34" charset="-122"/>
                <a:cs typeface="Arial" pitchFamily="34" charset="-120"/>
              </a:rPr>
              <a:t>Full product built as a PWA — works on any phone or desktop, add-to-home-screen, offline-ready.</a:t>
            </a:r>
            <a:endParaRPr lang="en-US" sz="1250" dirty="0"/>
          </a:p>
        </p:txBody>
      </p:sp>
      <p:sp>
        <p:nvSpPr>
          <p:cNvPr id="10" name="Shape 8"/>
          <p:cNvSpPr/>
          <p:nvPr/>
        </p:nvSpPr>
        <p:spPr>
          <a:xfrm>
            <a:off x="4334256" y="2011680"/>
            <a:ext cx="3566160" cy="3108960"/>
          </a:xfrm>
          <a:prstGeom prst="roundRect">
            <a:avLst>
              <a:gd name="adj" fmla="val 3529"/>
            </a:avLst>
          </a:prstGeom>
          <a:solidFill>
            <a:srgbClr val="14264C"/>
          </a:solidFill>
          <a:ln w="12700">
            <a:solidFill>
              <a:srgbClr val="27395F"/>
            </a:solidFill>
            <a:prstDash val="solid"/>
          </a:ln>
        </p:spPr>
      </p:sp>
      <p:sp>
        <p:nvSpPr>
          <p:cNvPr id="11" name="Shape 9"/>
          <p:cNvSpPr/>
          <p:nvPr/>
        </p:nvSpPr>
        <p:spPr>
          <a:xfrm>
            <a:off x="4608576" y="2286000"/>
            <a:ext cx="685800" cy="685800"/>
          </a:xfrm>
          <a:prstGeom prst="oval">
            <a:avLst/>
          </a:prstGeom>
          <a:solidFill>
            <a:srgbClr val="3B82F6"/>
          </a:solidFill>
          <a:ln/>
        </p:spPr>
      </p:sp>
      <p:sp>
        <p:nvSpPr>
          <p:cNvPr id="12" name="Text 10"/>
          <p:cNvSpPr/>
          <p:nvPr/>
        </p:nvSpPr>
        <p:spPr>
          <a:xfrm>
            <a:off x="4608576" y="2286000"/>
            <a:ext cx="685800" cy="704088"/>
          </a:xfrm>
          <a:prstGeom prst="rect">
            <a:avLst/>
          </a:prstGeom>
          <a:noFill/>
          <a:ln/>
        </p:spPr>
        <p:txBody>
          <a:bodyPr wrap="square" rtlCol="0" anchor="ctr"/>
          <a:lstStyle/>
          <a:p>
            <a:pPr algn="ctr" indent="0" marL="0">
              <a:buNone/>
            </a:pPr>
            <a:r>
              <a:rPr lang="en-US" sz="1700" b="1" dirty="0">
                <a:solidFill>
                  <a:srgbClr val="04121E"/>
                </a:solidFill>
                <a:latin typeface="Arial" pitchFamily="34" charset="0"/>
                <a:ea typeface="Arial" pitchFamily="34" charset="-122"/>
                <a:cs typeface="Arial" pitchFamily="34" charset="-120"/>
              </a:rPr>
              <a:t>02</a:t>
            </a:r>
            <a:endParaRPr lang="en-US" sz="1700" dirty="0"/>
          </a:p>
        </p:txBody>
      </p:sp>
      <p:sp>
        <p:nvSpPr>
          <p:cNvPr id="13" name="Text 11"/>
          <p:cNvSpPr/>
          <p:nvPr/>
        </p:nvSpPr>
        <p:spPr>
          <a:xfrm>
            <a:off x="5477256" y="2331720"/>
            <a:ext cx="2286000" cy="274320"/>
          </a:xfrm>
          <a:prstGeom prst="rect">
            <a:avLst/>
          </a:prstGeom>
          <a:noFill/>
          <a:ln/>
        </p:spPr>
        <p:txBody>
          <a:bodyPr wrap="square" rtlCol="0" anchor="ctr"/>
          <a:lstStyle/>
          <a:p>
            <a:pPr indent="0" marL="0">
              <a:buNone/>
            </a:pPr>
            <a:r>
              <a:rPr lang="en-US" sz="1100" b="1" spc="100" kern="0" dirty="0">
                <a:solidFill>
                  <a:srgbClr val="3B82F6"/>
                </a:solidFill>
                <a:latin typeface="Arial" pitchFamily="34" charset="0"/>
                <a:ea typeface="Arial" pitchFamily="34" charset="-122"/>
                <a:cs typeface="Arial" pitchFamily="34" charset="-120"/>
              </a:rPr>
              <a:t>NEXT</a:t>
            </a:r>
            <a:endParaRPr lang="en-US" sz="1100" dirty="0"/>
          </a:p>
        </p:txBody>
      </p:sp>
      <p:sp>
        <p:nvSpPr>
          <p:cNvPr id="14" name="Text 12"/>
          <p:cNvSpPr/>
          <p:nvPr/>
        </p:nvSpPr>
        <p:spPr>
          <a:xfrm>
            <a:off x="5477256" y="2578608"/>
            <a:ext cx="2286000" cy="411480"/>
          </a:xfrm>
          <a:prstGeom prst="rect">
            <a:avLst/>
          </a:prstGeom>
          <a:noFill/>
          <a:ln/>
        </p:spPr>
        <p:txBody>
          <a:bodyPr wrap="square" rtlCol="0" anchor="ctr"/>
          <a:lstStyle/>
          <a:p>
            <a:pPr indent="0" marL="0">
              <a:buNone/>
            </a:pPr>
            <a:r>
              <a:rPr lang="en-US" sz="1600" b="1" dirty="0">
                <a:solidFill>
                  <a:srgbClr val="FFFFFF"/>
                </a:solidFill>
                <a:latin typeface="Arial" pitchFamily="34" charset="0"/>
                <a:ea typeface="Arial" pitchFamily="34" charset="-122"/>
                <a:cs typeface="Arial" pitchFamily="34" charset="-120"/>
              </a:rPr>
              <a:t>App Store</a:t>
            </a:r>
            <a:endParaRPr lang="en-US" sz="1600" dirty="0"/>
          </a:p>
        </p:txBody>
      </p:sp>
      <p:sp>
        <p:nvSpPr>
          <p:cNvPr id="15" name="Text 13"/>
          <p:cNvSpPr/>
          <p:nvPr/>
        </p:nvSpPr>
        <p:spPr>
          <a:xfrm>
            <a:off x="4608576" y="3337560"/>
            <a:ext cx="3063240" cy="1645920"/>
          </a:xfrm>
          <a:prstGeom prst="rect">
            <a:avLst/>
          </a:prstGeom>
          <a:noFill/>
          <a:ln/>
        </p:spPr>
        <p:txBody>
          <a:bodyPr wrap="square" rtlCol="0" anchor="ctr"/>
          <a:lstStyle/>
          <a:p>
            <a:pPr indent="0" marL="0">
              <a:lnSpc>
                <a:spcPct val="108000"/>
              </a:lnSpc>
              <a:buNone/>
            </a:pPr>
            <a:r>
              <a:rPr lang="en-US" sz="1250" dirty="0">
                <a:solidFill>
                  <a:srgbClr val="9FB2D6"/>
                </a:solidFill>
                <a:latin typeface="Arial" pitchFamily="34" charset="0"/>
                <a:ea typeface="Arial" pitchFamily="34" charset="-122"/>
                <a:cs typeface="Arial" pitchFamily="34" charset="-120"/>
              </a:rPr>
              <a:t>Wrap with Capacitor and submit to Apple &amp; Google. Same codebase — a packaging step, not a rebuild.</a:t>
            </a:r>
            <a:endParaRPr lang="en-US" sz="1250" dirty="0"/>
          </a:p>
        </p:txBody>
      </p:sp>
      <p:sp>
        <p:nvSpPr>
          <p:cNvPr id="16" name="Shape 14"/>
          <p:cNvSpPr/>
          <p:nvPr/>
        </p:nvSpPr>
        <p:spPr>
          <a:xfrm>
            <a:off x="8119872" y="2011680"/>
            <a:ext cx="3566160" cy="3108960"/>
          </a:xfrm>
          <a:prstGeom prst="roundRect">
            <a:avLst>
              <a:gd name="adj" fmla="val 3529"/>
            </a:avLst>
          </a:prstGeom>
          <a:solidFill>
            <a:srgbClr val="14264C"/>
          </a:solidFill>
          <a:ln w="12700">
            <a:solidFill>
              <a:srgbClr val="27395F"/>
            </a:solidFill>
            <a:prstDash val="solid"/>
          </a:ln>
        </p:spPr>
      </p:sp>
      <p:sp>
        <p:nvSpPr>
          <p:cNvPr id="17" name="Shape 15"/>
          <p:cNvSpPr/>
          <p:nvPr/>
        </p:nvSpPr>
        <p:spPr>
          <a:xfrm>
            <a:off x="8394192" y="2286000"/>
            <a:ext cx="685800" cy="685800"/>
          </a:xfrm>
          <a:prstGeom prst="oval">
            <a:avLst/>
          </a:prstGeom>
          <a:solidFill>
            <a:srgbClr val="D8B866"/>
          </a:solidFill>
          <a:ln/>
        </p:spPr>
      </p:sp>
      <p:sp>
        <p:nvSpPr>
          <p:cNvPr id="18" name="Text 16"/>
          <p:cNvSpPr/>
          <p:nvPr/>
        </p:nvSpPr>
        <p:spPr>
          <a:xfrm>
            <a:off x="8394192" y="2286000"/>
            <a:ext cx="685800" cy="704088"/>
          </a:xfrm>
          <a:prstGeom prst="rect">
            <a:avLst/>
          </a:prstGeom>
          <a:noFill/>
          <a:ln/>
        </p:spPr>
        <p:txBody>
          <a:bodyPr wrap="square" rtlCol="0" anchor="ctr"/>
          <a:lstStyle/>
          <a:p>
            <a:pPr algn="ctr" indent="0" marL="0">
              <a:buNone/>
            </a:pPr>
            <a:r>
              <a:rPr lang="en-US" sz="1700" b="1" dirty="0">
                <a:solidFill>
                  <a:srgbClr val="04121E"/>
                </a:solidFill>
                <a:latin typeface="Arial" pitchFamily="34" charset="0"/>
                <a:ea typeface="Arial" pitchFamily="34" charset="-122"/>
                <a:cs typeface="Arial" pitchFamily="34" charset="-120"/>
              </a:rPr>
              <a:t>03</a:t>
            </a:r>
            <a:endParaRPr lang="en-US" sz="1700" dirty="0"/>
          </a:p>
        </p:txBody>
      </p:sp>
      <p:sp>
        <p:nvSpPr>
          <p:cNvPr id="19" name="Text 17"/>
          <p:cNvSpPr/>
          <p:nvPr/>
        </p:nvSpPr>
        <p:spPr>
          <a:xfrm>
            <a:off x="9262872" y="2331720"/>
            <a:ext cx="2286000" cy="274320"/>
          </a:xfrm>
          <a:prstGeom prst="rect">
            <a:avLst/>
          </a:prstGeom>
          <a:noFill/>
          <a:ln/>
        </p:spPr>
        <p:txBody>
          <a:bodyPr wrap="square" rtlCol="0" anchor="ctr"/>
          <a:lstStyle/>
          <a:p>
            <a:pPr indent="0" marL="0">
              <a:buNone/>
            </a:pPr>
            <a:r>
              <a:rPr lang="en-US" sz="1100" b="1" spc="100" kern="0" dirty="0">
                <a:solidFill>
                  <a:srgbClr val="D8B866"/>
                </a:solidFill>
                <a:latin typeface="Arial" pitchFamily="34" charset="0"/>
                <a:ea typeface="Arial" pitchFamily="34" charset="-122"/>
                <a:cs typeface="Arial" pitchFamily="34" charset="-120"/>
              </a:rPr>
              <a:t>SCALE</a:t>
            </a:r>
            <a:endParaRPr lang="en-US" sz="1100" dirty="0"/>
          </a:p>
        </p:txBody>
      </p:sp>
      <p:sp>
        <p:nvSpPr>
          <p:cNvPr id="20" name="Text 18"/>
          <p:cNvSpPr/>
          <p:nvPr/>
        </p:nvSpPr>
        <p:spPr>
          <a:xfrm>
            <a:off x="9262872" y="2578608"/>
            <a:ext cx="2286000" cy="411480"/>
          </a:xfrm>
          <a:prstGeom prst="rect">
            <a:avLst/>
          </a:prstGeom>
          <a:noFill/>
          <a:ln/>
        </p:spPr>
        <p:txBody>
          <a:bodyPr wrap="square" rtlCol="0" anchor="ctr"/>
          <a:lstStyle/>
          <a:p>
            <a:pPr indent="0" marL="0">
              <a:buNone/>
            </a:pPr>
            <a:r>
              <a:rPr lang="en-US" sz="1600" b="1" dirty="0">
                <a:solidFill>
                  <a:srgbClr val="FFFFFF"/>
                </a:solidFill>
                <a:latin typeface="Arial" pitchFamily="34" charset="0"/>
                <a:ea typeface="Arial" pitchFamily="34" charset="-122"/>
                <a:cs typeface="Arial" pitchFamily="34" charset="-120"/>
              </a:rPr>
              <a:t>Live &amp; multi-tenant</a:t>
            </a:r>
            <a:endParaRPr lang="en-US" sz="1600" dirty="0"/>
          </a:p>
        </p:txBody>
      </p:sp>
      <p:sp>
        <p:nvSpPr>
          <p:cNvPr id="21" name="Text 19"/>
          <p:cNvSpPr/>
          <p:nvPr/>
        </p:nvSpPr>
        <p:spPr>
          <a:xfrm>
            <a:off x="8394192" y="3337560"/>
            <a:ext cx="3063240" cy="1645920"/>
          </a:xfrm>
          <a:prstGeom prst="rect">
            <a:avLst/>
          </a:prstGeom>
          <a:noFill/>
          <a:ln/>
        </p:spPr>
        <p:txBody>
          <a:bodyPr wrap="square" rtlCol="0" anchor="ctr"/>
          <a:lstStyle/>
          <a:p>
            <a:pPr indent="0" marL="0">
              <a:lnSpc>
                <a:spcPct val="108000"/>
              </a:lnSpc>
              <a:buNone/>
            </a:pPr>
            <a:r>
              <a:rPr lang="en-US" sz="1250" dirty="0">
                <a:solidFill>
                  <a:srgbClr val="9FB2D6"/>
                </a:solidFill>
                <a:latin typeface="Arial" pitchFamily="34" charset="0"/>
                <a:ea typeface="Arial" pitchFamily="34" charset="-122"/>
                <a:cs typeface="Arial" pitchFamily="34" charset="-120"/>
              </a:rPr>
              <a:t>Backend for real Xero/QuickBooks sync, role-based logins and Stripe subscription billing.</a:t>
            </a:r>
            <a:endParaRPr lang="en-US" sz="1250" dirty="0"/>
          </a:p>
        </p:txBody>
      </p:sp>
      <p:sp>
        <p:nvSpPr>
          <p:cNvPr id="22" name="Shape 20"/>
          <p:cNvSpPr/>
          <p:nvPr/>
        </p:nvSpPr>
        <p:spPr>
          <a:xfrm>
            <a:off x="548640" y="5394960"/>
            <a:ext cx="11091672" cy="868680"/>
          </a:xfrm>
          <a:prstGeom prst="roundRect">
            <a:avLst>
              <a:gd name="adj" fmla="val 12632"/>
            </a:avLst>
          </a:prstGeom>
          <a:solidFill>
            <a:srgbClr val="0F2748"/>
          </a:solidFill>
          <a:ln w="12700">
            <a:solidFill>
              <a:srgbClr val="29C2D8"/>
            </a:solidFill>
            <a:prstDash val="solid"/>
          </a:ln>
        </p:spPr>
      </p:sp>
      <p:sp>
        <p:nvSpPr>
          <p:cNvPr id="23" name="Text 21"/>
          <p:cNvSpPr/>
          <p:nvPr/>
        </p:nvSpPr>
        <p:spPr>
          <a:xfrm>
            <a:off x="868680" y="5394960"/>
            <a:ext cx="10515600" cy="868680"/>
          </a:xfrm>
          <a:prstGeom prst="rect">
            <a:avLst/>
          </a:prstGeom>
          <a:noFill/>
          <a:ln/>
        </p:spPr>
        <p:txBody>
          <a:bodyPr wrap="square" rtlCol="0" anchor="ctr"/>
          <a:lstStyle/>
          <a:p>
            <a:pPr algn="l" indent="0" marL="0">
              <a:buNone/>
            </a:pPr>
            <a:r>
              <a:rPr lang="en-US" sz="1400" b="1" dirty="0">
                <a:solidFill>
                  <a:srgbClr val="29C2D8"/>
                </a:solidFill>
                <a:latin typeface="Arial" pitchFamily="34" charset="0"/>
                <a:ea typeface="Arial" pitchFamily="34" charset="-122"/>
                <a:cs typeface="Arial" pitchFamily="34" charset="-120"/>
              </a:rPr>
              <a:t>Commercial model   </a:t>
            </a:r>
            <a:pPr algn="l" indent="0" marL="0">
              <a:buNone/>
            </a:pPr>
            <a:r>
              <a:rPr lang="en-US" sz="1400" dirty="0">
                <a:solidFill>
                  <a:srgbClr val="EAF1FF"/>
                </a:solidFill>
                <a:latin typeface="Arial" pitchFamily="34" charset="0"/>
                <a:ea typeface="Arial" pitchFamily="34" charset="-122"/>
                <a:cs typeface="Arial" pitchFamily="34" charset="-120"/>
              </a:rPr>
              <a:t>SaaS subscription per business (or per adviser portfolio), tiered by client count — recurring revenue from day one.</a:t>
            </a:r>
            <a:endParaRPr lang="en-US" sz="1400" dirty="0"/>
          </a:p>
        </p:txBody>
      </p:sp>
      <p:sp>
        <p:nvSpPr>
          <p:cNvPr id="24" name="Text 22"/>
          <p:cNvSpPr/>
          <p:nvPr/>
        </p:nvSpPr>
        <p:spPr>
          <a:xfrm>
            <a:off x="8897112" y="6473952"/>
            <a:ext cx="2926080" cy="274320"/>
          </a:xfrm>
          <a:prstGeom prst="rect">
            <a:avLst/>
          </a:prstGeom>
          <a:noFill/>
          <a:ln/>
        </p:spPr>
        <p:txBody>
          <a:bodyPr wrap="square" rtlCol="0" anchor="ctr"/>
          <a:lstStyle/>
          <a:p>
            <a:pPr algn="r" indent="0" marL="0">
              <a:buNone/>
            </a:pPr>
            <a:r>
              <a:rPr lang="en-US" sz="900" dirty="0">
                <a:solidFill>
                  <a:srgbClr val="7183A8"/>
                </a:solidFill>
                <a:latin typeface="Arial" pitchFamily="34" charset="0"/>
                <a:ea typeface="Arial" pitchFamily="34" charset="-122"/>
                <a:cs typeface="Arial" pitchFamily="34" charset="-120"/>
              </a:rPr>
              <a:t>12  ·  tradeshielduk.org</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81228"/>
        </a:solidFill>
      </p:bgPr>
    </p:bg>
    <p:spTree>
      <p:nvGrpSpPr>
        <p:cNvPr id="1" name=""/>
        <p:cNvGrpSpPr/>
        <p:nvPr/>
      </p:nvGrpSpPr>
      <p:grpSpPr>
        <a:xfrm>
          <a:off x="0" y="0"/>
          <a:ext cx="0" cy="0"/>
          <a:chOff x="0" y="0"/>
          <a:chExt cx="0" cy="0"/>
        </a:xfrm>
      </p:grpSpPr>
      <p:sp>
        <p:nvSpPr>
          <p:cNvPr id="2" name="Text 0"/>
          <p:cNvSpPr/>
          <p:nvPr/>
        </p:nvSpPr>
        <p:spPr>
          <a:xfrm>
            <a:off x="548640" y="502920"/>
            <a:ext cx="7315200" cy="274320"/>
          </a:xfrm>
          <a:prstGeom prst="rect">
            <a:avLst/>
          </a:prstGeom>
          <a:noFill/>
          <a:ln/>
        </p:spPr>
        <p:txBody>
          <a:bodyPr wrap="square" rtlCol="0" anchor="ctr"/>
          <a:lstStyle/>
          <a:p>
            <a:pPr algn="l" indent="0" marL="0">
              <a:buNone/>
            </a:pPr>
            <a:r>
              <a:rPr lang="en-US" sz="1200" b="1" spc="300" kern="0" dirty="0">
                <a:solidFill>
                  <a:srgbClr val="D8B866"/>
                </a:solidFill>
                <a:latin typeface="Arial" pitchFamily="34" charset="0"/>
                <a:ea typeface="Arial" pitchFamily="34" charset="-122"/>
                <a:cs typeface="Arial" pitchFamily="34" charset="-120"/>
              </a:rPr>
              <a:t>IMPORTANT INFORMATION</a:t>
            </a:r>
            <a:endParaRPr lang="en-US" sz="1200" dirty="0"/>
          </a:p>
        </p:txBody>
      </p:sp>
      <p:sp>
        <p:nvSpPr>
          <p:cNvPr id="3" name="Text 1"/>
          <p:cNvSpPr/>
          <p:nvPr/>
        </p:nvSpPr>
        <p:spPr>
          <a:xfrm>
            <a:off x="548640" y="868680"/>
            <a:ext cx="10972800" cy="1005840"/>
          </a:xfrm>
          <a:prstGeom prst="rect">
            <a:avLst/>
          </a:prstGeom>
          <a:noFill/>
          <a:ln/>
        </p:spPr>
        <p:txBody>
          <a:bodyPr wrap="square" rtlCol="0" anchor="ctr"/>
          <a:lstStyle/>
          <a:p>
            <a:pPr algn="l" indent="0" marL="0">
              <a:lnSpc>
                <a:spcPct val="98000"/>
              </a:lnSpc>
              <a:buNone/>
            </a:pPr>
            <a:r>
              <a:rPr lang="en-US" sz="3000" b="1" dirty="0">
                <a:solidFill>
                  <a:srgbClr val="FFFFFF"/>
                </a:solidFill>
                <a:latin typeface="Arial" pitchFamily="34" charset="0"/>
                <a:ea typeface="Arial" pitchFamily="34" charset="-122"/>
                <a:cs typeface="Arial" pitchFamily="34" charset="-120"/>
              </a:rPr>
              <a:t>A control platform — not a substitute for judgement</a:t>
            </a:r>
            <a:endParaRPr lang="en-US" sz="3000" dirty="0"/>
          </a:p>
        </p:txBody>
      </p:sp>
      <p:sp>
        <p:nvSpPr>
          <p:cNvPr id="4" name="Shape 2"/>
          <p:cNvSpPr/>
          <p:nvPr/>
        </p:nvSpPr>
        <p:spPr>
          <a:xfrm>
            <a:off x="548640" y="2011680"/>
            <a:ext cx="5394960" cy="1691640"/>
          </a:xfrm>
          <a:prstGeom prst="roundRect">
            <a:avLst>
              <a:gd name="adj" fmla="val 6486"/>
            </a:avLst>
          </a:prstGeom>
          <a:solidFill>
            <a:srgbClr val="14264C"/>
          </a:solidFill>
          <a:ln w="12700">
            <a:solidFill>
              <a:srgbClr val="27395F"/>
            </a:solidFill>
            <a:prstDash val="solid"/>
          </a:ln>
        </p:spPr>
      </p:sp>
      <p:sp>
        <p:nvSpPr>
          <p:cNvPr id="5" name="Shape 3"/>
          <p:cNvSpPr/>
          <p:nvPr/>
        </p:nvSpPr>
        <p:spPr>
          <a:xfrm>
            <a:off x="804672" y="2286000"/>
            <a:ext cx="502920" cy="502920"/>
          </a:xfrm>
          <a:prstGeom prst="roundRect">
            <a:avLst>
              <a:gd name="adj" fmla="val 21818"/>
            </a:avLst>
          </a:prstGeom>
          <a:solidFill>
            <a:srgbClr val="3A2E12"/>
          </a:solidFill>
          <a:ln w="12700">
            <a:solidFill>
              <a:srgbClr val="D8B866"/>
            </a:solidFill>
            <a:prstDash val="solid"/>
          </a:ln>
        </p:spPr>
      </p:sp>
      <p:sp>
        <p:nvSpPr>
          <p:cNvPr id="6" name="Text 4"/>
          <p:cNvSpPr/>
          <p:nvPr/>
        </p:nvSpPr>
        <p:spPr>
          <a:xfrm>
            <a:off x="804672" y="2267712"/>
            <a:ext cx="502920" cy="530352"/>
          </a:xfrm>
          <a:prstGeom prst="rect">
            <a:avLst/>
          </a:prstGeom>
          <a:noFill/>
          <a:ln/>
        </p:spPr>
        <p:txBody>
          <a:bodyPr wrap="square" rtlCol="0" anchor="ctr"/>
          <a:lstStyle/>
          <a:p>
            <a:pPr algn="ctr" indent="0" marL="0">
              <a:buNone/>
            </a:pPr>
            <a:r>
              <a:rPr lang="en-US" sz="2000" b="1" dirty="0">
                <a:solidFill>
                  <a:srgbClr val="D8B866"/>
                </a:solidFill>
                <a:latin typeface="Arial" pitchFamily="34" charset="0"/>
                <a:ea typeface="Arial" pitchFamily="34" charset="-122"/>
                <a:cs typeface="Arial" pitchFamily="34" charset="-120"/>
              </a:rPr>
              <a:t>!</a:t>
            </a:r>
            <a:endParaRPr lang="en-US" sz="2000" dirty="0"/>
          </a:p>
        </p:txBody>
      </p:sp>
      <p:sp>
        <p:nvSpPr>
          <p:cNvPr id="7" name="Text 5"/>
          <p:cNvSpPr/>
          <p:nvPr/>
        </p:nvSpPr>
        <p:spPr>
          <a:xfrm>
            <a:off x="1463040" y="2304288"/>
            <a:ext cx="4297680" cy="365760"/>
          </a:xfrm>
          <a:prstGeom prst="rect">
            <a:avLst/>
          </a:prstGeom>
          <a:noFill/>
          <a:ln/>
        </p:spPr>
        <p:txBody>
          <a:bodyPr wrap="square" rtlCol="0" anchor="ctr"/>
          <a:lstStyle/>
          <a:p>
            <a:pPr indent="0" marL="0">
              <a:buNone/>
            </a:pPr>
            <a:r>
              <a:rPr lang="en-US" sz="1500" b="1" dirty="0">
                <a:solidFill>
                  <a:srgbClr val="FFFFFF"/>
                </a:solidFill>
                <a:latin typeface="Arial" pitchFamily="34" charset="0"/>
                <a:ea typeface="Arial" pitchFamily="34" charset="-122"/>
                <a:cs typeface="Arial" pitchFamily="34" charset="-120"/>
              </a:rPr>
              <a:t>No automatic discharge</a:t>
            </a:r>
            <a:endParaRPr lang="en-US" sz="1500" dirty="0"/>
          </a:p>
        </p:txBody>
      </p:sp>
      <p:sp>
        <p:nvSpPr>
          <p:cNvPr id="8" name="Text 6"/>
          <p:cNvSpPr/>
          <p:nvPr/>
        </p:nvSpPr>
        <p:spPr>
          <a:xfrm>
            <a:off x="1463040" y="2697480"/>
            <a:ext cx="4297680" cy="914400"/>
          </a:xfrm>
          <a:prstGeom prst="rect">
            <a:avLst/>
          </a:prstGeom>
          <a:noFill/>
          <a:ln/>
        </p:spPr>
        <p:txBody>
          <a:bodyPr wrap="square" rtlCol="0" anchor="ctr"/>
          <a:lstStyle/>
          <a:p>
            <a:pPr indent="0" marL="0">
              <a:lnSpc>
                <a:spcPct val="105000"/>
              </a:lnSpc>
              <a:buNone/>
            </a:pPr>
            <a:r>
              <a:rPr lang="en-US" sz="1200" dirty="0">
                <a:solidFill>
                  <a:srgbClr val="9FB2D6"/>
                </a:solidFill>
                <a:latin typeface="Arial" pitchFamily="34" charset="0"/>
                <a:ea typeface="Arial" pitchFamily="34" charset="-122"/>
                <a:cs typeface="Arial" pitchFamily="34" charset="-120"/>
              </a:rPr>
              <a:t>Recording, allocating or approving a liability does not itself pay, settle or extinguish it.</a:t>
            </a:r>
            <a:endParaRPr lang="en-US" sz="1200" dirty="0"/>
          </a:p>
        </p:txBody>
      </p:sp>
      <p:sp>
        <p:nvSpPr>
          <p:cNvPr id="9" name="Shape 7"/>
          <p:cNvSpPr/>
          <p:nvPr/>
        </p:nvSpPr>
        <p:spPr>
          <a:xfrm>
            <a:off x="6153912" y="2011680"/>
            <a:ext cx="5394960" cy="1691640"/>
          </a:xfrm>
          <a:prstGeom prst="roundRect">
            <a:avLst>
              <a:gd name="adj" fmla="val 6486"/>
            </a:avLst>
          </a:prstGeom>
          <a:solidFill>
            <a:srgbClr val="14264C"/>
          </a:solidFill>
          <a:ln w="12700">
            <a:solidFill>
              <a:srgbClr val="27395F"/>
            </a:solidFill>
            <a:prstDash val="solid"/>
          </a:ln>
        </p:spPr>
      </p:sp>
      <p:sp>
        <p:nvSpPr>
          <p:cNvPr id="10" name="Shape 8"/>
          <p:cNvSpPr/>
          <p:nvPr/>
        </p:nvSpPr>
        <p:spPr>
          <a:xfrm>
            <a:off x="6409944" y="2286000"/>
            <a:ext cx="502920" cy="502920"/>
          </a:xfrm>
          <a:prstGeom prst="roundRect">
            <a:avLst>
              <a:gd name="adj" fmla="val 21818"/>
            </a:avLst>
          </a:prstGeom>
          <a:solidFill>
            <a:srgbClr val="3A2E12"/>
          </a:solidFill>
          <a:ln w="12700">
            <a:solidFill>
              <a:srgbClr val="D8B866"/>
            </a:solidFill>
            <a:prstDash val="solid"/>
          </a:ln>
        </p:spPr>
      </p:sp>
      <p:sp>
        <p:nvSpPr>
          <p:cNvPr id="11" name="Text 9"/>
          <p:cNvSpPr/>
          <p:nvPr/>
        </p:nvSpPr>
        <p:spPr>
          <a:xfrm>
            <a:off x="6409944" y="2267712"/>
            <a:ext cx="502920" cy="530352"/>
          </a:xfrm>
          <a:prstGeom prst="rect">
            <a:avLst/>
          </a:prstGeom>
          <a:noFill/>
          <a:ln/>
        </p:spPr>
        <p:txBody>
          <a:bodyPr wrap="square" rtlCol="0" anchor="ctr"/>
          <a:lstStyle/>
          <a:p>
            <a:pPr algn="ctr" indent="0" marL="0">
              <a:buNone/>
            </a:pPr>
            <a:r>
              <a:rPr lang="en-US" sz="2000" b="1" dirty="0">
                <a:solidFill>
                  <a:srgbClr val="D8B866"/>
                </a:solidFill>
                <a:latin typeface="Arial" pitchFamily="34" charset="0"/>
                <a:ea typeface="Arial" pitchFamily="34" charset="-122"/>
                <a:cs typeface="Arial" pitchFamily="34" charset="-120"/>
              </a:rPr>
              <a:t>!</a:t>
            </a:r>
            <a:endParaRPr lang="en-US" sz="2000" dirty="0"/>
          </a:p>
        </p:txBody>
      </p:sp>
      <p:sp>
        <p:nvSpPr>
          <p:cNvPr id="12" name="Text 10"/>
          <p:cNvSpPr/>
          <p:nvPr/>
        </p:nvSpPr>
        <p:spPr>
          <a:xfrm>
            <a:off x="7068312" y="2304288"/>
            <a:ext cx="4297680" cy="365760"/>
          </a:xfrm>
          <a:prstGeom prst="rect">
            <a:avLst/>
          </a:prstGeom>
          <a:noFill/>
          <a:ln/>
        </p:spPr>
        <p:txBody>
          <a:bodyPr wrap="square" rtlCol="0" anchor="ctr"/>
          <a:lstStyle/>
          <a:p>
            <a:pPr indent="0" marL="0">
              <a:buNone/>
            </a:pPr>
            <a:r>
              <a:rPr lang="en-US" sz="1500" b="1" dirty="0">
                <a:solidFill>
                  <a:srgbClr val="FFFFFF"/>
                </a:solidFill>
                <a:latin typeface="Arial" pitchFamily="34" charset="0"/>
                <a:ea typeface="Arial" pitchFamily="34" charset="-122"/>
                <a:cs typeface="Arial" pitchFamily="34" charset="-120"/>
              </a:rPr>
              <a:t>Officer duties remain</a:t>
            </a:r>
            <a:endParaRPr lang="en-US" sz="1500" dirty="0"/>
          </a:p>
        </p:txBody>
      </p:sp>
      <p:sp>
        <p:nvSpPr>
          <p:cNvPr id="13" name="Text 11"/>
          <p:cNvSpPr/>
          <p:nvPr/>
        </p:nvSpPr>
        <p:spPr>
          <a:xfrm>
            <a:off x="7068312" y="2697480"/>
            <a:ext cx="4297680" cy="914400"/>
          </a:xfrm>
          <a:prstGeom prst="rect">
            <a:avLst/>
          </a:prstGeom>
          <a:noFill/>
          <a:ln/>
        </p:spPr>
        <p:txBody>
          <a:bodyPr wrap="square" rtlCol="0" anchor="ctr"/>
          <a:lstStyle/>
          <a:p>
            <a:pPr indent="0" marL="0">
              <a:lnSpc>
                <a:spcPct val="105000"/>
              </a:lnSpc>
              <a:buNone/>
            </a:pPr>
            <a:r>
              <a:rPr lang="en-US" sz="1200" dirty="0">
                <a:solidFill>
                  <a:srgbClr val="9FB2D6"/>
                </a:solidFill>
                <a:latin typeface="Arial" pitchFamily="34" charset="0"/>
                <a:ea typeface="Arial" pitchFamily="34" charset="-122"/>
                <a:cs typeface="Arial" pitchFamily="34" charset="-120"/>
              </a:rPr>
              <a:t>The app does not remove statutory duties owed by company officers, or replace professional advice.</a:t>
            </a:r>
            <a:endParaRPr lang="en-US" sz="1200" dirty="0"/>
          </a:p>
        </p:txBody>
      </p:sp>
      <p:sp>
        <p:nvSpPr>
          <p:cNvPr id="14" name="Shape 12"/>
          <p:cNvSpPr/>
          <p:nvPr/>
        </p:nvSpPr>
        <p:spPr>
          <a:xfrm>
            <a:off x="548640" y="3931920"/>
            <a:ext cx="5394960" cy="1691640"/>
          </a:xfrm>
          <a:prstGeom prst="roundRect">
            <a:avLst>
              <a:gd name="adj" fmla="val 6486"/>
            </a:avLst>
          </a:prstGeom>
          <a:solidFill>
            <a:srgbClr val="14264C"/>
          </a:solidFill>
          <a:ln w="12700">
            <a:solidFill>
              <a:srgbClr val="27395F"/>
            </a:solidFill>
            <a:prstDash val="solid"/>
          </a:ln>
        </p:spPr>
      </p:sp>
      <p:sp>
        <p:nvSpPr>
          <p:cNvPr id="15" name="Shape 13"/>
          <p:cNvSpPr/>
          <p:nvPr/>
        </p:nvSpPr>
        <p:spPr>
          <a:xfrm>
            <a:off x="804672" y="4206240"/>
            <a:ext cx="502920" cy="502920"/>
          </a:xfrm>
          <a:prstGeom prst="roundRect">
            <a:avLst>
              <a:gd name="adj" fmla="val 21818"/>
            </a:avLst>
          </a:prstGeom>
          <a:solidFill>
            <a:srgbClr val="3A2E12"/>
          </a:solidFill>
          <a:ln w="12700">
            <a:solidFill>
              <a:srgbClr val="D8B866"/>
            </a:solidFill>
            <a:prstDash val="solid"/>
          </a:ln>
        </p:spPr>
      </p:sp>
      <p:sp>
        <p:nvSpPr>
          <p:cNvPr id="16" name="Text 14"/>
          <p:cNvSpPr/>
          <p:nvPr/>
        </p:nvSpPr>
        <p:spPr>
          <a:xfrm>
            <a:off x="804672" y="4187952"/>
            <a:ext cx="502920" cy="530352"/>
          </a:xfrm>
          <a:prstGeom prst="rect">
            <a:avLst/>
          </a:prstGeom>
          <a:noFill/>
          <a:ln/>
        </p:spPr>
        <p:txBody>
          <a:bodyPr wrap="square" rtlCol="0" anchor="ctr"/>
          <a:lstStyle/>
          <a:p>
            <a:pPr algn="ctr" indent="0" marL="0">
              <a:buNone/>
            </a:pPr>
            <a:r>
              <a:rPr lang="en-US" sz="2000" b="1" dirty="0">
                <a:solidFill>
                  <a:srgbClr val="D8B866"/>
                </a:solidFill>
                <a:latin typeface="Arial" pitchFamily="34" charset="0"/>
                <a:ea typeface="Arial" pitchFamily="34" charset="-122"/>
                <a:cs typeface="Arial" pitchFamily="34" charset="-120"/>
              </a:rPr>
              <a:t>!</a:t>
            </a:r>
            <a:endParaRPr lang="en-US" sz="2000" dirty="0"/>
          </a:p>
        </p:txBody>
      </p:sp>
      <p:sp>
        <p:nvSpPr>
          <p:cNvPr id="17" name="Text 15"/>
          <p:cNvSpPr/>
          <p:nvPr/>
        </p:nvSpPr>
        <p:spPr>
          <a:xfrm>
            <a:off x="1463040" y="4224528"/>
            <a:ext cx="4297680" cy="365760"/>
          </a:xfrm>
          <a:prstGeom prst="rect">
            <a:avLst/>
          </a:prstGeom>
          <a:noFill/>
          <a:ln/>
        </p:spPr>
        <p:txBody>
          <a:bodyPr wrap="square" rtlCol="0" anchor="ctr"/>
          <a:lstStyle/>
          <a:p>
            <a:pPr indent="0" marL="0">
              <a:buNone/>
            </a:pPr>
            <a:r>
              <a:rPr lang="en-US" sz="1500" b="1" dirty="0">
                <a:solidFill>
                  <a:srgbClr val="FFFFFF"/>
                </a:solidFill>
                <a:latin typeface="Arial" pitchFamily="34" charset="0"/>
                <a:ea typeface="Arial" pitchFamily="34" charset="-122"/>
                <a:cs typeface="Arial" pitchFamily="34" charset="-120"/>
              </a:rPr>
              <a:t>Scope is contractual</a:t>
            </a:r>
            <a:endParaRPr lang="en-US" sz="1500" dirty="0"/>
          </a:p>
        </p:txBody>
      </p:sp>
      <p:sp>
        <p:nvSpPr>
          <p:cNvPr id="18" name="Text 16"/>
          <p:cNvSpPr/>
          <p:nvPr/>
        </p:nvSpPr>
        <p:spPr>
          <a:xfrm>
            <a:off x="1463040" y="4617720"/>
            <a:ext cx="4297680" cy="914400"/>
          </a:xfrm>
          <a:prstGeom prst="rect">
            <a:avLst/>
          </a:prstGeom>
          <a:noFill/>
          <a:ln/>
        </p:spPr>
        <p:txBody>
          <a:bodyPr wrap="square" rtlCol="0" anchor="ctr"/>
          <a:lstStyle/>
          <a:p>
            <a:pPr indent="0" marL="0">
              <a:lnSpc>
                <a:spcPct val="105000"/>
              </a:lnSpc>
              <a:buNone/>
            </a:pPr>
            <a:r>
              <a:rPr lang="en-US" sz="1200" dirty="0">
                <a:solidFill>
                  <a:srgbClr val="9FB2D6"/>
                </a:solidFill>
                <a:latin typeface="Arial" pitchFamily="34" charset="0"/>
                <a:ea typeface="Arial" pitchFamily="34" charset="-122"/>
                <a:cs typeface="Arial" pitchFamily="34" charset="-120"/>
              </a:rPr>
              <a:t>Which liabilities are managed is set by the signed agreement and onboarding scope.</a:t>
            </a:r>
            <a:endParaRPr lang="en-US" sz="1200" dirty="0"/>
          </a:p>
        </p:txBody>
      </p:sp>
      <p:sp>
        <p:nvSpPr>
          <p:cNvPr id="19" name="Shape 17"/>
          <p:cNvSpPr/>
          <p:nvPr/>
        </p:nvSpPr>
        <p:spPr>
          <a:xfrm>
            <a:off x="6153912" y="3931920"/>
            <a:ext cx="5394960" cy="1691640"/>
          </a:xfrm>
          <a:prstGeom prst="roundRect">
            <a:avLst>
              <a:gd name="adj" fmla="val 6486"/>
            </a:avLst>
          </a:prstGeom>
          <a:solidFill>
            <a:srgbClr val="14264C"/>
          </a:solidFill>
          <a:ln w="12700">
            <a:solidFill>
              <a:srgbClr val="27395F"/>
            </a:solidFill>
            <a:prstDash val="solid"/>
          </a:ln>
        </p:spPr>
      </p:sp>
      <p:sp>
        <p:nvSpPr>
          <p:cNvPr id="20" name="Shape 18"/>
          <p:cNvSpPr/>
          <p:nvPr/>
        </p:nvSpPr>
        <p:spPr>
          <a:xfrm>
            <a:off x="6409944" y="4206240"/>
            <a:ext cx="502920" cy="502920"/>
          </a:xfrm>
          <a:prstGeom prst="roundRect">
            <a:avLst>
              <a:gd name="adj" fmla="val 21818"/>
            </a:avLst>
          </a:prstGeom>
          <a:solidFill>
            <a:srgbClr val="3A2E12"/>
          </a:solidFill>
          <a:ln w="12700">
            <a:solidFill>
              <a:srgbClr val="D8B866"/>
            </a:solidFill>
            <a:prstDash val="solid"/>
          </a:ln>
        </p:spPr>
      </p:sp>
      <p:sp>
        <p:nvSpPr>
          <p:cNvPr id="21" name="Text 19"/>
          <p:cNvSpPr/>
          <p:nvPr/>
        </p:nvSpPr>
        <p:spPr>
          <a:xfrm>
            <a:off x="6409944" y="4187952"/>
            <a:ext cx="502920" cy="530352"/>
          </a:xfrm>
          <a:prstGeom prst="rect">
            <a:avLst/>
          </a:prstGeom>
          <a:noFill/>
          <a:ln/>
        </p:spPr>
        <p:txBody>
          <a:bodyPr wrap="square" rtlCol="0" anchor="ctr"/>
          <a:lstStyle/>
          <a:p>
            <a:pPr algn="ctr" indent="0" marL="0">
              <a:buNone/>
            </a:pPr>
            <a:r>
              <a:rPr lang="en-US" sz="2000" b="1" dirty="0">
                <a:solidFill>
                  <a:srgbClr val="D8B866"/>
                </a:solidFill>
                <a:latin typeface="Arial" pitchFamily="34" charset="0"/>
                <a:ea typeface="Arial" pitchFamily="34" charset="-122"/>
                <a:cs typeface="Arial" pitchFamily="34" charset="-120"/>
              </a:rPr>
              <a:t>!</a:t>
            </a:r>
            <a:endParaRPr lang="en-US" sz="2000" dirty="0"/>
          </a:p>
        </p:txBody>
      </p:sp>
      <p:sp>
        <p:nvSpPr>
          <p:cNvPr id="22" name="Text 20"/>
          <p:cNvSpPr/>
          <p:nvPr/>
        </p:nvSpPr>
        <p:spPr>
          <a:xfrm>
            <a:off x="7068312" y="4224528"/>
            <a:ext cx="4297680" cy="365760"/>
          </a:xfrm>
          <a:prstGeom prst="rect">
            <a:avLst/>
          </a:prstGeom>
          <a:noFill/>
          <a:ln/>
        </p:spPr>
        <p:txBody>
          <a:bodyPr wrap="square" rtlCol="0" anchor="ctr"/>
          <a:lstStyle/>
          <a:p>
            <a:pPr indent="0" marL="0">
              <a:buNone/>
            </a:pPr>
            <a:r>
              <a:rPr lang="en-US" sz="1500" b="1" dirty="0">
                <a:solidFill>
                  <a:srgbClr val="FFFFFF"/>
                </a:solidFill>
                <a:latin typeface="Arial" pitchFamily="34" charset="0"/>
                <a:ea typeface="Arial" pitchFamily="34" charset="-122"/>
                <a:cs typeface="Arial" pitchFamily="34" charset="-120"/>
              </a:rPr>
              <a:t>Exceptions need action</a:t>
            </a:r>
            <a:endParaRPr lang="en-US" sz="1500" dirty="0"/>
          </a:p>
        </p:txBody>
      </p:sp>
      <p:sp>
        <p:nvSpPr>
          <p:cNvPr id="23" name="Text 21"/>
          <p:cNvSpPr/>
          <p:nvPr/>
        </p:nvSpPr>
        <p:spPr>
          <a:xfrm>
            <a:off x="7068312" y="4617720"/>
            <a:ext cx="4297680" cy="914400"/>
          </a:xfrm>
          <a:prstGeom prst="rect">
            <a:avLst/>
          </a:prstGeom>
          <a:noFill/>
          <a:ln/>
        </p:spPr>
        <p:txBody>
          <a:bodyPr wrap="square" rtlCol="0" anchor="ctr"/>
          <a:lstStyle/>
          <a:p>
            <a:pPr indent="0" marL="0">
              <a:lnSpc>
                <a:spcPct val="105000"/>
              </a:lnSpc>
              <a:buNone/>
            </a:pPr>
            <a:r>
              <a:rPr lang="en-US" sz="1200" dirty="0">
                <a:solidFill>
                  <a:srgbClr val="9FB2D6"/>
                </a:solidFill>
                <a:latin typeface="Arial" pitchFamily="34" charset="0"/>
                <a:ea typeface="Arial" pitchFamily="34" charset="-122"/>
                <a:cs typeface="Arial" pitchFamily="34" charset="-120"/>
              </a:rPr>
              <a:t>Disputed, unverified or overdue items require evidence and a responsible decision — never hidden by a headline figure.</a:t>
            </a:r>
            <a:endParaRPr lang="en-US" sz="1200" dirty="0"/>
          </a:p>
        </p:txBody>
      </p:sp>
      <p:sp>
        <p:nvSpPr>
          <p:cNvPr id="24" name="Text 22"/>
          <p:cNvSpPr/>
          <p:nvPr/>
        </p:nvSpPr>
        <p:spPr>
          <a:xfrm>
            <a:off x="8897112" y="6473952"/>
            <a:ext cx="2926080" cy="274320"/>
          </a:xfrm>
          <a:prstGeom prst="rect">
            <a:avLst/>
          </a:prstGeom>
          <a:noFill/>
          <a:ln/>
        </p:spPr>
        <p:txBody>
          <a:bodyPr wrap="square" rtlCol="0" anchor="ctr"/>
          <a:lstStyle/>
          <a:p>
            <a:pPr algn="r" indent="0" marL="0">
              <a:buNone/>
            </a:pPr>
            <a:r>
              <a:rPr lang="en-US" sz="900" dirty="0">
                <a:solidFill>
                  <a:srgbClr val="7183A8"/>
                </a:solidFill>
                <a:latin typeface="Arial" pitchFamily="34" charset="0"/>
                <a:ea typeface="Arial" pitchFamily="34" charset="-122"/>
                <a:cs typeface="Arial" pitchFamily="34" charset="-120"/>
              </a:rPr>
              <a:t>13  ·  tradeshielduk.org</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50B1C"/>
        </a:solidFill>
      </p:bgPr>
    </p:bg>
    <p:spTree>
      <p:nvGrpSpPr>
        <p:cNvPr id="1" name=""/>
        <p:cNvGrpSpPr/>
        <p:nvPr/>
      </p:nvGrpSpPr>
      <p:grpSpPr>
        <a:xfrm>
          <a:off x="0" y="0"/>
          <a:ext cx="0" cy="0"/>
          <a:chOff x="0" y="0"/>
          <a:chExt cx="0" cy="0"/>
        </a:xfrm>
      </p:grpSpPr>
      <p:sp>
        <p:nvSpPr>
          <p:cNvPr id="2" name="Shape 0"/>
          <p:cNvSpPr/>
          <p:nvPr/>
        </p:nvSpPr>
        <p:spPr>
          <a:xfrm>
            <a:off x="-1828800" y="-1828800"/>
            <a:ext cx="6400800" cy="5486400"/>
          </a:xfrm>
          <a:prstGeom prst="oval">
            <a:avLst/>
          </a:prstGeom>
          <a:solidFill>
            <a:srgbClr val="0E3348"/>
          </a:solidFill>
          <a:ln/>
        </p:spPr>
      </p:sp>
      <p:sp>
        <p:nvSpPr>
          <p:cNvPr id="3" name="Shape 1"/>
          <p:cNvSpPr/>
          <p:nvPr/>
        </p:nvSpPr>
        <p:spPr>
          <a:xfrm>
            <a:off x="8686800" y="3657600"/>
            <a:ext cx="5486400" cy="4572000"/>
          </a:xfrm>
          <a:prstGeom prst="oval">
            <a:avLst/>
          </a:prstGeom>
          <a:solidFill>
            <a:srgbClr val="12224A"/>
          </a:solidFill>
          <a:ln/>
        </p:spPr>
      </p:sp>
      <p:sp>
        <p:nvSpPr>
          <p:cNvPr id="4" name="Shape 2"/>
          <p:cNvSpPr/>
          <p:nvPr/>
        </p:nvSpPr>
        <p:spPr>
          <a:xfrm>
            <a:off x="685800" y="685800"/>
            <a:ext cx="548640" cy="548640"/>
          </a:xfrm>
          <a:prstGeom prst="roundRect">
            <a:avLst>
              <a:gd name="adj" fmla="val 28000"/>
            </a:avLst>
          </a:prstGeom>
          <a:solidFill>
            <a:srgbClr val="0E2036"/>
          </a:solidFill>
          <a:ln w="17780">
            <a:solidFill>
              <a:srgbClr val="29C2D8"/>
            </a:solidFill>
            <a:prstDash val="solid"/>
          </a:ln>
        </p:spPr>
      </p:sp>
      <p:sp>
        <p:nvSpPr>
          <p:cNvPr id="5" name="Text 3"/>
          <p:cNvSpPr/>
          <p:nvPr/>
        </p:nvSpPr>
        <p:spPr>
          <a:xfrm>
            <a:off x="685800" y="667512"/>
            <a:ext cx="548640" cy="548640"/>
          </a:xfrm>
          <a:prstGeom prst="rect">
            <a:avLst/>
          </a:prstGeom>
          <a:noFill/>
          <a:ln/>
        </p:spPr>
        <p:txBody>
          <a:bodyPr wrap="square" rtlCol="0" anchor="ctr"/>
          <a:lstStyle/>
          <a:p>
            <a:pPr algn="ctr" indent="0" marL="0">
              <a:buNone/>
            </a:pPr>
            <a:r>
              <a:rPr lang="en-US" sz="1320" b="1" dirty="0">
                <a:solidFill>
                  <a:srgbClr val="29C2D8"/>
                </a:solidFill>
                <a:latin typeface="Arial" pitchFamily="34" charset="0"/>
                <a:ea typeface="Arial" pitchFamily="34" charset="-122"/>
                <a:cs typeface="Arial" pitchFamily="34" charset="-120"/>
              </a:rPr>
              <a:t>✓</a:t>
            </a:r>
            <a:endParaRPr lang="en-US" sz="1320" dirty="0"/>
          </a:p>
        </p:txBody>
      </p:sp>
      <p:sp>
        <p:nvSpPr>
          <p:cNvPr id="6" name="Text 4"/>
          <p:cNvSpPr/>
          <p:nvPr/>
        </p:nvSpPr>
        <p:spPr>
          <a:xfrm>
            <a:off x="1371600" y="704088"/>
            <a:ext cx="4572000" cy="502920"/>
          </a:xfrm>
          <a:prstGeom prst="rect">
            <a:avLst/>
          </a:prstGeom>
          <a:noFill/>
          <a:ln/>
        </p:spPr>
        <p:txBody>
          <a:bodyPr wrap="square" rtlCol="0" anchor="ctr"/>
          <a:lstStyle/>
          <a:p>
            <a:pPr indent="0" marL="0">
              <a:buNone/>
            </a:pPr>
            <a:r>
              <a:rPr lang="en-US" sz="2200" b="1" dirty="0">
                <a:solidFill>
                  <a:srgbClr val="FFFFFF"/>
                </a:solidFill>
                <a:latin typeface="Arial" pitchFamily="34" charset="0"/>
                <a:ea typeface="Arial" pitchFamily="34" charset="-122"/>
                <a:cs typeface="Arial" pitchFamily="34" charset="-120"/>
              </a:rPr>
              <a:t>Trade</a:t>
            </a:r>
            <a:pPr indent="0" marL="0">
              <a:buNone/>
            </a:pPr>
            <a:r>
              <a:rPr lang="en-US" sz="2200" dirty="0">
                <a:solidFill>
                  <a:srgbClr val="9FB2D6"/>
                </a:solidFill>
                <a:latin typeface="Arial" pitchFamily="34" charset="0"/>
                <a:ea typeface="Arial" pitchFamily="34" charset="-122"/>
                <a:cs typeface="Arial" pitchFamily="34" charset="-120"/>
              </a:rPr>
              <a:t>Shield</a:t>
            </a:r>
            <a:endParaRPr lang="en-US" sz="2200" dirty="0"/>
          </a:p>
        </p:txBody>
      </p:sp>
      <p:sp>
        <p:nvSpPr>
          <p:cNvPr id="7" name="Text 5"/>
          <p:cNvSpPr/>
          <p:nvPr/>
        </p:nvSpPr>
        <p:spPr>
          <a:xfrm>
            <a:off x="713232" y="2286000"/>
            <a:ext cx="7315200" cy="274320"/>
          </a:xfrm>
          <a:prstGeom prst="rect">
            <a:avLst/>
          </a:prstGeom>
          <a:noFill/>
          <a:ln/>
        </p:spPr>
        <p:txBody>
          <a:bodyPr wrap="square" rtlCol="0" anchor="ctr"/>
          <a:lstStyle/>
          <a:p>
            <a:pPr algn="l" indent="0" marL="0">
              <a:buNone/>
            </a:pPr>
            <a:r>
              <a:rPr lang="en-US" sz="1200" b="1" spc="300" kern="0" dirty="0">
                <a:solidFill>
                  <a:srgbClr val="29C2D8"/>
                </a:solidFill>
                <a:latin typeface="Arial" pitchFamily="34" charset="0"/>
                <a:ea typeface="Arial" pitchFamily="34" charset="-122"/>
                <a:cs typeface="Arial" pitchFamily="34" charset="-120"/>
              </a:rPr>
              <a:t>THE CLIENT OUTCOME</a:t>
            </a:r>
            <a:endParaRPr lang="en-US" sz="1200" dirty="0"/>
          </a:p>
        </p:txBody>
      </p:sp>
      <p:sp>
        <p:nvSpPr>
          <p:cNvPr id="8" name="Text 6"/>
          <p:cNvSpPr/>
          <p:nvPr/>
        </p:nvSpPr>
        <p:spPr>
          <a:xfrm>
            <a:off x="658368" y="2651760"/>
            <a:ext cx="8229600" cy="2377440"/>
          </a:xfrm>
          <a:prstGeom prst="rect">
            <a:avLst/>
          </a:prstGeom>
          <a:noFill/>
          <a:ln/>
        </p:spPr>
        <p:txBody>
          <a:bodyPr wrap="square" rtlCol="0" anchor="ctr"/>
          <a:lstStyle/>
          <a:p>
            <a:pPr indent="0" marL="0">
              <a:lnSpc>
                <a:spcPct val="102000"/>
              </a:lnSpc>
              <a:buNone/>
            </a:pPr>
            <a:r>
              <a:rPr lang="en-US" sz="4000" b="1" dirty="0">
                <a:solidFill>
                  <a:srgbClr val="FFFFFF"/>
                </a:solidFill>
                <a:latin typeface="Arial" pitchFamily="34" charset="0"/>
                <a:ea typeface="Arial" pitchFamily="34" charset="-122"/>
                <a:cs typeface="Arial" pitchFamily="34" charset="-120"/>
              </a:rPr>
              <a:t>Know what is due.
</a:t>
            </a:r>
            <a:pPr indent="0" marL="0">
              <a:lnSpc>
                <a:spcPct val="102000"/>
              </a:lnSpc>
              <a:buNone/>
            </a:pPr>
            <a:r>
              <a:rPr lang="en-US" sz="4000" b="1" dirty="0">
                <a:solidFill>
                  <a:srgbClr val="FFFFFF"/>
                </a:solidFill>
                <a:latin typeface="Arial" pitchFamily="34" charset="0"/>
                <a:ea typeface="Arial" pitchFamily="34" charset="-122"/>
                <a:cs typeface="Arial" pitchFamily="34" charset="-120"/>
              </a:rPr>
              <a:t>Know what is funded.
</a:t>
            </a:r>
            <a:pPr indent="0" marL="0">
              <a:lnSpc>
                <a:spcPct val="102000"/>
              </a:lnSpc>
              <a:buNone/>
            </a:pPr>
            <a:r>
              <a:rPr lang="en-US" sz="4000" b="1" dirty="0">
                <a:solidFill>
                  <a:srgbClr val="D8B866"/>
                </a:solidFill>
                <a:latin typeface="Arial" pitchFamily="34" charset="0"/>
                <a:ea typeface="Arial" pitchFamily="34" charset="-122"/>
                <a:cs typeface="Arial" pitchFamily="34" charset="-120"/>
              </a:rPr>
              <a:t>Know what happens next.</a:t>
            </a:r>
            <a:endParaRPr lang="en-US" sz="4000" dirty="0"/>
          </a:p>
        </p:txBody>
      </p:sp>
      <p:sp>
        <p:nvSpPr>
          <p:cNvPr id="9" name="Text 7"/>
          <p:cNvSpPr/>
          <p:nvPr/>
        </p:nvSpPr>
        <p:spPr>
          <a:xfrm>
            <a:off x="713232" y="5074920"/>
            <a:ext cx="7863840" cy="914400"/>
          </a:xfrm>
          <a:prstGeom prst="rect">
            <a:avLst/>
          </a:prstGeom>
          <a:noFill/>
          <a:ln/>
        </p:spPr>
        <p:txBody>
          <a:bodyPr wrap="square" rtlCol="0" anchor="ctr"/>
          <a:lstStyle/>
          <a:p>
            <a:pPr indent="0" marL="0">
              <a:lnSpc>
                <a:spcPct val="110000"/>
              </a:lnSpc>
              <a:buNone/>
            </a:pPr>
            <a:r>
              <a:rPr lang="en-US" sz="1400" dirty="0">
                <a:solidFill>
                  <a:srgbClr val="9FB2D6"/>
                </a:solidFill>
                <a:latin typeface="Arial" pitchFamily="34" charset="0"/>
                <a:ea typeface="Arial" pitchFamily="34" charset="-122"/>
                <a:cs typeface="Arial" pitchFamily="34" charset="-120"/>
              </a:rPr>
              <a:t>One consolidated view · earlier funding visibility · clear approvals &amp; evidence · a consistent operating rhythm · current information for directors and advisers.</a:t>
            </a:r>
            <a:endParaRPr lang="en-US" sz="1400" dirty="0"/>
          </a:p>
        </p:txBody>
      </p:sp>
      <p:sp>
        <p:nvSpPr>
          <p:cNvPr id="10" name="Shape 8"/>
          <p:cNvSpPr/>
          <p:nvPr/>
        </p:nvSpPr>
        <p:spPr>
          <a:xfrm>
            <a:off x="658368" y="5989320"/>
            <a:ext cx="5669280" cy="640080"/>
          </a:xfrm>
          <a:prstGeom prst="roundRect">
            <a:avLst>
              <a:gd name="adj" fmla="val 17143"/>
            </a:avLst>
          </a:prstGeom>
          <a:solidFill>
            <a:srgbClr val="0F2748"/>
          </a:solidFill>
          <a:ln w="12700">
            <a:solidFill>
              <a:srgbClr val="29C2D8"/>
            </a:solidFill>
            <a:prstDash val="solid"/>
          </a:ln>
        </p:spPr>
      </p:sp>
      <p:sp>
        <p:nvSpPr>
          <p:cNvPr id="11" name="Text 9"/>
          <p:cNvSpPr/>
          <p:nvPr/>
        </p:nvSpPr>
        <p:spPr>
          <a:xfrm>
            <a:off x="914400" y="5989320"/>
            <a:ext cx="5394960" cy="640080"/>
          </a:xfrm>
          <a:prstGeom prst="rect">
            <a:avLst/>
          </a:prstGeom>
          <a:noFill/>
          <a:ln/>
        </p:spPr>
        <p:txBody>
          <a:bodyPr wrap="square" rtlCol="0" anchor="ctr"/>
          <a:lstStyle/>
          <a:p>
            <a:pPr indent="0" marL="0">
              <a:buNone/>
            </a:pPr>
            <a:r>
              <a:rPr lang="en-US" sz="1400" b="1" dirty="0">
                <a:solidFill>
                  <a:srgbClr val="29C2D8"/>
                </a:solidFill>
                <a:latin typeface="Arial" pitchFamily="34" charset="0"/>
                <a:ea typeface="Arial" pitchFamily="34" charset="-122"/>
                <a:cs typeface="Arial" pitchFamily="34" charset="-120"/>
              </a:rPr>
              <a:t>Arrange a demonstration   </a:t>
            </a:r>
            <a:pPr indent="0" marL="0">
              <a:buNone/>
            </a:pPr>
            <a:r>
              <a:rPr lang="en-US" sz="1400" b="1" dirty="0">
                <a:solidFill>
                  <a:srgbClr val="FFFFFF"/>
                </a:solidFill>
                <a:latin typeface="Arial" pitchFamily="34" charset="0"/>
                <a:ea typeface="Arial" pitchFamily="34" charset="-122"/>
                <a:cs typeface="Arial" pitchFamily="34" charset="-120"/>
              </a:rPr>
              <a:t>tradeshielduk.org/#contact</a:t>
            </a:r>
            <a:endParaRPr lang="en-US" sz="1400" dirty="0"/>
          </a:p>
        </p:txBody>
      </p:sp>
      <p:sp>
        <p:nvSpPr>
          <p:cNvPr id="12" name="Shape 10"/>
          <p:cNvSpPr/>
          <p:nvPr/>
        </p:nvSpPr>
        <p:spPr>
          <a:xfrm>
            <a:off x="9125712" y="1307592"/>
            <a:ext cx="2488265" cy="5065776"/>
          </a:xfrm>
          <a:prstGeom prst="roundRect">
            <a:avLst>
              <a:gd name="adj" fmla="val 5145"/>
            </a:avLst>
          </a:prstGeom>
          <a:solidFill>
            <a:srgbClr val="0A1330"/>
          </a:solidFill>
          <a:ln w="15875">
            <a:solidFill>
              <a:srgbClr val="2A3E66"/>
            </a:solidFill>
            <a:prstDash val="solid"/>
          </a:ln>
          <a:effectLst>
            <a:outerShdw sx="100000" sy="100000" kx="0" ky="0" algn="bl" rotWithShape="0" blurRad="177800" dist="63500" dir="5400000">
              <a:srgbClr val="000000">
                <a:alpha val="45000"/>
              </a:srgbClr>
            </a:outerShdw>
          </a:effectLst>
        </p:spPr>
      </p:sp>
      <p:pic>
        <p:nvPicPr>
          <p:cNvPr id="13" name="Image 0" descr="/tmp/claude-0/-home-user-AI-Agent/58945abb-1ebe-5660-8725-4e1dccac2381/scratchpad/deck-updates.png">    </p:cNvPr>
          <p:cNvPicPr>
            <a:picLocks noChangeAspect="1"/>
          </p:cNvPicPr>
          <p:nvPr/>
        </p:nvPicPr>
        <p:blipFill>
          <a:blip r:embed="rId1"/>
          <a:stretch>
            <a:fillRect/>
          </a:stretch>
        </p:blipFill>
        <p:spPr>
          <a:xfrm>
            <a:off x="9189720" y="1371600"/>
            <a:ext cx="2360249" cy="493776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2026-08-16T20:55:39Z</dcterms:created>
  <dcterms:modified xsi:type="dcterms:W3CDTF">2026-08-16T20:55:39Z</dcterms:modified>
</cp:coreProperties>
</file>